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B547"/>
              </a:solidFill>
              <a:effectLst/>
            </c:spPr>
          </c:dPt>
          <c:dPt>
            <c:idx val="1"/>
            <c:bubble3D val="0"/>
            <c:spPr>
              <a:solidFill>
                <a:srgbClr val="2E8BA8"/>
              </a:solidFill>
              <a:effectLst/>
            </c:spPr>
          </c:dPt>
          <c:dPt>
            <c:idx val="2"/>
            <c:bubble3D val="0"/>
            <c:spPr>
              <a:solidFill>
                <a:srgbClr val="0F2942"/>
              </a:solidFill>
              <a:effectLst/>
            </c:spPr>
          </c:dPt>
          <c:dPt>
            <c:idx val="3"/>
            <c:bubble3D val="0"/>
            <c:spPr>
              <a:solidFill>
                <a:srgbClr val="C3CDD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Holidays</c:v>
                </c:pt>
                <c:pt idx="1">
                  <c:v>Recent history</c:v>
                </c:pt>
                <c:pt idx="2">
                  <c:v>Calendar</c:v>
                </c:pt>
                <c:pt idx="3">
                  <c:v>Everything else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47</c:v>
                </c:pt>
                <c:pt idx="1">
                  <c:v>15</c:v>
                </c:pt>
                <c:pt idx="2">
                  <c:v>12</c:v>
                </c:pt>
                <c:pt idx="3">
                  <c:v>26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240-day half-life (production)</c:v>
                </c:pt>
              </c:strCache>
            </c:strRef>
          </c:tx>
          <c:spPr>
            <a:solidFill>
              <a:srgbClr val="2E8BA8"/>
            </a:solidFill>
            <a:ln w="38100" cap="flat">
              <a:solidFill>
                <a:srgbClr val="2E8B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A8"/>
              </a:solidFill>
              <a:ln w="9525" cap="flat">
                <a:solidFill>
                  <a:srgbClr val="2E8B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120</c:v>
                  </c:pt>
                  <c:pt idx="2">
                    <c:v>240</c:v>
                  </c:pt>
                  <c:pt idx="3">
                    <c:v>360</c:v>
                  </c:pt>
                  <c:pt idx="4">
                    <c:v>480</c:v>
                  </c:pt>
                  <c:pt idx="5">
                    <c:v>600</c:v>
                  </c:pt>
                  <c:pt idx="6">
                    <c:v>720</c:v>
                  </c:pt>
                  <c:pt idx="7">
                    <c:v>840</c:v>
                  </c:pt>
                  <c:pt idx="8">
                    <c:v>960</c:v>
                  </c:pt>
                  <c:pt idx="9">
                    <c:v>1080</c:v>
                  </c:pt>
                  <c:pt idx="10">
                    <c:v>1200</c:v>
                  </c:pt>
                  <c:pt idx="11">
                    <c:v>1320</c:v>
                  </c:pt>
                  <c:pt idx="12">
                    <c:v>1440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70.71</c:v>
                </c:pt>
                <c:pt idx="2">
                  <c:v>50</c:v>
                </c:pt>
                <c:pt idx="3">
                  <c:v>35.36</c:v>
                </c:pt>
                <c:pt idx="4">
                  <c:v>25</c:v>
                </c:pt>
                <c:pt idx="5">
                  <c:v>17.68</c:v>
                </c:pt>
                <c:pt idx="6">
                  <c:v>12.5</c:v>
                </c:pt>
                <c:pt idx="7">
                  <c:v>8.84</c:v>
                </c:pt>
                <c:pt idx="8">
                  <c:v>6.25</c:v>
                </c:pt>
                <c:pt idx="9">
                  <c:v>4.42</c:v>
                </c:pt>
                <c:pt idx="10">
                  <c:v>3.12</c:v>
                </c:pt>
                <c:pt idx="11">
                  <c:v>2.21</c:v>
                </c:pt>
                <c:pt idx="12">
                  <c:v>1.56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1095-day half-life (long-history version)</c:v>
                </c:pt>
              </c:strCache>
            </c:strRef>
          </c:tx>
          <c:spPr>
            <a:solidFill>
              <a:srgbClr val="E8B547"/>
            </a:solidFill>
            <a:ln w="38100" cap="flat">
              <a:solidFill>
                <a:srgbClr val="E8B5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B547"/>
              </a:solidFill>
              <a:ln w="9525" cap="flat">
                <a:solidFill>
                  <a:srgbClr val="E8B5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120</c:v>
                  </c:pt>
                  <c:pt idx="2">
                    <c:v>240</c:v>
                  </c:pt>
                  <c:pt idx="3">
                    <c:v>360</c:v>
                  </c:pt>
                  <c:pt idx="4">
                    <c:v>480</c:v>
                  </c:pt>
                  <c:pt idx="5">
                    <c:v>600</c:v>
                  </c:pt>
                  <c:pt idx="6">
                    <c:v>720</c:v>
                  </c:pt>
                  <c:pt idx="7">
                    <c:v>840</c:v>
                  </c:pt>
                  <c:pt idx="8">
                    <c:v>960</c:v>
                  </c:pt>
                  <c:pt idx="9">
                    <c:v>1080</c:v>
                  </c:pt>
                  <c:pt idx="10">
                    <c:v>1200</c:v>
                  </c:pt>
                  <c:pt idx="11">
                    <c:v>1320</c:v>
                  </c:pt>
                  <c:pt idx="12">
                    <c:v>1440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92.69</c:v>
                </c:pt>
                <c:pt idx="2">
                  <c:v>85.91</c:v>
                </c:pt>
                <c:pt idx="3">
                  <c:v>79.62</c:v>
                </c:pt>
                <c:pt idx="4">
                  <c:v>73.8</c:v>
                </c:pt>
                <c:pt idx="5">
                  <c:v>68.4</c:v>
                </c:pt>
                <c:pt idx="6">
                  <c:v>63.4</c:v>
                </c:pt>
                <c:pt idx="7">
                  <c:v>58.76</c:v>
                </c:pt>
                <c:pt idx="8">
                  <c:v>54.46</c:v>
                </c:pt>
                <c:pt idx="9">
                  <c:v>50.48</c:v>
                </c:pt>
                <c:pt idx="10">
                  <c:v>46.78</c:v>
                </c:pt>
                <c:pt idx="11">
                  <c:v>43.36</c:v>
                </c:pt>
                <c:pt idx="12">
                  <c:v>40.19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1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183"/>
                    </a:solidFill>
                    <a:latin typeface="Arial"/>
                  </a:rPr>
                  <a:t>days in the past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1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183"/>
                    </a:solidFill>
                    <a:latin typeface="Arial"/>
                  </a:rPr>
                  <a:t>how much that day counts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demand (patron hours)</c:v>
                </c:pt>
              </c:strCache>
            </c:strRef>
          </c:tx>
          <c:spPr>
            <a:solidFill>
              <a:srgbClr val="0F2942"/>
            </a:solidFill>
            <a:ln w="38100" cap="flat">
              <a:solidFill>
                <a:srgbClr val="0F29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2942"/>
              </a:solidFill>
              <a:ln w="9525" cap="flat">
                <a:solidFill>
                  <a:srgbClr val="0F2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Jan 18</c:v>
                  </c:pt>
                  <c:pt idx="1">
                    <c:v>Jan 19</c:v>
                  </c:pt>
                  <c:pt idx="2">
                    <c:v>Jan 20</c:v>
                  </c:pt>
                  <c:pt idx="3">
                    <c:v>Jan 21</c:v>
                  </c:pt>
                  <c:pt idx="4">
                    <c:v>Jan 22</c:v>
                  </c:pt>
                  <c:pt idx="5">
                    <c:v>Jan 23</c:v>
                  </c:pt>
                  <c:pt idx="6">
                    <c:v>Jan 24</c:v>
                  </c:pt>
                  <c:pt idx="7">
                    <c:v>Jan 25</c:v>
                  </c:pt>
                  <c:pt idx="8">
                    <c:v>Jan 26</c:v>
                  </c:pt>
                  <c:pt idx="9">
                    <c:v>Jan 27</c:v>
                  </c:pt>
                  <c:pt idx="10">
                    <c:v>Jan 28</c:v>
                  </c:pt>
                  <c:pt idx="11">
                    <c:v>Jan 29</c:v>
                  </c:pt>
                  <c:pt idx="12">
                    <c:v>Jan 30</c:v>
                  </c:pt>
                  <c:pt idx="13">
                    <c:v>Jan 31</c:v>
                  </c:pt>
                  <c:pt idx="14">
                    <c:v>Feb 01</c:v>
                  </c:pt>
                  <c:pt idx="15">
                    <c:v>Feb 02</c:v>
                  </c:pt>
                  <c:pt idx="16">
                    <c:v>Feb 03</c:v>
                  </c:pt>
                  <c:pt idx="17">
                    <c:v>Feb 04</c:v>
                  </c:pt>
                  <c:pt idx="18">
                    <c:v>Feb 05</c:v>
                  </c:pt>
                  <c:pt idx="19">
                    <c:v>Feb 06</c:v>
                  </c:pt>
                  <c:pt idx="20">
                    <c:v>Feb 07</c:v>
                  </c:pt>
                  <c:pt idx="21">
                    <c:v>Feb 08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7652</c:v>
                </c:pt>
                <c:pt idx="1">
                  <c:v>6955</c:v>
                </c:pt>
                <c:pt idx="2">
                  <c:v>6102</c:v>
                </c:pt>
                <c:pt idx="3">
                  <c:v>6130</c:v>
                </c:pt>
                <c:pt idx="4">
                  <c:v>5976</c:v>
                </c:pt>
                <c:pt idx="5">
                  <c:v>6206</c:v>
                </c:pt>
                <c:pt idx="6">
                  <c:v>5946</c:v>
                </c:pt>
                <c:pt idx="7">
                  <c:v>5480</c:v>
                </c:pt>
                <c:pt idx="8">
                  <c:v>4576</c:v>
                </c:pt>
                <c:pt idx="9">
                  <c:v>3619</c:v>
                </c:pt>
                <c:pt idx="10">
                  <c:v>3331</c:v>
                </c:pt>
                <c:pt idx="11">
                  <c:v>5335</c:v>
                </c:pt>
                <c:pt idx="12">
                  <c:v>6264</c:v>
                </c:pt>
                <c:pt idx="13">
                  <c:v>7252</c:v>
                </c:pt>
                <c:pt idx="14">
                  <c:v>7756</c:v>
                </c:pt>
                <c:pt idx="15">
                  <c:v>7727</c:v>
                </c:pt>
                <c:pt idx="16">
                  <c:v>7545</c:v>
                </c:pt>
                <c:pt idx="17">
                  <c:v>7642</c:v>
                </c:pt>
                <c:pt idx="18">
                  <c:v>7150</c:v>
                </c:pt>
                <c:pt idx="19">
                  <c:v>6869</c:v>
                </c:pt>
                <c:pt idx="20">
                  <c:v>7305</c:v>
                </c:pt>
                <c:pt idx="21">
                  <c:v>7294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ordinary days</c:v>
                </c:pt>
              </c:strCache>
            </c:strRef>
          </c:tx>
          <c:spPr>
            <a:solidFill>
              <a:srgbClr val="2E8BA8"/>
            </a:solidFill>
            <a:ln w="38100" cap="flat">
              <a:solidFill>
                <a:srgbClr val="2E8B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A8"/>
              </a:solidFill>
              <a:ln w="9525" cap="flat">
                <a:solidFill>
                  <a:srgbClr val="2E8B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7</c:v>
                  </c:pt>
                  <c:pt idx="3">
                    <c:v>14</c:v>
                  </c:pt>
                  <c:pt idx="4">
                    <c:v>21</c:v>
                  </c:pt>
                  <c:pt idx="5">
                    <c:v>28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2.86</c:v>
                </c:pt>
                <c:pt idx="1">
                  <c:v>3.87</c:v>
                </c:pt>
                <c:pt idx="2">
                  <c:v>3.83</c:v>
                </c:pt>
                <c:pt idx="3">
                  <c:v>4.71</c:v>
                </c:pt>
                <c:pt idx="4">
                  <c:v>4.29</c:v>
                </c:pt>
                <c:pt idx="5">
                  <c:v>4.91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days</c:v>
                </c:pt>
              </c:strCache>
            </c:strRef>
          </c:tx>
          <c:spPr>
            <a:solidFill>
              <a:srgbClr val="0F2942"/>
            </a:solidFill>
            <a:ln w="38100" cap="flat">
              <a:solidFill>
                <a:srgbClr val="0F29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2942"/>
              </a:solidFill>
              <a:ln w="9525" cap="flat">
                <a:solidFill>
                  <a:srgbClr val="0F2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7</c:v>
                  </c:pt>
                  <c:pt idx="3">
                    <c:v>14</c:v>
                  </c:pt>
                  <c:pt idx="4">
                    <c:v>21</c:v>
                  </c:pt>
                  <c:pt idx="5">
                    <c:v>28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3.18</c:v>
                </c:pt>
                <c:pt idx="1">
                  <c:v>4.29</c:v>
                </c:pt>
                <c:pt idx="2">
                  <c:v>4.12</c:v>
                </c:pt>
                <c:pt idx="3">
                  <c:v>4.86</c:v>
                </c:pt>
                <c:pt idx="4">
                  <c:v>4.58</c:v>
                </c:pt>
                <c:pt idx="5">
                  <c:v>5.19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Chinese New Year days</c:v>
                </c:pt>
              </c:strCache>
            </c:strRef>
          </c:tx>
          <c:spPr>
            <a:solidFill>
              <a:srgbClr val="E8B547"/>
            </a:solidFill>
            <a:ln w="38100" cap="flat">
              <a:solidFill>
                <a:srgbClr val="E8B5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B547"/>
              </a:solidFill>
              <a:ln w="9525" cap="flat">
                <a:solidFill>
                  <a:srgbClr val="E8B5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7</c:v>
                  </c:pt>
                  <c:pt idx="3">
                    <c:v>14</c:v>
                  </c:pt>
                  <c:pt idx="4">
                    <c:v>21</c:v>
                  </c:pt>
                  <c:pt idx="5">
                    <c:v>28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6.69</c:v>
                </c:pt>
                <c:pt idx="1">
                  <c:v>8.86</c:v>
                </c:pt>
                <c:pt idx="2">
                  <c:v>7.28</c:v>
                </c:pt>
                <c:pt idx="3">
                  <c:v>6.58</c:v>
                </c:pt>
                <c:pt idx="4">
                  <c:v>7.78</c:v>
                </c:pt>
                <c:pt idx="5">
                  <c:v>8.29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1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183"/>
                    </a:solidFill>
                    <a:latin typeface="Arial"/>
                  </a:rPr>
                  <a:t>days ahead the forecast was made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1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183"/>
                    </a:solidFill>
                    <a:latin typeface="Arial"/>
                  </a:rPr>
                  <a:t>average % miss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 actually happened</c:v>
                </c:pt>
              </c:strCache>
            </c:strRef>
          </c:tx>
          <c:spPr>
            <a:solidFill>
              <a:srgbClr val="0F2942"/>
            </a:solidFill>
            <a:ln w="38100" cap="flat">
              <a:solidFill>
                <a:srgbClr val="0F29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2942"/>
              </a:solidFill>
              <a:ln w="9525" cap="flat">
                <a:solidFill>
                  <a:srgbClr val="0F2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May 01</c:v>
                  </c:pt>
                  <c:pt idx="1">
                    <c:v>May 02</c:v>
                  </c:pt>
                  <c:pt idx="2">
                    <c:v>May 03</c:v>
                  </c:pt>
                  <c:pt idx="3">
                    <c:v>May 04</c:v>
                  </c:pt>
                  <c:pt idx="4">
                    <c:v>May 05</c:v>
                  </c:pt>
                  <c:pt idx="5">
                    <c:v>May 06</c:v>
                  </c:pt>
                  <c:pt idx="6">
                    <c:v>May 07</c:v>
                  </c:pt>
                  <c:pt idx="7">
                    <c:v>May 08</c:v>
                  </c:pt>
                  <c:pt idx="8">
                    <c:v>May 09</c:v>
                  </c:pt>
                  <c:pt idx="9">
                    <c:v>May 10</c:v>
                  </c:pt>
                  <c:pt idx="10">
                    <c:v>May 11</c:v>
                  </c:pt>
                  <c:pt idx="11">
                    <c:v>May 12</c:v>
                  </c:pt>
                  <c:pt idx="12">
                    <c:v>May 13</c:v>
                  </c:pt>
                  <c:pt idx="13">
                    <c:v>May 14</c:v>
                  </c:pt>
                  <c:pt idx="14">
                    <c:v>May 15</c:v>
                  </c:pt>
                  <c:pt idx="15">
                    <c:v>May 16</c:v>
                  </c:pt>
                  <c:pt idx="16">
                    <c:v>May 17</c:v>
                  </c:pt>
                  <c:pt idx="17">
                    <c:v>May 18</c:v>
                  </c:pt>
                  <c:pt idx="18">
                    <c:v>May 19</c:v>
                  </c:pt>
                  <c:pt idx="19">
                    <c:v>May 20</c:v>
                  </c:pt>
                  <c:pt idx="20">
                    <c:v>May 21</c:v>
                  </c:pt>
                  <c:pt idx="21">
                    <c:v>May 22</c:v>
                  </c:pt>
                  <c:pt idx="22">
                    <c:v>May 23</c:v>
                  </c:pt>
                  <c:pt idx="23">
                    <c:v>May 24</c:v>
                  </c:pt>
                  <c:pt idx="24">
                    <c:v>May 25</c:v>
                  </c:pt>
                  <c:pt idx="25">
                    <c:v>May 26</c:v>
                  </c:pt>
                  <c:pt idx="26">
                    <c:v>May 27</c:v>
                  </c:pt>
                  <c:pt idx="27">
                    <c:v>May 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8653</c:v>
                </c:pt>
                <c:pt idx="1">
                  <c:v>8249</c:v>
                </c:pt>
                <c:pt idx="2">
                  <c:v>7780</c:v>
                </c:pt>
                <c:pt idx="3">
                  <c:v>7153</c:v>
                </c:pt>
                <c:pt idx="4">
                  <c:v>6694</c:v>
                </c:pt>
                <c:pt idx="5">
                  <c:v>6063</c:v>
                </c:pt>
                <c:pt idx="6">
                  <c:v>6236</c:v>
                </c:pt>
                <c:pt idx="7">
                  <c:v>6738</c:v>
                </c:pt>
                <c:pt idx="8">
                  <c:v>7120</c:v>
                </c:pt>
                <c:pt idx="9">
                  <c:v>6714</c:v>
                </c:pt>
                <c:pt idx="10">
                  <c:v>6780</c:v>
                </c:pt>
                <c:pt idx="11">
                  <c:v>6903</c:v>
                </c:pt>
                <c:pt idx="12">
                  <c:v>6671</c:v>
                </c:pt>
                <c:pt idx="13">
                  <c:v>6955</c:v>
                </c:pt>
                <c:pt idx="14">
                  <c:v>6995</c:v>
                </c:pt>
                <c:pt idx="15">
                  <c:v>7815</c:v>
                </c:pt>
                <c:pt idx="16">
                  <c:v>7158</c:v>
                </c:pt>
                <c:pt idx="17">
                  <c:v>6839</c:v>
                </c:pt>
                <c:pt idx="18">
                  <c:v>6924</c:v>
                </c:pt>
                <c:pt idx="19">
                  <c:v>6769</c:v>
                </c:pt>
                <c:pt idx="20">
                  <c:v>6588</c:v>
                </c:pt>
                <c:pt idx="21">
                  <c:v>6874</c:v>
                </c:pt>
                <c:pt idx="22">
                  <c:v>7710</c:v>
                </c:pt>
                <c:pt idx="23">
                  <c:v>7045</c:v>
                </c:pt>
                <c:pt idx="24">
                  <c:v>6625</c:v>
                </c:pt>
                <c:pt idx="25">
                  <c:v>6877</c:v>
                </c:pt>
                <c:pt idx="26">
                  <c:v>7120</c:v>
                </c:pt>
                <c:pt idx="27">
                  <c:v>6993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what the model predicted</c:v>
                </c:pt>
              </c:strCache>
            </c:strRef>
          </c:tx>
          <c:spPr>
            <a:solidFill>
              <a:srgbClr val="2E8BA8"/>
            </a:solidFill>
            <a:ln w="38100" cap="flat">
              <a:solidFill>
                <a:srgbClr val="2E8B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A8"/>
              </a:solidFill>
              <a:ln w="9525" cap="flat">
                <a:solidFill>
                  <a:srgbClr val="2E8B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May 01</c:v>
                  </c:pt>
                  <c:pt idx="1">
                    <c:v>May 02</c:v>
                  </c:pt>
                  <c:pt idx="2">
                    <c:v>May 03</c:v>
                  </c:pt>
                  <c:pt idx="3">
                    <c:v>May 04</c:v>
                  </c:pt>
                  <c:pt idx="4">
                    <c:v>May 05</c:v>
                  </c:pt>
                  <c:pt idx="5">
                    <c:v>May 06</c:v>
                  </c:pt>
                  <c:pt idx="6">
                    <c:v>May 07</c:v>
                  </c:pt>
                  <c:pt idx="7">
                    <c:v>May 08</c:v>
                  </c:pt>
                  <c:pt idx="8">
                    <c:v>May 09</c:v>
                  </c:pt>
                  <c:pt idx="9">
                    <c:v>May 10</c:v>
                  </c:pt>
                  <c:pt idx="10">
                    <c:v>May 11</c:v>
                  </c:pt>
                  <c:pt idx="11">
                    <c:v>May 12</c:v>
                  </c:pt>
                  <c:pt idx="12">
                    <c:v>May 13</c:v>
                  </c:pt>
                  <c:pt idx="13">
                    <c:v>May 14</c:v>
                  </c:pt>
                  <c:pt idx="14">
                    <c:v>May 15</c:v>
                  </c:pt>
                  <c:pt idx="15">
                    <c:v>May 16</c:v>
                  </c:pt>
                  <c:pt idx="16">
                    <c:v>May 17</c:v>
                  </c:pt>
                  <c:pt idx="17">
                    <c:v>May 18</c:v>
                  </c:pt>
                  <c:pt idx="18">
                    <c:v>May 19</c:v>
                  </c:pt>
                  <c:pt idx="19">
                    <c:v>May 20</c:v>
                  </c:pt>
                  <c:pt idx="20">
                    <c:v>May 21</c:v>
                  </c:pt>
                  <c:pt idx="21">
                    <c:v>May 22</c:v>
                  </c:pt>
                  <c:pt idx="22">
                    <c:v>May 23</c:v>
                  </c:pt>
                  <c:pt idx="23">
                    <c:v>May 24</c:v>
                  </c:pt>
                  <c:pt idx="24">
                    <c:v>May 25</c:v>
                  </c:pt>
                  <c:pt idx="25">
                    <c:v>May 26</c:v>
                  </c:pt>
                  <c:pt idx="26">
                    <c:v>May 27</c:v>
                  </c:pt>
                  <c:pt idx="27">
                    <c:v>May 28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8093</c:v>
                </c:pt>
                <c:pt idx="1">
                  <c:v>8076</c:v>
                </c:pt>
                <c:pt idx="2">
                  <c:v>7449</c:v>
                </c:pt>
                <c:pt idx="3">
                  <c:v>7215</c:v>
                </c:pt>
                <c:pt idx="4">
                  <c:v>6794</c:v>
                </c:pt>
                <c:pt idx="5">
                  <c:v>6487</c:v>
                </c:pt>
                <c:pt idx="6">
                  <c:v>6823</c:v>
                </c:pt>
                <c:pt idx="7">
                  <c:v>6673</c:v>
                </c:pt>
                <c:pt idx="8">
                  <c:v>6774</c:v>
                </c:pt>
                <c:pt idx="9">
                  <c:v>7062</c:v>
                </c:pt>
                <c:pt idx="10">
                  <c:v>6517</c:v>
                </c:pt>
                <c:pt idx="11">
                  <c:v>6593</c:v>
                </c:pt>
                <c:pt idx="12">
                  <c:v>6703</c:v>
                </c:pt>
                <c:pt idx="13">
                  <c:v>7038</c:v>
                </c:pt>
                <c:pt idx="14">
                  <c:v>7134</c:v>
                </c:pt>
                <c:pt idx="15">
                  <c:v>7722</c:v>
                </c:pt>
                <c:pt idx="16">
                  <c:v>7206</c:v>
                </c:pt>
                <c:pt idx="17">
                  <c:v>6627</c:v>
                </c:pt>
                <c:pt idx="18">
                  <c:v>6647</c:v>
                </c:pt>
                <c:pt idx="19">
                  <c:v>6687</c:v>
                </c:pt>
                <c:pt idx="20">
                  <c:v>6927</c:v>
                </c:pt>
                <c:pt idx="21">
                  <c:v>7172</c:v>
                </c:pt>
                <c:pt idx="22">
                  <c:v>7756</c:v>
                </c:pt>
                <c:pt idx="23">
                  <c:v>7174</c:v>
                </c:pt>
                <c:pt idx="24">
                  <c:v>6686</c:v>
                </c:pt>
                <c:pt idx="25">
                  <c:v>6714</c:v>
                </c:pt>
                <c:pt idx="26">
                  <c:v>6675</c:v>
                </c:pt>
                <c:pt idx="27">
                  <c:v>6791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 on 2 Feb 2026</c:v>
                </c:pt>
              </c:strCache>
            </c:strRef>
          </c:tx>
          <c:spPr>
            <a:solidFill>
              <a:srgbClr val="C74B4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4B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A87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Production model
(2 years of data)</c:v>
                  </c:pt>
                  <c:pt idx="1">
                    <c:v>Long-history model
(11 years of data)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27.7</c:v>
                </c:pt>
                <c:pt idx="1">
                  <c:v>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0F29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1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183"/>
                    </a:solidFill>
                    <a:latin typeface="Arial"/>
                  </a:rPr>
                  <a:t>how far off it was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through the entire forecasting system from first principles. It assumes no prior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 = mean absolute percentage error. 4.3% across a full year. Ordinary days ~3.8%, Chinese New Year ~7.3%.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deliberate design choice: statelessness removes an entire category of production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thing from this deck, make it this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technical term is horizon gating: min_safe = horizon + 1. Verified empirically with a sentinel-value injection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separate LightGBM models are trained per run, one per forecast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 measured by LightGBM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Holidays being ~47% of total gain is the single most important fact about this model's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 = 0.5 ^ (days_back / half_life). Production uses 240; the long-history pipeline defaults to 1095.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 trees, learning rate 0.02, depth 5. Deliberately small trees to avoid overfitting on limited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CNY is the defining difficulty of this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Eve-of-CNY ratios: 0.43x in 2024, 0.47x in 2025, 0.49x in 2026 — the shape is remarkably stable year to year, which is what makes the anchor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blended = 0.2 * model + 0.8 * profile. The alpha curve is flat between 0.75 and 0.95, so the result does not depend on hitting it precisely.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holidays are matched by POSITION within the holiday, not by calendar date. Ching Ming is also a solar term — production hardcodes 4 April, but it falls on 5 April in 2018, 2019, 2022,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comes from honest backtests, not from fitting the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the current production configuration. n=72 days per lead, 6 of them CNY-window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Produced by long_history/evaluate_long.py in rolling_window mode, 7-day lead. Bias was -30 patron hours, i.e. very slightly under-forecasting.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interval-coverage problem is a correctness issue, not an accuracy one, but people may be sizing risk off that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typhoon_override.py. Closure days are also detected in the data via floortables == 0, which correctly finds Mangkhut 2018 and both COVID closures.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Lives in long_history/ and cannot affect the live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argument for long history is not the average (only about -0.3pp) but the removal of catastrophic single-day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single-event-versus-six-events lesson is the most transferable thing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Gaps must be filled, never worked around by deleting surrounding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most valuable page in the deck for anyone planning to improve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measurement discipline point — it is what keeps this model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 Model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6868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— how it works, and why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" y="3703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someone who has never seen this system before.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statistics background needed.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job: guess how busy the casino floor will be, every day, for the next four weeks.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</a:t>
            </a:r>
            <a:pPr indent="0" marL="0">
              <a:buNone/>
            </a:pPr>
            <a:r>
              <a:rPr lang="en-US" sz="16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hours</a:t>
            </a:r>
            <a:pPr indent="0" marL="0">
              <a:buNone/>
            </a:pPr>
            <a:r>
              <a:rPr lang="en-US" sz="16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roughly, how many people are on the floor multiplied by how long they stay.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number drives staff scheduling. Too low and the floor is understaffed; too high and you pay for labour you did not need.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5968" y="2880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2880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ahead, every run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5968" y="3200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~4.3%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315968" y="4114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average miss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0" y="3200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092440" y="4114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per 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28 days it gives three numbers: a most-likely figure (P50), a low case (P10) and a high case (P90). Plan against P50.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"4.3% miss" as: if the real answer was 7,000 patron hours, a typical forecast lands about 300 either side.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system, in one 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database, no stored model, no training pipeline to babysit.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 file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data/raw/rawdata.csv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27432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script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forecast.py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when you want a forecast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27432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83880" y="19202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148840"/>
            <a:ext cx="502920" cy="50292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output folder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predictions.csv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chart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389120"/>
            <a:ext cx="10789920" cy="1874520"/>
          </a:xfrm>
          <a:prstGeom prst="roundRect">
            <a:avLst>
              <a:gd name="adj" fmla="val 3902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starts from scratch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" y="50292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"training step" you run separately. Each time you ask for a forecast, the model is rebuilt from all the data available at that moment, makes its predictions, and is thrown away. Nothing is saved between runs — so nothing can quietly go stale or drift out of date without anyone noticing.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051560" cy="105156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402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shapes everything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3154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design decision in this system exists to obey a single constraint.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peeking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may only use information that genuinely existed at the time it was made.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today is 1 March and you want to predict 15 March — that is 14 days ahead.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98648"/>
            <a:ext cx="10515600" cy="32004"/>
          </a:xfrm>
          <a:prstGeom prst="rect">
            <a:avLst/>
          </a:prstGeom>
          <a:solidFill>
            <a:srgbClr val="C9D4D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4837176" cy="566928"/>
          </a:xfrm>
          <a:prstGeom prst="rect">
            <a:avLst/>
          </a:prstGeom>
          <a:solidFill>
            <a:srgbClr val="E4EFF3"/>
          </a:solidFill>
          <a:ln/>
        </p:spPr>
      </p:sp>
      <p:sp>
        <p:nvSpPr>
          <p:cNvPr id="7" name="Shape 5"/>
          <p:cNvSpPr/>
          <p:nvPr/>
        </p:nvSpPr>
        <p:spPr>
          <a:xfrm>
            <a:off x="5660136" y="2331720"/>
            <a:ext cx="3680460" cy="566928"/>
          </a:xfrm>
          <a:prstGeom prst="rect">
            <a:avLst/>
          </a:prstGeom>
          <a:solidFill>
            <a:srgbClr val="F7E3E3"/>
          </a:solidFill>
          <a:ln/>
        </p:spPr>
      </p:sp>
      <p:sp>
        <p:nvSpPr>
          <p:cNvPr id="8" name="Shape 6"/>
          <p:cNvSpPr/>
          <p:nvPr/>
        </p:nvSpPr>
        <p:spPr>
          <a:xfrm>
            <a:off x="9340596" y="2331720"/>
            <a:ext cx="1997964" cy="566928"/>
          </a:xfrm>
          <a:prstGeom prst="rect">
            <a:avLst/>
          </a:prstGeom>
          <a:solidFill>
            <a:srgbClr val="FBF0D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you MAY use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0136" y="2331720"/>
            <a:ext cx="36804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13 days — FORBIDDEN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40596" y="2331720"/>
            <a:ext cx="1997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you predict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up to 28 Feb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0136" y="2971800"/>
            <a:ext cx="3680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14 March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40596" y="297180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March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C74B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so much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 March, the demand for 5 March has not happened yet. If the model were allowed to look at it while learning, it would score brilliantly in testing and fail completely in real use.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mistake is called leakage. It is the single most common way forecasting projects fail.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041648"/>
            <a:ext cx="457200" cy="457200"/>
          </a:xfrm>
          <a:prstGeom prst="ellipse">
            <a:avLst/>
          </a:prstGeom>
          <a:solidFill>
            <a:srgbClr val="2FA87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enforced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61772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backward-looking number carries a rule: it may not read anything newer than (days ahead + 1).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also tested, not just assumed — a fake value was planted in future data and confirmed never to reach the predictions.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there are 28 models, not 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consequence of the no-peeking rule.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for tomorrow may use yesterday's numbers. A forecast for four weeks out may not. They are genuinely different problems, so each gets its own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420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4231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tomorrow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use data up to yesterday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information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2316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one week 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the last 7 days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0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information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3425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3E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902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23160" y="46085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four weeks 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4608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the last 28 days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46085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 information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why accuracy gets worse the further out you look — there is simply less to go on. Any accuracy number is meaningless unless you say how far ahead it was measured.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051560" cy="105156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402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looks at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3154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170 pieces of information per day — and they are not equally important.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model is holidays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model's decision-making, measured — not assumed.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837944"/>
            <a:ext cx="201168" cy="201168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Holidays — 47%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55080" y="211226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New Year, Golden Week, Labour Day, Mid-Autumn and five more. Not single days but windows: CNY disrupts trade for about three weeks.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3008376"/>
            <a:ext cx="201168" cy="201168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2953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history — 15%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55080" y="328269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demand did 2, 7, 28, 365 days ago; rolling averages; the last few same-weekdays.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4178808"/>
            <a:ext cx="201168" cy="20116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41239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— 12%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55080" y="4453128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week, month, position in the year. Day of week matters enormously — Saturday is a different business from Tuesday.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89320" y="5349240"/>
            <a:ext cx="201168" cy="201168"/>
          </a:xfrm>
          <a:prstGeom prst="ellipse">
            <a:avLst/>
          </a:prstGeom>
          <a:solidFill>
            <a:srgbClr val="8A94A0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52943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— 26%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55080" y="5623560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open on the floor, the Mainland-China working calendar, and combinations of the above.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day in history counts equally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days are deliberately given less say. How much less is a setting called half-life.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7665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21284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240-day half-life, a day from 240 days ago counts half as much as today. From 480 days ago, a quarter. And so on — it falls away fast.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84048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4041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trips people 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0" y="4407408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240-day half-life, a day from 2016 counts about 1/35,000th of today. So loading ten years of history and changing nothing else does literally nothing.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half-life is not a follow-up to adding history — it IS the change.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080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rows get an extra 3× boost on top — they are rare but high-stakes.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itself: many small, weak guesses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gradient-boosted decision trees. The name is scarier than the idea.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boosting works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6263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small, crude rule. See where it is wrong. Build a second rule that fixes those mistakes. Then a third that fixes what is still wrong — and repeat 500 times.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rule is clever. Added together, they are.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AF2F5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model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01000" y="2194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combinations on its own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Copes with missing values — essential here, since long-range models have data deliberately withheld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minutes on a laptop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rejected, and why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time-series (ARIMA)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absorb 170 different inputs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79392" y="480060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7992" y="5440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far more than a decade of daily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0144" y="480060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(a smoother statistical model)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38744" y="5440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this project — worse at all 9 forecast distances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051560" cy="105156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402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New Year — the hard part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3154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source of error, and the one place the model gets deliberate help.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happens at Chinese New Year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demand around CNY 2025 (29 January). Trade does not dip — it collapses, then rebounds.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916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1847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collapse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on the eve of CNY falls to roughly HALF of normal — 3,331 against a typical 7,300.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75320" y="36576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model struggles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03920" y="4279392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reasons at once: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It has seen only one or two previous CNYs to learn from.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Its "how busy are we lately" inputs are themselves dragged down by the same collapse — right when it needs them most.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stop guessing, use last year's shape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hoping the model discovers the pattern, the answer is corrected afterwards.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 is dramatic, but it is also remarkably consistent year to year. That makes it something you can simply look up instead of learn.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matching 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date — the same POSITION. "Three days before CNY" this year matches "three days before CNY" last year.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2402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468880"/>
            <a:ext cx="457200" cy="45720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3035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the shape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5478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that day ran at 0.47× normal trade. That ratio is the pattern.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468880"/>
            <a:ext cx="457200" cy="45720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3035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to today's level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5478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this year's normal trade by that ratio. Correct for day of week.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2402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2468880"/>
            <a:ext cx="457200" cy="45720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0" y="3035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 it 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0" y="35478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= 20% model + 80% this lookup.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9F4E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47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394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CNY error roughly halved: 11.9% → 6.9% at short range, 16.1% → 7.4% at long range. Calibrated on 2025 and applied blind to 2026.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48920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50474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New Year only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5394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trick was tried on Easter, Dragon Boat and Mid-Autumn and made all three WORSE. Their swings are mild, so a lookup built from one or two past years is mostly noise.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holiday, handled differently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causes more subtle bugs than anything else in the system.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AF2F5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holidays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Christmas, New Year, Labour Day, Golden Week, Ching Ming.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date every year. To find last year's version, count back 364 days — exactly 52 weeks, which also lands on the same day of the week.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holidays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New Year, Mid-Autumn, Dragon Boat, Easter.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follow the lunar calendar and can shift by up to three weeks. Counting back 364 days lands on completely the wrong part of the holiday.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 this caused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CNY 2025 fell on 29 January. CNY 2026 falls on 17 February — 19 days later.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for a date in late January 2026, "the same date last year" landed deep inside the 2025 collapse — comparing an ordinary Tuesday against a day running at half normal trade.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handed a number far outside anything it had seen, and missed 2 February 2026 by 27.7% — predicting 4,964 when the answer was 6,868.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051560" cy="105156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402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good is it, really?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3154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held-out data — days the model had never seen when it made the call.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depends on how far ahead you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accuracy figure means nothing without the forecast distance attached.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373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EAF2F5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days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58200" y="22128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2.9% one day out, rising to roughly 4.9% at four weeks. Predictable, and good enough to schedule against.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83880" y="3429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3566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days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58200" y="390448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double the error, and it stays high at every distance. This is where the remaining difficulty lives.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3880" y="49834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51023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a MAPE without its lead time.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 in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2026, forecast seven days ahead, re-forecasting weekly. The model had not seen any of these days.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7772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3.18%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4124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miss over the month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412480" y="320040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chart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0" y="37033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tracks the weekly rhythm well — the weekend peaks and midweek troughs line up.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struggles is unusual single days. That is the honest limit: it learns patterns, and a one-off event is not a pattern.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cannot do — read this before relying on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because knowing the limits is part of using it safely.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475488" cy="475488"/>
          </a:xfrm>
          <a:prstGeom prst="ellipse">
            <a:avLst/>
          </a:prstGeom>
          <a:solidFill>
            <a:srgbClr val="C74B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17922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high/low range is too narrow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1396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P10–P90 band is supposed to contain the real answer 80% of the time. Measured, it manages 46–54%. Treat it as a rough confidence signal, not a guarantee.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35808"/>
            <a:ext cx="475488" cy="475488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29077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see one-off events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81328" y="32552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concert, a competitor closing, a policy change. If it is not in the calendar and not in the past, the model does not know.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51376"/>
            <a:ext cx="475488" cy="475488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402336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Typhoons are not predicted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43708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— see the next slide.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9262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266944"/>
            <a:ext cx="475488" cy="475488"/>
          </a:xfrm>
          <a:prstGeom prst="ellipse">
            <a:avLst/>
          </a:prstGeom>
          <a:solidFill>
            <a:srgbClr val="C74B4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66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81328" y="51389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calendar ends in 2026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81328" y="5486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calendar library has no 2027 dates. Forecasts made late in 2026 will reach past it. A known, dated deadline.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Typhoons: a decision, not a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example of knowing when NOT to use a model.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idea is to feed typhoon warnings in as an input. It was tried, and it cannot work — because the storm is not what closes the casino. A management decision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 RAGASA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suspended.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went to effectively zero.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E9F4E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514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 TORAJI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926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stayed open.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was close to a normal day.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storms. Opposite outcomes. No amount of weather data separates them, because the deciding factor is human.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66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done instead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manual tool. When management decides to suspend operations, a person applies that to the forecast directly. The model is never asked to guess a decision it cannot see.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051560" cy="105156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402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long-history version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3154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complete copy of the system trained on 11 years instead of 2.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more history matters — one concrete 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February 2026. Same day, same inputs, two models.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8521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7373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12280" y="190195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12280" y="224028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compares today against "the same day last year". That date landed two days before CNY 2025 — when trade was at half normal.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handed a comparison far outside anything in its experience, and had no idea what to do with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3796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9F4E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423367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longer version coped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12280" y="45720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fixed or patched. It had simply watched about ten Chinese New Years drift around the calendar, so the pattern was familiar rather than shocking.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long-history version better? Honestly: partly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measured, including the parts that did not 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9F4E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457200" cy="457200"/>
          </a:xfrm>
          <a:prstGeom prst="ellipse">
            <a:avLst/>
          </a:prstGeom>
          <a:solidFill>
            <a:srgbClr val="2FA87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clearly wins 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catastrophic single-day errors (27.7% → 3.2%)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seen ~10 Chinese New Years, not 2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 real calendar bug in Ching Ming dates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47088"/>
            <a:ext cx="457200" cy="45720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win 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0.3 percentage points better on average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most test windows but makes two worse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pass the strict "nothing may get worse" bar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tested on it and rejected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091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the contaminated year-ago comparison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convincing on one Chinese New Year. Tested against six, it failed — and the long-history model had already solved the problem by itself.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7091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in a GAM (smoother model)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9834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at all nine forecast distances tested. Also no better on holidays, so a holiday-only hybrid was ruled out too.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systems, two commands. Both check the data before doing anything.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forecast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Add yesterday's actual demand to the data file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the forecast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 predictions.csv and the chart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20040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0F29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004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forecast.py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10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long-history version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2128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runs three steps in order and stops at the first failure: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 →  measure accuracy  →  forecast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320040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0F294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2004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long_history/run_pipeline.py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7E9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C74B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590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thing that will silently break everything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5010912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day in the data file. Every "what happened N days ago" calculation counts backwards through the calendar, so one absent row quietly corrupts a large number of inputs — with no error message. Both systems check for this before anything else, and refuse to run if they find a gap. Never skip that check.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already been tried and rejected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so nobody spends a week rediscovering it. Every one was measured on held-out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training data between nearby forecast distances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7532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on all 6 test windows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typhoon warnings in as an 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75320" y="2194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unlearnable — the driver is a closure decision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closure days from the history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(6.28% → 6.75%)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the feature list down to 40 or 60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keeping all 170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CNY trick on other holidays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3703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in 7 of 12 cases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CNY by day of week instead of last year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 vs 7.1%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709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all past CNYs instead of using last year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709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 vs 7.1%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212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model with a GAM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5212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at all 9 forecast distances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BF6E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852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tinkering with individual inputs does not work on this problem. Assume any idea is neutral until it is measured.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to remember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155448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file, one script, rebuilt every run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9019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stored between runs, so nothing can go stale unnoticed.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502920" cy="50292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48716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peeking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8346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28 separate models because each forecast distance may legally see a different amount of history.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502920" cy="50292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419856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model is holidays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7673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Chinese New Year gets its own correction, because it cannot be learned from one or two examples.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98264"/>
            <a:ext cx="502920" cy="50292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35254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Typhoons are a human decision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70001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never asked to guess something it cannot see. That is a feature, not a gap.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330952"/>
            <a:ext cx="502920" cy="502920"/>
          </a:xfrm>
          <a:prstGeom prst="ellipse">
            <a:avLst/>
          </a:prstGeom>
          <a:solidFill>
            <a:srgbClr val="E8B54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52852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before believing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6327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sensible-sounding improvements tested here made things worse. A result from a single event is not a result.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 Model — Complete Walkthrough</dc:title>
  <dc:subject>PptxGenJS Presentation</dc:subject>
  <dc:creator>Demand Forecast</dc:creator>
  <cp:lastModifiedBy>Demand Forecast</cp:lastModifiedBy>
  <cp:revision>1</cp:revision>
  <dcterms:created xsi:type="dcterms:W3CDTF">2026-08-09T04:00:19Z</dcterms:created>
  <dcterms:modified xsi:type="dcterms:W3CDTF">2026-08-09T04:00:19Z</dcterms:modified>
</cp:coreProperties>
</file>