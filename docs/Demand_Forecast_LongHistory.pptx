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6.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7.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0.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3.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4.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5.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16.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miss</c:v>
                </c:pt>
              </c:strCache>
            </c:strRef>
          </c:tx>
          <c:spPr>
            <a:solidFill>
              <a:srgbClr val="C74B4B"/>
            </a:solidFill>
            <a:effectLst/>
          </c:spPr>
          <c:invertIfNegative val="0"/>
          <c:dLbls>
            <c:numFmt formatCode="0.0&quot;%&quot;" sourceLinked="0"/>
            <c:txPr>
              <a:bodyPr/>
              <a:lstStyle/>
              <a:p>
                <a:pPr>
                  <a:defRPr b="0" i="0" strike="noStrike" sz="1500" u="none">
                    <a:solidFill>
                      <a:srgbClr val="0F2942"/>
                    </a:solidFill>
                    <a:latin typeface="Arial"/>
                  </a:defRPr>
                </a:pPr>
              </a:p>
            </c:txPr>
            <c:showLegendKey val="0"/>
            <c:showVal val="1"/>
            <c:showCatName val="0"/>
            <c:showSerName val="0"/>
            <c:showPercent val="0"/>
            <c:showBubbleSize val="0"/>
            <c:showLeaderLines val="0"/>
          </c:dLbls>
          <c:dPt>
            <c:idx val="0"/>
            <c:invertIfNegative val="0"/>
            <c:bubble3D val="0"/>
            <c:spPr>
              <a:solidFill>
                <a:srgbClr val="C74B4B"/>
              </a:solidFill>
              <a:effectLst/>
            </c:spPr>
          </c:dPt>
          <c:dPt>
            <c:idx val="1"/>
            <c:invertIfNegative val="0"/>
            <c:bubble3D val="0"/>
            <c:spPr>
              <a:solidFill>
                <a:srgbClr val="2FA87C"/>
              </a:solidFill>
              <a:effectLst/>
            </c:spPr>
          </c:dPt>
          <c:cat>
            <c:multiLvlStrRef>
              <c:f>Sheet1!$A$2:$A$3</c:f>
              <c:multiLvlStrCache>
                <c:ptCount val="2"/>
                <c:lvl>
                  <c:pt idx="0">
                    <c:v>Short memory
(2 years of data)</c:v>
                  </c:pt>
                  <c:pt idx="1">
                    <c:v>Long memory
(11 years of data)</c:v>
                  </c:pt>
                </c:lvl>
              </c:multiLvlStrCache>
            </c:multiLvlStrRef>
          </c:cat>
          <c:val>
            <c:numRef>
              <c:f>Sheet1!$B$2:$B$3</c:f>
              <c:numCache>
                <c:formatCode>General</c:formatCode>
                <c:ptCount val="2"/>
                <c:pt idx="0">
                  <c:v>27.7</c:v>
                </c:pt>
                <c:pt idx="1">
                  <c:v>3.2</c:v>
                </c:pt>
              </c:numCache>
            </c:numRef>
          </c:val>
        </c:ser>
        <c:dLbls>
          <c:numFmt formatCode="0.0&quot;%&quot;" sourceLinked="0"/>
          <c:txPr>
            <a:bodyPr/>
            <a:lstStyle/>
            <a:p>
              <a:pPr>
                <a:defRPr b="0" i="0" strike="noStrike" sz="1500" u="none">
                  <a:solidFill>
                    <a:srgbClr val="0F2942"/>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7183"/>
                </a:solidFill>
                <a:latin typeface="Calibri"/>
              </a:defRPr>
            </a:pPr>
            <a:endParaRPr lang="en-US"/>
          </a:p>
        </c:txPr>
        <c:crossAx val="2094734552"/>
        <c:crosses val="autoZero"/>
        <c:auto val="1"/>
        <c:lblAlgn val="ctr"/>
        <c:noMultiLvlLbl val="1"/>
      </c:catAx>
      <c:valAx>
        <c:axId val="2094734552"/>
        <c:scaling>
          <c:orientation val="minMax"/>
          <c:max val="32"/>
          <c:min val="0"/>
        </c:scaling>
        <c:delete val="0"/>
        <c:axPos val="l"/>
        <c:majorGridlines>
          <c:spPr>
            <a:ln w="12700" cap="flat">
              <a:solidFill>
                <a:srgbClr val="E8EDF2"/>
              </a:solidFill>
              <a:prstDash val="solid"/>
              <a:round/>
            </a:ln>
          </c:spPr>
        </c:majorGridlines>
        <c:title>
          <c:tx>
            <c:rich>
              <a:bodyPr/>
              <a:lstStyle/>
              <a:p>
                <a:pPr>
                  <a:defRPr sz="1100" b="0" i="0" u="none" strike="noStrike">
                    <a:solidFill>
                      <a:srgbClr val="5F7183"/>
                    </a:solidFill>
                    <a:latin typeface="Arial"/>
                  </a:defRPr>
                </a:pPr>
                <a:r>
                  <a:rPr sz="1100" b="0" i="0" u="none" strike="noStrike">
                    <a:solidFill>
                      <a:srgbClr val="5F7183"/>
                    </a:solidFill>
                    <a:latin typeface="Arial"/>
                  </a:rPr>
                  <a:t>how far off it was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718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average demand</c:v>
                </c:pt>
              </c:strCache>
            </c:strRef>
          </c:tx>
          <c:spPr>
            <a:solidFill>
              <a:srgbClr val="0F294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0F2942"/>
              </a:solidFill>
              <a:effectLst/>
            </c:spPr>
          </c:dPt>
          <c:dPt>
            <c:idx val="1"/>
            <c:invertIfNegative val="0"/>
            <c:bubble3D val="0"/>
            <c:spPr>
              <a:solidFill>
                <a:srgbClr val="0F2942"/>
              </a:solidFill>
              <a:effectLst/>
            </c:spPr>
          </c:dPt>
          <c:dPt>
            <c:idx val="2"/>
            <c:invertIfNegative val="0"/>
            <c:bubble3D val="0"/>
            <c:spPr>
              <a:solidFill>
                <a:srgbClr val="0F2942"/>
              </a:solidFill>
              <a:effectLst/>
            </c:spPr>
          </c:dPt>
          <c:dPt>
            <c:idx val="3"/>
            <c:invertIfNegative val="0"/>
            <c:bubble3D val="0"/>
            <c:spPr>
              <a:solidFill>
                <a:srgbClr val="0F2942"/>
              </a:solidFill>
              <a:effectLst/>
            </c:spPr>
          </c:dPt>
          <c:dPt>
            <c:idx val="4"/>
            <c:invertIfNegative val="0"/>
            <c:bubble3D val="0"/>
            <c:spPr>
              <a:solidFill>
                <a:srgbClr val="0F2942"/>
              </a:solidFill>
              <a:effectLst/>
            </c:spPr>
          </c:dPt>
          <c:dPt>
            <c:idx val="5"/>
            <c:invertIfNegative val="0"/>
            <c:bubble3D val="0"/>
            <c:spPr>
              <a:solidFill>
                <a:srgbClr val="C74B4B"/>
              </a:solidFill>
              <a:effectLst/>
            </c:spPr>
          </c:dPt>
          <c:dPt>
            <c:idx val="6"/>
            <c:invertIfNegative val="0"/>
            <c:bubble3D val="0"/>
            <c:spPr>
              <a:solidFill>
                <a:srgbClr val="C74B4B"/>
              </a:solidFill>
              <a:effectLst/>
            </c:spPr>
          </c:dPt>
          <c:dPt>
            <c:idx val="7"/>
            <c:invertIfNegative val="0"/>
            <c:bubble3D val="0"/>
            <c:spPr>
              <a:solidFill>
                <a:srgbClr val="C74B4B"/>
              </a:solidFill>
              <a:effectLst/>
            </c:spPr>
          </c:dPt>
          <c:dPt>
            <c:idx val="8"/>
            <c:invertIfNegative val="0"/>
            <c:bubble3D val="0"/>
            <c:spPr>
              <a:solidFill>
                <a:srgbClr val="E8B547"/>
              </a:solidFill>
              <a:effectLst/>
            </c:spPr>
          </c:dPt>
          <c:dPt>
            <c:idx val="9"/>
            <c:invertIfNegative val="0"/>
            <c:bubble3D val="0"/>
            <c:spPr>
              <a:solidFill>
                <a:srgbClr val="2E8BA8"/>
              </a:solidFill>
              <a:effectLst/>
            </c:spPr>
          </c:dPt>
          <c:dPt>
            <c:idx val="10"/>
            <c:invertIfNegative val="0"/>
            <c:bubble3D val="0"/>
            <c:spPr>
              <a:solidFill>
                <a:srgbClr val="2E8BA8"/>
              </a:solidFill>
              <a:effectLst/>
            </c:spPr>
          </c:dPt>
          <c:dPt>
            <c:idx val="11"/>
            <c:invertIfNegative val="0"/>
            <c:bubble3D val="0"/>
            <c:spPr>
              <a:solidFill>
                <a:srgbClr val="2E8BA8"/>
              </a:solidFill>
              <a:effectLst/>
            </c:spPr>
          </c:dPt>
          <c:cat>
            <c:multiLvlStrRef>
              <c:f>Sheet1!$A$2:$A$13</c:f>
              <c:multiLvlStrCache>
                <c:ptCount val="12"/>
                <c:lvl>
                  <c:pt idx="0">
                    <c:v>2015</c:v>
                  </c:pt>
                  <c:pt idx="1">
                    <c:v>2016</c:v>
                  </c:pt>
                  <c:pt idx="2">
                    <c:v>2017</c:v>
                  </c:pt>
                  <c:pt idx="3">
                    <c:v>2018</c:v>
                  </c:pt>
                  <c:pt idx="4">
                    <c:v>2019</c:v>
                  </c:pt>
                  <c:pt idx="5">
                    <c:v>2020</c:v>
                  </c:pt>
                  <c:pt idx="6">
                    <c:v>2021</c:v>
                  </c:pt>
                  <c:pt idx="7">
                    <c:v>2022</c:v>
                  </c:pt>
                  <c:pt idx="8">
                    <c:v>2023</c:v>
                  </c:pt>
                  <c:pt idx="9">
                    <c:v>2024</c:v>
                  </c:pt>
                  <c:pt idx="10">
                    <c:v>2025</c:v>
                  </c:pt>
                  <c:pt idx="11">
                    <c:v>2026</c:v>
                  </c:pt>
                </c:lvl>
              </c:multiLvlStrCache>
            </c:multiLvlStrRef>
          </c:cat>
          <c:val>
            <c:numRef>
              <c:f>Sheet1!$B$2:$B$13</c:f>
              <c:numCache>
                <c:formatCode>General</c:formatCode>
                <c:ptCount val="12"/>
                <c:pt idx="0">
                  <c:v>4463</c:v>
                </c:pt>
                <c:pt idx="1">
                  <c:v>3795</c:v>
                </c:pt>
                <c:pt idx="2">
                  <c:v>4050</c:v>
                </c:pt>
                <c:pt idx="3">
                  <c:v>4193</c:v>
                </c:pt>
                <c:pt idx="4">
                  <c:v>5879</c:v>
                </c:pt>
                <c:pt idx="5">
                  <c:v>1339</c:v>
                </c:pt>
                <c:pt idx="6">
                  <c:v>2142</c:v>
                </c:pt>
                <c:pt idx="7">
                  <c:v>889</c:v>
                </c:pt>
                <c:pt idx="8">
                  <c:v>4869</c:v>
                </c:pt>
                <c:pt idx="9">
                  <c:v>6500</c:v>
                </c:pt>
                <c:pt idx="10">
                  <c:v>6973</c:v>
                </c:pt>
                <c:pt idx="11">
                  <c:v>7013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7183"/>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E8EDF2"/>
              </a:solidFill>
              <a:prstDash val="solid"/>
              <a:round/>
            </a:ln>
          </c:spPr>
        </c:majorGridlines>
        <c:title>
          <c:tx>
            <c:rich>
              <a:bodyPr/>
              <a:lstStyle/>
              <a:p>
                <a:pPr>
                  <a:defRPr sz="1100" b="0" i="0" u="none" strike="noStrike">
                    <a:solidFill>
                      <a:srgbClr val="5F7183"/>
                    </a:solidFill>
                    <a:latin typeface="Arial"/>
                  </a:defRPr>
                </a:pPr>
                <a:r>
                  <a:rPr sz="1100" b="0" i="0" u="none" strike="noStrike">
                    <a:solidFill>
                      <a:srgbClr val="5F7183"/>
                    </a:solidFill>
                    <a:latin typeface="Arial"/>
                  </a:rPr>
                  <a:t>patron hours (yearly average)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718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240-day half-life (short-memory default)</c:v>
                </c:pt>
              </c:strCache>
            </c:strRef>
          </c:tx>
          <c:spPr>
            <a:solidFill>
              <a:srgbClr val="2E8BA8"/>
            </a:solidFill>
            <a:ln w="38100" cap="flat">
              <a:solidFill>
                <a:srgbClr val="2E8B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8BA8"/>
              </a:solidFill>
              <a:ln w="9525" cap="flat">
                <a:solidFill>
                  <a:srgbClr val="2E8BA8"/>
                </a:solidFill>
                <a:prstDash val="solid"/>
                <a:round/>
              </a:ln>
              <a:effectLst/>
            </c:spPr>
          </c:marker>
          <c:cat>
            <c:multiLvlStrRef>
              <c:f>Sheet1!$A$2:$A$14</c:f>
              <c:multiLvlStrCache>
                <c:ptCount val="13"/>
                <c:lvl>
                  <c:pt idx="0">
                    <c:v>0</c:v>
                  </c:pt>
                  <c:pt idx="1">
                    <c:v>120</c:v>
                  </c:pt>
                  <c:pt idx="2">
                    <c:v>240</c:v>
                  </c:pt>
                  <c:pt idx="3">
                    <c:v>360</c:v>
                  </c:pt>
                  <c:pt idx="4">
                    <c:v>480</c:v>
                  </c:pt>
                  <c:pt idx="5">
                    <c:v>600</c:v>
                  </c:pt>
                  <c:pt idx="6">
                    <c:v>720</c:v>
                  </c:pt>
                  <c:pt idx="7">
                    <c:v>840</c:v>
                  </c:pt>
                  <c:pt idx="8">
                    <c:v>960</c:v>
                  </c:pt>
                  <c:pt idx="9">
                    <c:v>1080</c:v>
                  </c:pt>
                  <c:pt idx="10">
                    <c:v>1200</c:v>
                  </c:pt>
                  <c:pt idx="11">
                    <c:v>1320</c:v>
                  </c:pt>
                  <c:pt idx="12">
                    <c:v>1440</c:v>
                  </c:pt>
                </c:lvl>
              </c:multiLvlStrCache>
            </c:multiLvlStrRef>
          </c:cat>
          <c:val>
            <c:numRef>
              <c:f>Sheet1!$B$2:$B$14</c:f>
              <c:numCache>
                <c:formatCode>General</c:formatCode>
                <c:ptCount val="13"/>
                <c:pt idx="0">
                  <c:v>100</c:v>
                </c:pt>
                <c:pt idx="1">
                  <c:v>70.71</c:v>
                </c:pt>
                <c:pt idx="2">
                  <c:v>50</c:v>
                </c:pt>
                <c:pt idx="3">
                  <c:v>35.36</c:v>
                </c:pt>
                <c:pt idx="4">
                  <c:v>25</c:v>
                </c:pt>
                <c:pt idx="5">
                  <c:v>17.68</c:v>
                </c:pt>
                <c:pt idx="6">
                  <c:v>12.5</c:v>
                </c:pt>
                <c:pt idx="7">
                  <c:v>8.84</c:v>
                </c:pt>
                <c:pt idx="8">
                  <c:v>6.25</c:v>
                </c:pt>
                <c:pt idx="9">
                  <c:v>4.42</c:v>
                </c:pt>
                <c:pt idx="10">
                  <c:v>3.12</c:v>
                </c:pt>
                <c:pt idx="11">
                  <c:v>2.21</c:v>
                </c:pt>
                <c:pt idx="12">
                  <c:v>1.56</c:v>
                </c:pt>
              </c:numCache>
            </c:numRef>
          </c:val>
          <c:smooth val="1"/>
        </c:ser>
        <c:ser>
          <c:idx val="1"/>
          <c:order val="1"/>
          <c:tx>
            <c:strRef>
              <c:f>Sheet1!$C$1</c:f>
              <c:strCache>
                <c:ptCount val="1"/>
                <c:pt idx="0">
                  <c:v>1095-day half-life (this model)</c:v>
                </c:pt>
              </c:strCache>
            </c:strRef>
          </c:tx>
          <c:spPr>
            <a:solidFill>
              <a:srgbClr val="E8B547"/>
            </a:solidFill>
            <a:ln w="38100" cap="flat">
              <a:solidFill>
                <a:srgbClr val="E8B54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8B547"/>
              </a:solidFill>
              <a:ln w="9525" cap="flat">
                <a:solidFill>
                  <a:srgbClr val="E8B547"/>
                </a:solidFill>
                <a:prstDash val="solid"/>
                <a:round/>
              </a:ln>
              <a:effectLst/>
            </c:spPr>
          </c:marker>
          <c:cat>
            <c:multiLvlStrRef>
              <c:f>Sheet1!$A$2:$A$14</c:f>
              <c:multiLvlStrCache>
                <c:ptCount val="13"/>
                <c:lvl>
                  <c:pt idx="0">
                    <c:v>0</c:v>
                  </c:pt>
                  <c:pt idx="1">
                    <c:v>120</c:v>
                  </c:pt>
                  <c:pt idx="2">
                    <c:v>240</c:v>
                  </c:pt>
                  <c:pt idx="3">
                    <c:v>360</c:v>
                  </c:pt>
                  <c:pt idx="4">
                    <c:v>480</c:v>
                  </c:pt>
                  <c:pt idx="5">
                    <c:v>600</c:v>
                  </c:pt>
                  <c:pt idx="6">
                    <c:v>720</c:v>
                  </c:pt>
                  <c:pt idx="7">
                    <c:v>840</c:v>
                  </c:pt>
                  <c:pt idx="8">
                    <c:v>960</c:v>
                  </c:pt>
                  <c:pt idx="9">
                    <c:v>1080</c:v>
                  </c:pt>
                  <c:pt idx="10">
                    <c:v>1200</c:v>
                  </c:pt>
                  <c:pt idx="11">
                    <c:v>1320</c:v>
                  </c:pt>
                  <c:pt idx="12">
                    <c:v>1440</c:v>
                  </c:pt>
                </c:lvl>
              </c:multiLvlStrCache>
            </c:multiLvlStrRef>
          </c:cat>
          <c:val>
            <c:numRef>
              <c:f>Sheet1!$C$2:$C$14</c:f>
              <c:numCache>
                <c:formatCode>General</c:formatCode>
                <c:ptCount val="13"/>
                <c:pt idx="0">
                  <c:v>100</c:v>
                </c:pt>
                <c:pt idx="1">
                  <c:v>92.69</c:v>
                </c:pt>
                <c:pt idx="2">
                  <c:v>85.91</c:v>
                </c:pt>
                <c:pt idx="3">
                  <c:v>79.62</c:v>
                </c:pt>
                <c:pt idx="4">
                  <c:v>73.8</c:v>
                </c:pt>
                <c:pt idx="5">
                  <c:v>68.4</c:v>
                </c:pt>
                <c:pt idx="6">
                  <c:v>63.4</c:v>
                </c:pt>
                <c:pt idx="7">
                  <c:v>58.76</c:v>
                </c:pt>
                <c:pt idx="8">
                  <c:v>54.46</c:v>
                </c:pt>
                <c:pt idx="9">
                  <c:v>50.48</c:v>
                </c:pt>
                <c:pt idx="10">
                  <c:v>46.78</c:v>
                </c:pt>
                <c:pt idx="11">
                  <c:v>43.36</c:v>
                </c:pt>
                <c:pt idx="12">
                  <c:v>40.19</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F7183"/>
                    </a:solidFill>
                    <a:latin typeface="Arial"/>
                  </a:defRPr>
                </a:pPr>
                <a:r>
                  <a:rPr sz="1100" b="0" i="0" u="none" strike="noStrike">
                    <a:solidFill>
                      <a:srgbClr val="5F7183"/>
                    </a:solidFill>
                    <a:latin typeface="Arial"/>
                  </a:rPr>
                  <a:t>days in the past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7183"/>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DF2"/>
              </a:solidFill>
              <a:prstDash val="solid"/>
              <a:round/>
            </a:ln>
          </c:spPr>
        </c:majorGridlines>
        <c:title>
          <c:tx>
            <c:rich>
              <a:bodyPr/>
              <a:lstStyle/>
              <a:p>
                <a:pPr>
                  <a:defRPr sz="1100" b="0" i="0" u="none" strike="noStrike">
                    <a:solidFill>
                      <a:srgbClr val="5F7183"/>
                    </a:solidFill>
                    <a:latin typeface="Arial"/>
                  </a:defRPr>
                </a:pPr>
                <a:r>
                  <a:rPr sz="1100" b="0" i="0" u="none" strike="noStrike">
                    <a:solidFill>
                      <a:srgbClr val="5F7183"/>
                    </a:solidFill>
                    <a:latin typeface="Arial"/>
                  </a:rPr>
                  <a:t>how much that day counts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7183"/>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c:v>
                </c:pt>
              </c:strCache>
            </c:strRef>
          </c:tx>
          <c:spPr>
            <a:solidFill>
              <a:srgbClr val="0F2942"/>
            </a:solidFill>
            <a:ln w="31750" cap="flat">
              <a:solidFill>
                <a:srgbClr val="0F294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2942"/>
              </a:solidFill>
              <a:ln w="9525" cap="flat">
                <a:solidFill>
                  <a:srgbClr val="0F2942"/>
                </a:solidFill>
                <a:prstDash val="solid"/>
                <a:round/>
              </a:ln>
              <a:effectLst/>
            </c:spPr>
          </c:marker>
          <c:cat>
            <c:multiLvlStrRef>
              <c:f>Sheet1!$A$2:$A$149</c:f>
              <c:multiLvlStrCache>
                <c:ptCount val="148"/>
                <c:lvl>
                  <c:pt idx="0">
                    <c:v>01 Jan</c:v>
                  </c:pt>
                  <c:pt idx="1">
                    <c:v>02 Jan</c:v>
                  </c:pt>
                  <c:pt idx="2">
                    <c:v>03 Jan</c:v>
                  </c:pt>
                  <c:pt idx="3">
                    <c:v>04 Jan</c:v>
                  </c:pt>
                  <c:pt idx="4">
                    <c:v>05 Jan</c:v>
                  </c:pt>
                  <c:pt idx="5">
                    <c:v>06 Jan</c:v>
                  </c:pt>
                  <c:pt idx="6">
                    <c:v>07 Jan</c:v>
                  </c:pt>
                  <c:pt idx="7">
                    <c:v>08 Jan</c:v>
                  </c:pt>
                  <c:pt idx="8">
                    <c:v>09 Jan</c:v>
                  </c:pt>
                  <c:pt idx="9">
                    <c:v>10 Jan</c:v>
                  </c:pt>
                  <c:pt idx="10">
                    <c:v>11 Jan</c:v>
                  </c:pt>
                  <c:pt idx="11">
                    <c:v>12 Jan</c:v>
                  </c:pt>
                  <c:pt idx="12">
                    <c:v>13 Jan</c:v>
                  </c:pt>
                  <c:pt idx="13">
                    <c:v>14 Jan</c:v>
                  </c:pt>
                  <c:pt idx="14">
                    <c:v>15 Jan</c:v>
                  </c:pt>
                  <c:pt idx="15">
                    <c:v>16 Jan</c:v>
                  </c:pt>
                  <c:pt idx="16">
                    <c:v>17 Jan</c:v>
                  </c:pt>
                  <c:pt idx="17">
                    <c:v>18 Jan</c:v>
                  </c:pt>
                  <c:pt idx="18">
                    <c:v>19 Jan</c:v>
                  </c:pt>
                  <c:pt idx="19">
                    <c:v>20 Jan</c:v>
                  </c:pt>
                  <c:pt idx="20">
                    <c:v>21 Jan</c:v>
                  </c:pt>
                  <c:pt idx="21">
                    <c:v>22 Jan</c:v>
                  </c:pt>
                  <c:pt idx="22">
                    <c:v>23 Jan</c:v>
                  </c:pt>
                  <c:pt idx="23">
                    <c:v>24 Jan</c:v>
                  </c:pt>
                  <c:pt idx="24">
                    <c:v>25 Jan</c:v>
                  </c:pt>
                  <c:pt idx="25">
                    <c:v>26 Jan</c:v>
                  </c:pt>
                  <c:pt idx="26">
                    <c:v>27 Jan</c:v>
                  </c:pt>
                  <c:pt idx="27">
                    <c:v>28 Jan</c:v>
                  </c:pt>
                  <c:pt idx="28">
                    <c:v>29 Jan</c:v>
                  </c:pt>
                  <c:pt idx="29">
                    <c:v>30 Jan</c:v>
                  </c:pt>
                  <c:pt idx="30">
                    <c:v>31 Jan</c:v>
                  </c:pt>
                  <c:pt idx="31">
                    <c:v>01 Feb</c:v>
                  </c:pt>
                  <c:pt idx="32">
                    <c:v>02 Feb</c:v>
                  </c:pt>
                  <c:pt idx="33">
                    <c:v>03 Feb</c:v>
                  </c:pt>
                  <c:pt idx="34">
                    <c:v>04 Feb</c:v>
                  </c:pt>
                  <c:pt idx="35">
                    <c:v>05 Feb</c:v>
                  </c:pt>
                  <c:pt idx="36">
                    <c:v>06 Feb</c:v>
                  </c:pt>
                  <c:pt idx="37">
                    <c:v>07 Feb</c:v>
                  </c:pt>
                  <c:pt idx="38">
                    <c:v>08 Feb</c:v>
                  </c:pt>
                  <c:pt idx="39">
                    <c:v>09 Feb</c:v>
                  </c:pt>
                  <c:pt idx="40">
                    <c:v>10 Feb</c:v>
                  </c:pt>
                  <c:pt idx="41">
                    <c:v>11 Feb</c:v>
                  </c:pt>
                  <c:pt idx="42">
                    <c:v>12 Feb</c:v>
                  </c:pt>
                  <c:pt idx="43">
                    <c:v>13 Feb</c:v>
                  </c:pt>
                  <c:pt idx="44">
                    <c:v>14 Feb</c:v>
                  </c:pt>
                  <c:pt idx="45">
                    <c:v>15 Feb</c:v>
                  </c:pt>
                  <c:pt idx="46">
                    <c:v>16 Feb</c:v>
                  </c:pt>
                  <c:pt idx="47">
                    <c:v>17 Feb</c:v>
                  </c:pt>
                  <c:pt idx="48">
                    <c:v>18 Feb</c:v>
                  </c:pt>
                  <c:pt idx="49">
                    <c:v>19 Feb</c:v>
                  </c:pt>
                  <c:pt idx="50">
                    <c:v>20 Feb</c:v>
                  </c:pt>
                  <c:pt idx="51">
                    <c:v>21 Feb</c:v>
                  </c:pt>
                  <c:pt idx="52">
                    <c:v>22 Feb</c:v>
                  </c:pt>
                  <c:pt idx="53">
                    <c:v>23 Feb</c:v>
                  </c:pt>
                  <c:pt idx="54">
                    <c:v>24 Feb</c:v>
                  </c:pt>
                  <c:pt idx="55">
                    <c:v>25 Feb</c:v>
                  </c:pt>
                  <c:pt idx="56">
                    <c:v>26 Feb</c:v>
                  </c:pt>
                  <c:pt idx="57">
                    <c:v>27 Feb</c:v>
                  </c:pt>
                  <c:pt idx="58">
                    <c:v>28 Feb</c:v>
                  </c:pt>
                  <c:pt idx="59">
                    <c:v>01 Mar</c:v>
                  </c:pt>
                  <c:pt idx="60">
                    <c:v>02 Mar</c:v>
                  </c:pt>
                  <c:pt idx="61">
                    <c:v>03 Mar</c:v>
                  </c:pt>
                  <c:pt idx="62">
                    <c:v>04 Mar</c:v>
                  </c:pt>
                  <c:pt idx="63">
                    <c:v>05 Mar</c:v>
                  </c:pt>
                  <c:pt idx="64">
                    <c:v>06 Mar</c:v>
                  </c:pt>
                  <c:pt idx="65">
                    <c:v>07 Mar</c:v>
                  </c:pt>
                  <c:pt idx="66">
                    <c:v>08 Mar</c:v>
                  </c:pt>
                  <c:pt idx="67">
                    <c:v>09 Mar</c:v>
                  </c:pt>
                  <c:pt idx="68">
                    <c:v>10 Mar</c:v>
                  </c:pt>
                  <c:pt idx="69">
                    <c:v>11 Mar</c:v>
                  </c:pt>
                  <c:pt idx="70">
                    <c:v>12 Mar</c:v>
                  </c:pt>
                  <c:pt idx="71">
                    <c:v>13 Mar</c:v>
                  </c:pt>
                  <c:pt idx="72">
                    <c:v>14 Mar</c:v>
                  </c:pt>
                  <c:pt idx="73">
                    <c:v>15 Mar</c:v>
                  </c:pt>
                  <c:pt idx="74">
                    <c:v>16 Mar</c:v>
                  </c:pt>
                  <c:pt idx="75">
                    <c:v>17 Mar</c:v>
                  </c:pt>
                  <c:pt idx="76">
                    <c:v>18 Mar</c:v>
                  </c:pt>
                  <c:pt idx="77">
                    <c:v>19 Mar</c:v>
                  </c:pt>
                  <c:pt idx="78">
                    <c:v>20 Mar</c:v>
                  </c:pt>
                  <c:pt idx="79">
                    <c:v>21 Mar</c:v>
                  </c:pt>
                  <c:pt idx="80">
                    <c:v>22 Mar</c:v>
                  </c:pt>
                  <c:pt idx="81">
                    <c:v>23 Mar</c:v>
                  </c:pt>
                  <c:pt idx="82">
                    <c:v>24 Mar</c:v>
                  </c:pt>
                  <c:pt idx="83">
                    <c:v>25 Mar</c:v>
                  </c:pt>
                  <c:pt idx="84">
                    <c:v>26 Mar</c:v>
                  </c:pt>
                  <c:pt idx="85">
                    <c:v>27 Mar</c:v>
                  </c:pt>
                  <c:pt idx="86">
                    <c:v>28 Mar</c:v>
                  </c:pt>
                  <c:pt idx="87">
                    <c:v>29 Mar</c:v>
                  </c:pt>
                  <c:pt idx="88">
                    <c:v>30 Mar</c:v>
                  </c:pt>
                  <c:pt idx="89">
                    <c:v>31 Mar</c:v>
                  </c:pt>
                  <c:pt idx="90">
                    <c:v>01 Apr</c:v>
                  </c:pt>
                  <c:pt idx="91">
                    <c:v>02 Apr</c:v>
                  </c:pt>
                  <c:pt idx="92">
                    <c:v>03 Apr</c:v>
                  </c:pt>
                  <c:pt idx="93">
                    <c:v>04 Apr</c:v>
                  </c:pt>
                  <c:pt idx="94">
                    <c:v>05 Apr</c:v>
                  </c:pt>
                  <c:pt idx="95">
                    <c:v>06 Apr</c:v>
                  </c:pt>
                  <c:pt idx="96">
                    <c:v>07 Apr</c:v>
                  </c:pt>
                  <c:pt idx="97">
                    <c:v>08 Apr</c:v>
                  </c:pt>
                  <c:pt idx="98">
                    <c:v>09 Apr</c:v>
                  </c:pt>
                  <c:pt idx="99">
                    <c:v>10 Apr</c:v>
                  </c:pt>
                  <c:pt idx="100">
                    <c:v>11 Apr</c:v>
                  </c:pt>
                  <c:pt idx="101">
                    <c:v>12 Apr</c:v>
                  </c:pt>
                  <c:pt idx="102">
                    <c:v>13 Apr</c:v>
                  </c:pt>
                  <c:pt idx="103">
                    <c:v>14 Apr</c:v>
                  </c:pt>
                  <c:pt idx="104">
                    <c:v>15 Apr</c:v>
                  </c:pt>
                  <c:pt idx="105">
                    <c:v>16 Apr</c:v>
                  </c:pt>
                  <c:pt idx="106">
                    <c:v>17 Apr</c:v>
                  </c:pt>
                  <c:pt idx="107">
                    <c:v>18 Apr</c:v>
                  </c:pt>
                  <c:pt idx="108">
                    <c:v>19 Apr</c:v>
                  </c:pt>
                  <c:pt idx="109">
                    <c:v>20 Apr</c:v>
                  </c:pt>
                  <c:pt idx="110">
                    <c:v>21 Apr</c:v>
                  </c:pt>
                  <c:pt idx="111">
                    <c:v>22 Apr</c:v>
                  </c:pt>
                  <c:pt idx="112">
                    <c:v>23 Apr</c:v>
                  </c:pt>
                  <c:pt idx="113">
                    <c:v>24 Apr</c:v>
                  </c:pt>
                  <c:pt idx="114">
                    <c:v>25 Apr</c:v>
                  </c:pt>
                  <c:pt idx="115">
                    <c:v>26 Apr</c:v>
                  </c:pt>
                  <c:pt idx="116">
                    <c:v>27 Apr</c:v>
                  </c:pt>
                  <c:pt idx="117">
                    <c:v>28 Apr</c:v>
                  </c:pt>
                  <c:pt idx="118">
                    <c:v>29 Apr</c:v>
                  </c:pt>
                  <c:pt idx="119">
                    <c:v>30 Apr</c:v>
                  </c:pt>
                  <c:pt idx="120">
                    <c:v>01 May</c:v>
                  </c:pt>
                  <c:pt idx="121">
                    <c:v>02 May</c:v>
                  </c:pt>
                  <c:pt idx="122">
                    <c:v>03 May</c:v>
                  </c:pt>
                  <c:pt idx="123">
                    <c:v>04 May</c:v>
                  </c:pt>
                  <c:pt idx="124">
                    <c:v>05 May</c:v>
                  </c:pt>
                  <c:pt idx="125">
                    <c:v>06 May</c:v>
                  </c:pt>
                  <c:pt idx="126">
                    <c:v>07 May</c:v>
                  </c:pt>
                  <c:pt idx="127">
                    <c:v>08 May</c:v>
                  </c:pt>
                  <c:pt idx="128">
                    <c:v>09 May</c:v>
                  </c:pt>
                  <c:pt idx="129">
                    <c:v>10 May</c:v>
                  </c:pt>
                  <c:pt idx="130">
                    <c:v>11 May</c:v>
                  </c:pt>
                  <c:pt idx="131">
                    <c:v>12 May</c:v>
                  </c:pt>
                  <c:pt idx="132">
                    <c:v>13 May</c:v>
                  </c:pt>
                  <c:pt idx="133">
                    <c:v>14 May</c:v>
                  </c:pt>
                  <c:pt idx="134">
                    <c:v>15 May</c:v>
                  </c:pt>
                  <c:pt idx="135">
                    <c:v>16 May</c:v>
                  </c:pt>
                  <c:pt idx="136">
                    <c:v>17 May</c:v>
                  </c:pt>
                  <c:pt idx="137">
                    <c:v>18 May</c:v>
                  </c:pt>
                  <c:pt idx="138">
                    <c:v>19 May</c:v>
                  </c:pt>
                  <c:pt idx="139">
                    <c:v>20 May</c:v>
                  </c:pt>
                  <c:pt idx="140">
                    <c:v>21 May</c:v>
                  </c:pt>
                  <c:pt idx="141">
                    <c:v>22 May</c:v>
                  </c:pt>
                  <c:pt idx="142">
                    <c:v>23 May</c:v>
                  </c:pt>
                  <c:pt idx="143">
                    <c:v>24 May</c:v>
                  </c:pt>
                  <c:pt idx="144">
                    <c:v>25 May</c:v>
                  </c:pt>
                  <c:pt idx="145">
                    <c:v>26 May</c:v>
                  </c:pt>
                  <c:pt idx="146">
                    <c:v>27 May</c:v>
                  </c:pt>
                  <c:pt idx="147">
                    <c:v>28 May</c:v>
                  </c:pt>
                </c:lvl>
              </c:multiLvlStrCache>
            </c:multiLvlStrRef>
          </c:cat>
          <c:val>
            <c:numRef>
              <c:f>Sheet1!$B$2:$B$149</c:f>
              <c:numCache>
                <c:formatCode>General</c:formatCode>
                <c:ptCount val="148"/>
                <c:pt idx="0">
                  <c:v>8575</c:v>
                </c:pt>
                <c:pt idx="1">
                  <c:v>8139</c:v>
                </c:pt>
                <c:pt idx="2">
                  <c:v>7427</c:v>
                </c:pt>
                <c:pt idx="3">
                  <c:v>7185</c:v>
                </c:pt>
                <c:pt idx="4">
                  <c:v>6956</c:v>
                </c:pt>
                <c:pt idx="5">
                  <c:v>7450</c:v>
                </c:pt>
                <c:pt idx="6">
                  <c:v>7838</c:v>
                </c:pt>
                <c:pt idx="7">
                  <c:v>7573</c:v>
                </c:pt>
                <c:pt idx="8">
                  <c:v>7618</c:v>
                </c:pt>
                <c:pt idx="9">
                  <c:v>8129</c:v>
                </c:pt>
                <c:pt idx="10">
                  <c:v>7581</c:v>
                </c:pt>
                <c:pt idx="11">
                  <c:v>7155</c:v>
                </c:pt>
                <c:pt idx="12">
                  <c:v>7364</c:v>
                </c:pt>
                <c:pt idx="13">
                  <c:v>7456</c:v>
                </c:pt>
                <c:pt idx="14">
                  <c:v>7300</c:v>
                </c:pt>
                <c:pt idx="15">
                  <c:v>7527</c:v>
                </c:pt>
                <c:pt idx="16">
                  <c:v>7859</c:v>
                </c:pt>
                <c:pt idx="17">
                  <c:v>7561</c:v>
                </c:pt>
                <c:pt idx="18">
                  <c:v>6881</c:v>
                </c:pt>
                <c:pt idx="19">
                  <c:v>7234</c:v>
                </c:pt>
                <c:pt idx="20">
                  <c:v>7520</c:v>
                </c:pt>
                <c:pt idx="21">
                  <c:v>7494</c:v>
                </c:pt>
                <c:pt idx="22">
                  <c:v>7809</c:v>
                </c:pt>
                <c:pt idx="23">
                  <c:v>7915</c:v>
                </c:pt>
                <c:pt idx="24">
                  <c:v>7586</c:v>
                </c:pt>
                <c:pt idx="25">
                  <c:v>7011</c:v>
                </c:pt>
                <c:pt idx="26">
                  <c:v>7119</c:v>
                </c:pt>
                <c:pt idx="27">
                  <c:v>7444</c:v>
                </c:pt>
                <c:pt idx="28">
                  <c:v>7280</c:v>
                </c:pt>
                <c:pt idx="29">
                  <c:v>7433</c:v>
                </c:pt>
                <c:pt idx="30">
                  <c:v>8150</c:v>
                </c:pt>
                <c:pt idx="31">
                  <c:v>7599</c:v>
                </c:pt>
                <c:pt idx="32">
                  <c:v>6868</c:v>
                </c:pt>
                <c:pt idx="33">
                  <c:v>6784</c:v>
                </c:pt>
                <c:pt idx="34">
                  <c:v>7017</c:v>
                </c:pt>
                <c:pt idx="35">
                  <c:v>7140</c:v>
                </c:pt>
                <c:pt idx="36">
                  <c:v>7672</c:v>
                </c:pt>
                <c:pt idx="37">
                  <c:v>7962</c:v>
                </c:pt>
                <c:pt idx="38">
                  <c:v>7270</c:v>
                </c:pt>
                <c:pt idx="39">
                  <c:v>6335</c:v>
                </c:pt>
                <c:pt idx="40">
                  <c:v>6202</c:v>
                </c:pt>
                <c:pt idx="41">
                  <c:v>5613</c:v>
                </c:pt>
                <c:pt idx="42">
                  <c:v>5468</c:v>
                </c:pt>
                <c:pt idx="43">
                  <c:v>5134</c:v>
                </c:pt>
                <c:pt idx="44">
                  <c:v>4464</c:v>
                </c:pt>
                <c:pt idx="45">
                  <c:v>3936</c:v>
                </c:pt>
                <c:pt idx="46">
                  <c:v>3518</c:v>
                </c:pt>
                <c:pt idx="47">
                  <c:v>5271</c:v>
                </c:pt>
                <c:pt idx="48">
                  <c:v>6585</c:v>
                </c:pt>
                <c:pt idx="49">
                  <c:v>7980</c:v>
                </c:pt>
                <c:pt idx="50">
                  <c:v>7881</c:v>
                </c:pt>
                <c:pt idx="51">
                  <c:v>7988</c:v>
                </c:pt>
                <c:pt idx="52">
                  <c:v>7699</c:v>
                </c:pt>
                <c:pt idx="53">
                  <c:v>7073</c:v>
                </c:pt>
                <c:pt idx="54">
                  <c:v>6813</c:v>
                </c:pt>
                <c:pt idx="55">
                  <c:v>6644</c:v>
                </c:pt>
                <c:pt idx="56">
                  <c:v>7120</c:v>
                </c:pt>
                <c:pt idx="57">
                  <c:v>7451</c:v>
                </c:pt>
                <c:pt idx="58">
                  <c:v>7436</c:v>
                </c:pt>
                <c:pt idx="59">
                  <c:v>7091</c:v>
                </c:pt>
                <c:pt idx="60">
                  <c:v>6255</c:v>
                </c:pt>
                <c:pt idx="61">
                  <c:v>5836</c:v>
                </c:pt>
                <c:pt idx="62">
                  <c:v>5808</c:v>
                </c:pt>
                <c:pt idx="63">
                  <c:v>6099</c:v>
                </c:pt>
                <c:pt idx="64">
                  <c:v>6804</c:v>
                </c:pt>
                <c:pt idx="65">
                  <c:v>7626</c:v>
                </c:pt>
                <c:pt idx="66">
                  <c:v>7092</c:v>
                </c:pt>
                <c:pt idx="67">
                  <c:v>6789</c:v>
                </c:pt>
                <c:pt idx="68">
                  <c:v>6851</c:v>
                </c:pt>
                <c:pt idx="69">
                  <c:v>6909</c:v>
                </c:pt>
                <c:pt idx="70">
                  <c:v>6995</c:v>
                </c:pt>
                <c:pt idx="71">
                  <c:v>7478</c:v>
                </c:pt>
                <c:pt idx="72">
                  <c:v>8041</c:v>
                </c:pt>
                <c:pt idx="73">
                  <c:v>7248</c:v>
                </c:pt>
                <c:pt idx="74">
                  <c:v>6605</c:v>
                </c:pt>
                <c:pt idx="75">
                  <c:v>7018</c:v>
                </c:pt>
                <c:pt idx="76">
                  <c:v>7236</c:v>
                </c:pt>
                <c:pt idx="77">
                  <c:v>7244</c:v>
                </c:pt>
                <c:pt idx="78">
                  <c:v>7336</c:v>
                </c:pt>
                <c:pt idx="79">
                  <c:v>7576</c:v>
                </c:pt>
                <c:pt idx="80">
                  <c:v>6941</c:v>
                </c:pt>
                <c:pt idx="81">
                  <c:v>6779</c:v>
                </c:pt>
                <c:pt idx="82">
                  <c:v>6916</c:v>
                </c:pt>
                <c:pt idx="83">
                  <c:v>6997</c:v>
                </c:pt>
                <c:pt idx="84">
                  <c:v>6924</c:v>
                </c:pt>
                <c:pt idx="85">
                  <c:v>6814</c:v>
                </c:pt>
                <c:pt idx="86">
                  <c:v>7429</c:v>
                </c:pt>
                <c:pt idx="87">
                  <c:v>7101</c:v>
                </c:pt>
                <c:pt idx="88">
                  <c:v>6459</c:v>
                </c:pt>
                <c:pt idx="89">
                  <c:v>6022</c:v>
                </c:pt>
                <c:pt idx="90">
                  <c:v>6286</c:v>
                </c:pt>
                <c:pt idx="91">
                  <c:v>6375</c:v>
                </c:pt>
                <c:pt idx="92">
                  <c:v>6704</c:v>
                </c:pt>
                <c:pt idx="93">
                  <c:v>6754</c:v>
                </c:pt>
                <c:pt idx="94">
                  <c:v>7075</c:v>
                </c:pt>
                <c:pt idx="95">
                  <c:v>6349</c:v>
                </c:pt>
                <c:pt idx="96">
                  <c:v>6310</c:v>
                </c:pt>
                <c:pt idx="97">
                  <c:v>6629</c:v>
                </c:pt>
                <c:pt idx="98">
                  <c:v>6709</c:v>
                </c:pt>
                <c:pt idx="99">
                  <c:v>7046</c:v>
                </c:pt>
                <c:pt idx="100">
                  <c:v>7719</c:v>
                </c:pt>
                <c:pt idx="101">
                  <c:v>7188</c:v>
                </c:pt>
                <c:pt idx="102">
                  <c:v>6645</c:v>
                </c:pt>
                <c:pt idx="103">
                  <c:v>7135</c:v>
                </c:pt>
                <c:pt idx="104">
                  <c:v>7167</c:v>
                </c:pt>
                <c:pt idx="105">
                  <c:v>7122</c:v>
                </c:pt>
                <c:pt idx="106">
                  <c:v>7299</c:v>
                </c:pt>
                <c:pt idx="107">
                  <c:v>7958</c:v>
                </c:pt>
                <c:pt idx="108">
                  <c:v>7374</c:v>
                </c:pt>
                <c:pt idx="109">
                  <c:v>6813</c:v>
                </c:pt>
                <c:pt idx="110">
                  <c:v>7027</c:v>
                </c:pt>
                <c:pt idx="111">
                  <c:v>7141</c:v>
                </c:pt>
                <c:pt idx="112">
                  <c:v>7310</c:v>
                </c:pt>
                <c:pt idx="113">
                  <c:v>7058</c:v>
                </c:pt>
                <c:pt idx="114">
                  <c:v>7699</c:v>
                </c:pt>
                <c:pt idx="115">
                  <c:v>6881</c:v>
                </c:pt>
                <c:pt idx="116">
                  <c:v>6179</c:v>
                </c:pt>
                <c:pt idx="117">
                  <c:v>6576</c:v>
                </c:pt>
                <c:pt idx="118">
                  <c:v>6408</c:v>
                </c:pt>
                <c:pt idx="119">
                  <c:v>7108</c:v>
                </c:pt>
                <c:pt idx="120">
                  <c:v>8653</c:v>
                </c:pt>
                <c:pt idx="121">
                  <c:v>8249</c:v>
                </c:pt>
                <c:pt idx="122">
                  <c:v>7780</c:v>
                </c:pt>
                <c:pt idx="123">
                  <c:v>7153</c:v>
                </c:pt>
                <c:pt idx="124">
                  <c:v>6694</c:v>
                </c:pt>
                <c:pt idx="125">
                  <c:v>6063</c:v>
                </c:pt>
                <c:pt idx="126">
                  <c:v>6236</c:v>
                </c:pt>
                <c:pt idx="127">
                  <c:v>6738</c:v>
                </c:pt>
                <c:pt idx="128">
                  <c:v>7120</c:v>
                </c:pt>
                <c:pt idx="129">
                  <c:v>6714</c:v>
                </c:pt>
                <c:pt idx="130">
                  <c:v>6780</c:v>
                </c:pt>
                <c:pt idx="131">
                  <c:v>6903</c:v>
                </c:pt>
                <c:pt idx="132">
                  <c:v>6671</c:v>
                </c:pt>
                <c:pt idx="133">
                  <c:v>6955</c:v>
                </c:pt>
                <c:pt idx="134">
                  <c:v>6995</c:v>
                </c:pt>
                <c:pt idx="135">
                  <c:v>7815</c:v>
                </c:pt>
                <c:pt idx="136">
                  <c:v>7158</c:v>
                </c:pt>
                <c:pt idx="137">
                  <c:v>6839</c:v>
                </c:pt>
                <c:pt idx="138">
                  <c:v>6924</c:v>
                </c:pt>
                <c:pt idx="139">
                  <c:v>6769</c:v>
                </c:pt>
                <c:pt idx="140">
                  <c:v>6588</c:v>
                </c:pt>
                <c:pt idx="141">
                  <c:v>6874</c:v>
                </c:pt>
                <c:pt idx="142">
                  <c:v>7710</c:v>
                </c:pt>
                <c:pt idx="143">
                  <c:v>7045</c:v>
                </c:pt>
                <c:pt idx="144">
                  <c:v>6625</c:v>
                </c:pt>
                <c:pt idx="145">
                  <c:v>6877</c:v>
                </c:pt>
                <c:pt idx="146">
                  <c:v>7120</c:v>
                </c:pt>
                <c:pt idx="147">
                  <c:v>6993</c:v>
                </c:pt>
              </c:numCache>
            </c:numRef>
          </c:val>
          <c:smooth val="1"/>
        </c:ser>
        <c:ser>
          <c:idx val="1"/>
          <c:order val="1"/>
          <c:tx>
            <c:strRef>
              <c:f>Sheet1!$C$1</c:f>
              <c:strCache>
                <c:ptCount val="1"/>
                <c:pt idx="0">
                  <c:v>forecast</c:v>
                </c:pt>
              </c:strCache>
            </c:strRef>
          </c:tx>
          <c:spPr>
            <a:solidFill>
              <a:srgbClr val="2E8BA8"/>
            </a:solidFill>
            <a:ln w="31750" cap="flat">
              <a:solidFill>
                <a:srgbClr val="2E8B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8BA8"/>
              </a:solidFill>
              <a:ln w="9525" cap="flat">
                <a:solidFill>
                  <a:srgbClr val="2E8BA8"/>
                </a:solidFill>
                <a:prstDash val="solid"/>
                <a:round/>
              </a:ln>
              <a:effectLst/>
            </c:spPr>
          </c:marker>
          <c:cat>
            <c:multiLvlStrRef>
              <c:f>Sheet1!$A$2:$A$149</c:f>
              <c:multiLvlStrCache>
                <c:ptCount val="148"/>
                <c:lvl>
                  <c:pt idx="0">
                    <c:v>01 Jan</c:v>
                  </c:pt>
                  <c:pt idx="1">
                    <c:v>02 Jan</c:v>
                  </c:pt>
                  <c:pt idx="2">
                    <c:v>03 Jan</c:v>
                  </c:pt>
                  <c:pt idx="3">
                    <c:v>04 Jan</c:v>
                  </c:pt>
                  <c:pt idx="4">
                    <c:v>05 Jan</c:v>
                  </c:pt>
                  <c:pt idx="5">
                    <c:v>06 Jan</c:v>
                  </c:pt>
                  <c:pt idx="6">
                    <c:v>07 Jan</c:v>
                  </c:pt>
                  <c:pt idx="7">
                    <c:v>08 Jan</c:v>
                  </c:pt>
                  <c:pt idx="8">
                    <c:v>09 Jan</c:v>
                  </c:pt>
                  <c:pt idx="9">
                    <c:v>10 Jan</c:v>
                  </c:pt>
                  <c:pt idx="10">
                    <c:v>11 Jan</c:v>
                  </c:pt>
                  <c:pt idx="11">
                    <c:v>12 Jan</c:v>
                  </c:pt>
                  <c:pt idx="12">
                    <c:v>13 Jan</c:v>
                  </c:pt>
                  <c:pt idx="13">
                    <c:v>14 Jan</c:v>
                  </c:pt>
                  <c:pt idx="14">
                    <c:v>15 Jan</c:v>
                  </c:pt>
                  <c:pt idx="15">
                    <c:v>16 Jan</c:v>
                  </c:pt>
                  <c:pt idx="16">
                    <c:v>17 Jan</c:v>
                  </c:pt>
                  <c:pt idx="17">
                    <c:v>18 Jan</c:v>
                  </c:pt>
                  <c:pt idx="18">
                    <c:v>19 Jan</c:v>
                  </c:pt>
                  <c:pt idx="19">
                    <c:v>20 Jan</c:v>
                  </c:pt>
                  <c:pt idx="20">
                    <c:v>21 Jan</c:v>
                  </c:pt>
                  <c:pt idx="21">
                    <c:v>22 Jan</c:v>
                  </c:pt>
                  <c:pt idx="22">
                    <c:v>23 Jan</c:v>
                  </c:pt>
                  <c:pt idx="23">
                    <c:v>24 Jan</c:v>
                  </c:pt>
                  <c:pt idx="24">
                    <c:v>25 Jan</c:v>
                  </c:pt>
                  <c:pt idx="25">
                    <c:v>26 Jan</c:v>
                  </c:pt>
                  <c:pt idx="26">
                    <c:v>27 Jan</c:v>
                  </c:pt>
                  <c:pt idx="27">
                    <c:v>28 Jan</c:v>
                  </c:pt>
                  <c:pt idx="28">
                    <c:v>29 Jan</c:v>
                  </c:pt>
                  <c:pt idx="29">
                    <c:v>30 Jan</c:v>
                  </c:pt>
                  <c:pt idx="30">
                    <c:v>31 Jan</c:v>
                  </c:pt>
                  <c:pt idx="31">
                    <c:v>01 Feb</c:v>
                  </c:pt>
                  <c:pt idx="32">
                    <c:v>02 Feb</c:v>
                  </c:pt>
                  <c:pt idx="33">
                    <c:v>03 Feb</c:v>
                  </c:pt>
                  <c:pt idx="34">
                    <c:v>04 Feb</c:v>
                  </c:pt>
                  <c:pt idx="35">
                    <c:v>05 Feb</c:v>
                  </c:pt>
                  <c:pt idx="36">
                    <c:v>06 Feb</c:v>
                  </c:pt>
                  <c:pt idx="37">
                    <c:v>07 Feb</c:v>
                  </c:pt>
                  <c:pt idx="38">
                    <c:v>08 Feb</c:v>
                  </c:pt>
                  <c:pt idx="39">
                    <c:v>09 Feb</c:v>
                  </c:pt>
                  <c:pt idx="40">
                    <c:v>10 Feb</c:v>
                  </c:pt>
                  <c:pt idx="41">
                    <c:v>11 Feb</c:v>
                  </c:pt>
                  <c:pt idx="42">
                    <c:v>12 Feb</c:v>
                  </c:pt>
                  <c:pt idx="43">
                    <c:v>13 Feb</c:v>
                  </c:pt>
                  <c:pt idx="44">
                    <c:v>14 Feb</c:v>
                  </c:pt>
                  <c:pt idx="45">
                    <c:v>15 Feb</c:v>
                  </c:pt>
                  <c:pt idx="46">
                    <c:v>16 Feb</c:v>
                  </c:pt>
                  <c:pt idx="47">
                    <c:v>17 Feb</c:v>
                  </c:pt>
                  <c:pt idx="48">
                    <c:v>18 Feb</c:v>
                  </c:pt>
                  <c:pt idx="49">
                    <c:v>19 Feb</c:v>
                  </c:pt>
                  <c:pt idx="50">
                    <c:v>20 Feb</c:v>
                  </c:pt>
                  <c:pt idx="51">
                    <c:v>21 Feb</c:v>
                  </c:pt>
                  <c:pt idx="52">
                    <c:v>22 Feb</c:v>
                  </c:pt>
                  <c:pt idx="53">
                    <c:v>23 Feb</c:v>
                  </c:pt>
                  <c:pt idx="54">
                    <c:v>24 Feb</c:v>
                  </c:pt>
                  <c:pt idx="55">
                    <c:v>25 Feb</c:v>
                  </c:pt>
                  <c:pt idx="56">
                    <c:v>26 Feb</c:v>
                  </c:pt>
                  <c:pt idx="57">
                    <c:v>27 Feb</c:v>
                  </c:pt>
                  <c:pt idx="58">
                    <c:v>28 Feb</c:v>
                  </c:pt>
                  <c:pt idx="59">
                    <c:v>01 Mar</c:v>
                  </c:pt>
                  <c:pt idx="60">
                    <c:v>02 Mar</c:v>
                  </c:pt>
                  <c:pt idx="61">
                    <c:v>03 Mar</c:v>
                  </c:pt>
                  <c:pt idx="62">
                    <c:v>04 Mar</c:v>
                  </c:pt>
                  <c:pt idx="63">
                    <c:v>05 Mar</c:v>
                  </c:pt>
                  <c:pt idx="64">
                    <c:v>06 Mar</c:v>
                  </c:pt>
                  <c:pt idx="65">
                    <c:v>07 Mar</c:v>
                  </c:pt>
                  <c:pt idx="66">
                    <c:v>08 Mar</c:v>
                  </c:pt>
                  <c:pt idx="67">
                    <c:v>09 Mar</c:v>
                  </c:pt>
                  <c:pt idx="68">
                    <c:v>10 Mar</c:v>
                  </c:pt>
                  <c:pt idx="69">
                    <c:v>11 Mar</c:v>
                  </c:pt>
                  <c:pt idx="70">
                    <c:v>12 Mar</c:v>
                  </c:pt>
                  <c:pt idx="71">
                    <c:v>13 Mar</c:v>
                  </c:pt>
                  <c:pt idx="72">
                    <c:v>14 Mar</c:v>
                  </c:pt>
                  <c:pt idx="73">
                    <c:v>15 Mar</c:v>
                  </c:pt>
                  <c:pt idx="74">
                    <c:v>16 Mar</c:v>
                  </c:pt>
                  <c:pt idx="75">
                    <c:v>17 Mar</c:v>
                  </c:pt>
                  <c:pt idx="76">
                    <c:v>18 Mar</c:v>
                  </c:pt>
                  <c:pt idx="77">
                    <c:v>19 Mar</c:v>
                  </c:pt>
                  <c:pt idx="78">
                    <c:v>20 Mar</c:v>
                  </c:pt>
                  <c:pt idx="79">
                    <c:v>21 Mar</c:v>
                  </c:pt>
                  <c:pt idx="80">
                    <c:v>22 Mar</c:v>
                  </c:pt>
                  <c:pt idx="81">
                    <c:v>23 Mar</c:v>
                  </c:pt>
                  <c:pt idx="82">
                    <c:v>24 Mar</c:v>
                  </c:pt>
                  <c:pt idx="83">
                    <c:v>25 Mar</c:v>
                  </c:pt>
                  <c:pt idx="84">
                    <c:v>26 Mar</c:v>
                  </c:pt>
                  <c:pt idx="85">
                    <c:v>27 Mar</c:v>
                  </c:pt>
                  <c:pt idx="86">
                    <c:v>28 Mar</c:v>
                  </c:pt>
                  <c:pt idx="87">
                    <c:v>29 Mar</c:v>
                  </c:pt>
                  <c:pt idx="88">
                    <c:v>30 Mar</c:v>
                  </c:pt>
                  <c:pt idx="89">
                    <c:v>31 Mar</c:v>
                  </c:pt>
                  <c:pt idx="90">
                    <c:v>01 Apr</c:v>
                  </c:pt>
                  <c:pt idx="91">
                    <c:v>02 Apr</c:v>
                  </c:pt>
                  <c:pt idx="92">
                    <c:v>03 Apr</c:v>
                  </c:pt>
                  <c:pt idx="93">
                    <c:v>04 Apr</c:v>
                  </c:pt>
                  <c:pt idx="94">
                    <c:v>05 Apr</c:v>
                  </c:pt>
                  <c:pt idx="95">
                    <c:v>06 Apr</c:v>
                  </c:pt>
                  <c:pt idx="96">
                    <c:v>07 Apr</c:v>
                  </c:pt>
                  <c:pt idx="97">
                    <c:v>08 Apr</c:v>
                  </c:pt>
                  <c:pt idx="98">
                    <c:v>09 Apr</c:v>
                  </c:pt>
                  <c:pt idx="99">
                    <c:v>10 Apr</c:v>
                  </c:pt>
                  <c:pt idx="100">
                    <c:v>11 Apr</c:v>
                  </c:pt>
                  <c:pt idx="101">
                    <c:v>12 Apr</c:v>
                  </c:pt>
                  <c:pt idx="102">
                    <c:v>13 Apr</c:v>
                  </c:pt>
                  <c:pt idx="103">
                    <c:v>14 Apr</c:v>
                  </c:pt>
                  <c:pt idx="104">
                    <c:v>15 Apr</c:v>
                  </c:pt>
                  <c:pt idx="105">
                    <c:v>16 Apr</c:v>
                  </c:pt>
                  <c:pt idx="106">
                    <c:v>17 Apr</c:v>
                  </c:pt>
                  <c:pt idx="107">
                    <c:v>18 Apr</c:v>
                  </c:pt>
                  <c:pt idx="108">
                    <c:v>19 Apr</c:v>
                  </c:pt>
                  <c:pt idx="109">
                    <c:v>20 Apr</c:v>
                  </c:pt>
                  <c:pt idx="110">
                    <c:v>21 Apr</c:v>
                  </c:pt>
                  <c:pt idx="111">
                    <c:v>22 Apr</c:v>
                  </c:pt>
                  <c:pt idx="112">
                    <c:v>23 Apr</c:v>
                  </c:pt>
                  <c:pt idx="113">
                    <c:v>24 Apr</c:v>
                  </c:pt>
                  <c:pt idx="114">
                    <c:v>25 Apr</c:v>
                  </c:pt>
                  <c:pt idx="115">
                    <c:v>26 Apr</c:v>
                  </c:pt>
                  <c:pt idx="116">
                    <c:v>27 Apr</c:v>
                  </c:pt>
                  <c:pt idx="117">
                    <c:v>28 Apr</c:v>
                  </c:pt>
                  <c:pt idx="118">
                    <c:v>29 Apr</c:v>
                  </c:pt>
                  <c:pt idx="119">
                    <c:v>30 Apr</c:v>
                  </c:pt>
                  <c:pt idx="120">
                    <c:v>01 May</c:v>
                  </c:pt>
                  <c:pt idx="121">
                    <c:v>02 May</c:v>
                  </c:pt>
                  <c:pt idx="122">
                    <c:v>03 May</c:v>
                  </c:pt>
                  <c:pt idx="123">
                    <c:v>04 May</c:v>
                  </c:pt>
                  <c:pt idx="124">
                    <c:v>05 May</c:v>
                  </c:pt>
                  <c:pt idx="125">
                    <c:v>06 May</c:v>
                  </c:pt>
                  <c:pt idx="126">
                    <c:v>07 May</c:v>
                  </c:pt>
                  <c:pt idx="127">
                    <c:v>08 May</c:v>
                  </c:pt>
                  <c:pt idx="128">
                    <c:v>09 May</c:v>
                  </c:pt>
                  <c:pt idx="129">
                    <c:v>10 May</c:v>
                  </c:pt>
                  <c:pt idx="130">
                    <c:v>11 May</c:v>
                  </c:pt>
                  <c:pt idx="131">
                    <c:v>12 May</c:v>
                  </c:pt>
                  <c:pt idx="132">
                    <c:v>13 May</c:v>
                  </c:pt>
                  <c:pt idx="133">
                    <c:v>14 May</c:v>
                  </c:pt>
                  <c:pt idx="134">
                    <c:v>15 May</c:v>
                  </c:pt>
                  <c:pt idx="135">
                    <c:v>16 May</c:v>
                  </c:pt>
                  <c:pt idx="136">
                    <c:v>17 May</c:v>
                  </c:pt>
                  <c:pt idx="137">
                    <c:v>18 May</c:v>
                  </c:pt>
                  <c:pt idx="138">
                    <c:v>19 May</c:v>
                  </c:pt>
                  <c:pt idx="139">
                    <c:v>20 May</c:v>
                  </c:pt>
                  <c:pt idx="140">
                    <c:v>21 May</c:v>
                  </c:pt>
                  <c:pt idx="141">
                    <c:v>22 May</c:v>
                  </c:pt>
                  <c:pt idx="142">
                    <c:v>23 May</c:v>
                  </c:pt>
                  <c:pt idx="143">
                    <c:v>24 May</c:v>
                  </c:pt>
                  <c:pt idx="144">
                    <c:v>25 May</c:v>
                  </c:pt>
                  <c:pt idx="145">
                    <c:v>26 May</c:v>
                  </c:pt>
                  <c:pt idx="146">
                    <c:v>27 May</c:v>
                  </c:pt>
                  <c:pt idx="147">
                    <c:v>28 May</c:v>
                  </c:pt>
                </c:lvl>
              </c:multiLvlStrCache>
            </c:multiLvlStrRef>
          </c:cat>
          <c:val>
            <c:numRef>
              <c:f>Sheet1!$C$2:$C$149</c:f>
              <c:numCache>
                <c:formatCode>General</c:formatCode>
                <c:ptCount val="148"/>
                <c:pt idx="0">
                  <c:v>7343</c:v>
                </c:pt>
                <c:pt idx="1">
                  <c:v>7900</c:v>
                </c:pt>
                <c:pt idx="2">
                  <c:v>7529</c:v>
                </c:pt>
                <c:pt idx="3">
                  <c:v>7062</c:v>
                </c:pt>
                <c:pt idx="4">
                  <c:v>6822</c:v>
                </c:pt>
                <c:pt idx="5">
                  <c:v>6917</c:v>
                </c:pt>
                <c:pt idx="6">
                  <c:v>7414</c:v>
                </c:pt>
                <c:pt idx="7">
                  <c:v>7522</c:v>
                </c:pt>
                <c:pt idx="8">
                  <c:v>7470</c:v>
                </c:pt>
                <c:pt idx="9">
                  <c:v>7837</c:v>
                </c:pt>
                <c:pt idx="10">
                  <c:v>7294</c:v>
                </c:pt>
                <c:pt idx="11">
                  <c:v>7051</c:v>
                </c:pt>
                <c:pt idx="12">
                  <c:v>7104</c:v>
                </c:pt>
                <c:pt idx="13">
                  <c:v>7459</c:v>
                </c:pt>
                <c:pt idx="14">
                  <c:v>7207</c:v>
                </c:pt>
                <c:pt idx="15">
                  <c:v>7301</c:v>
                </c:pt>
                <c:pt idx="16">
                  <c:v>7843</c:v>
                </c:pt>
                <c:pt idx="17">
                  <c:v>7113</c:v>
                </c:pt>
                <c:pt idx="18">
                  <c:v>6764</c:v>
                </c:pt>
                <c:pt idx="19">
                  <c:v>6910</c:v>
                </c:pt>
                <c:pt idx="20">
                  <c:v>7218</c:v>
                </c:pt>
                <c:pt idx="21">
                  <c:v>7344</c:v>
                </c:pt>
                <c:pt idx="22">
                  <c:v>7455</c:v>
                </c:pt>
                <c:pt idx="23">
                  <c:v>7780</c:v>
                </c:pt>
                <c:pt idx="24">
                  <c:v>7216</c:v>
                </c:pt>
                <c:pt idx="25">
                  <c:v>6799</c:v>
                </c:pt>
                <c:pt idx="26">
                  <c:v>6910</c:v>
                </c:pt>
                <c:pt idx="27">
                  <c:v>7236</c:v>
                </c:pt>
                <c:pt idx="28">
                  <c:v>7162</c:v>
                </c:pt>
                <c:pt idx="29">
                  <c:v>7343</c:v>
                </c:pt>
                <c:pt idx="30">
                  <c:v>7770</c:v>
                </c:pt>
                <c:pt idx="31">
                  <c:v>7507</c:v>
                </c:pt>
                <c:pt idx="32">
                  <c:v>7015</c:v>
                </c:pt>
                <c:pt idx="33">
                  <c:v>7020</c:v>
                </c:pt>
                <c:pt idx="34">
                  <c:v>7214</c:v>
                </c:pt>
                <c:pt idx="35">
                  <c:v>7156</c:v>
                </c:pt>
                <c:pt idx="36">
                  <c:v>7336</c:v>
                </c:pt>
                <c:pt idx="37">
                  <c:v>7737</c:v>
                </c:pt>
                <c:pt idx="38">
                  <c:v>7319</c:v>
                </c:pt>
                <c:pt idx="39">
                  <c:v>7010</c:v>
                </c:pt>
                <c:pt idx="40">
                  <c:v>6073</c:v>
                </c:pt>
                <c:pt idx="41">
                  <c:v>6598</c:v>
                </c:pt>
                <c:pt idx="42">
                  <c:v>6064</c:v>
                </c:pt>
                <c:pt idx="43">
                  <c:v>5588</c:v>
                </c:pt>
                <c:pt idx="44">
                  <c:v>5183</c:v>
                </c:pt>
                <c:pt idx="45">
                  <c:v>4267</c:v>
                </c:pt>
                <c:pt idx="46">
                  <c:v>3480</c:v>
                </c:pt>
                <c:pt idx="47">
                  <c:v>5354</c:v>
                </c:pt>
                <c:pt idx="48">
                  <c:v>6593</c:v>
                </c:pt>
                <c:pt idx="49">
                  <c:v>7336</c:v>
                </c:pt>
                <c:pt idx="50">
                  <c:v>7810</c:v>
                </c:pt>
                <c:pt idx="51">
                  <c:v>8517</c:v>
                </c:pt>
                <c:pt idx="52">
                  <c:v>8362</c:v>
                </c:pt>
                <c:pt idx="53">
                  <c:v>7495</c:v>
                </c:pt>
                <c:pt idx="54">
                  <c:v>7015</c:v>
                </c:pt>
                <c:pt idx="55">
                  <c:v>7284</c:v>
                </c:pt>
                <c:pt idx="56">
                  <c:v>7362</c:v>
                </c:pt>
                <c:pt idx="57">
                  <c:v>7288</c:v>
                </c:pt>
                <c:pt idx="58">
                  <c:v>7338</c:v>
                </c:pt>
                <c:pt idx="59">
                  <c:v>7241</c:v>
                </c:pt>
                <c:pt idx="60">
                  <c:v>6780</c:v>
                </c:pt>
                <c:pt idx="61">
                  <c:v>6741</c:v>
                </c:pt>
                <c:pt idx="62">
                  <c:v>6289</c:v>
                </c:pt>
                <c:pt idx="63">
                  <c:v>6455</c:v>
                </c:pt>
                <c:pt idx="64">
                  <c:v>6415</c:v>
                </c:pt>
                <c:pt idx="65">
                  <c:v>7236</c:v>
                </c:pt>
                <c:pt idx="66">
                  <c:v>7210</c:v>
                </c:pt>
                <c:pt idx="67">
                  <c:v>6795</c:v>
                </c:pt>
                <c:pt idx="68">
                  <c:v>6716</c:v>
                </c:pt>
                <c:pt idx="69">
                  <c:v>6937</c:v>
                </c:pt>
                <c:pt idx="70">
                  <c:v>7258</c:v>
                </c:pt>
                <c:pt idx="71">
                  <c:v>7286</c:v>
                </c:pt>
                <c:pt idx="72">
                  <c:v>7799</c:v>
                </c:pt>
                <c:pt idx="73">
                  <c:v>7184</c:v>
                </c:pt>
                <c:pt idx="74">
                  <c:v>6823</c:v>
                </c:pt>
                <c:pt idx="75">
                  <c:v>6763</c:v>
                </c:pt>
                <c:pt idx="76">
                  <c:v>6883</c:v>
                </c:pt>
                <c:pt idx="77">
                  <c:v>7188</c:v>
                </c:pt>
                <c:pt idx="78">
                  <c:v>7498</c:v>
                </c:pt>
                <c:pt idx="79">
                  <c:v>7902</c:v>
                </c:pt>
                <c:pt idx="80">
                  <c:v>7220</c:v>
                </c:pt>
                <c:pt idx="81">
                  <c:v>6619</c:v>
                </c:pt>
                <c:pt idx="82">
                  <c:v>6657</c:v>
                </c:pt>
                <c:pt idx="83">
                  <c:v>7090</c:v>
                </c:pt>
                <c:pt idx="84">
                  <c:v>7130</c:v>
                </c:pt>
                <c:pt idx="85">
                  <c:v>7262</c:v>
                </c:pt>
                <c:pt idx="86">
                  <c:v>7660</c:v>
                </c:pt>
                <c:pt idx="87">
                  <c:v>6765</c:v>
                </c:pt>
                <c:pt idx="88">
                  <c:v>6292</c:v>
                </c:pt>
                <c:pt idx="89">
                  <c:v>6589</c:v>
                </c:pt>
                <c:pt idx="90">
                  <c:v>6574</c:v>
                </c:pt>
                <c:pt idx="91">
                  <c:v>6188</c:v>
                </c:pt>
                <c:pt idx="92">
                  <c:v>6482</c:v>
                </c:pt>
                <c:pt idx="93">
                  <c:v>7802</c:v>
                </c:pt>
                <c:pt idx="94">
                  <c:v>6933</c:v>
                </c:pt>
                <c:pt idx="95">
                  <c:v>6234</c:v>
                </c:pt>
                <c:pt idx="96">
                  <c:v>6249</c:v>
                </c:pt>
                <c:pt idx="97">
                  <c:v>6491</c:v>
                </c:pt>
                <c:pt idx="98">
                  <c:v>6555</c:v>
                </c:pt>
                <c:pt idx="99">
                  <c:v>6952</c:v>
                </c:pt>
                <c:pt idx="100">
                  <c:v>7543</c:v>
                </c:pt>
                <c:pt idx="101">
                  <c:v>7018</c:v>
                </c:pt>
                <c:pt idx="102">
                  <c:v>6658</c:v>
                </c:pt>
                <c:pt idx="103">
                  <c:v>6810</c:v>
                </c:pt>
                <c:pt idx="104">
                  <c:v>6964</c:v>
                </c:pt>
                <c:pt idx="105">
                  <c:v>7245</c:v>
                </c:pt>
                <c:pt idx="106">
                  <c:v>7397</c:v>
                </c:pt>
                <c:pt idx="107">
                  <c:v>7834</c:v>
                </c:pt>
                <c:pt idx="108">
                  <c:v>7299</c:v>
                </c:pt>
                <c:pt idx="109">
                  <c:v>6590</c:v>
                </c:pt>
                <c:pt idx="110">
                  <c:v>6663</c:v>
                </c:pt>
                <c:pt idx="111">
                  <c:v>6709</c:v>
                </c:pt>
                <c:pt idx="112">
                  <c:v>6966</c:v>
                </c:pt>
                <c:pt idx="113">
                  <c:v>7411</c:v>
                </c:pt>
                <c:pt idx="114">
                  <c:v>7938</c:v>
                </c:pt>
                <c:pt idx="115">
                  <c:v>7154</c:v>
                </c:pt>
                <c:pt idx="116">
                  <c:v>6606</c:v>
                </c:pt>
                <c:pt idx="117">
                  <c:v>6577</c:v>
                </c:pt>
                <c:pt idx="118">
                  <c:v>6524</c:v>
                </c:pt>
                <c:pt idx="119">
                  <c:v>6805</c:v>
                </c:pt>
                <c:pt idx="120">
                  <c:v>8093</c:v>
                </c:pt>
                <c:pt idx="121">
                  <c:v>8133</c:v>
                </c:pt>
                <c:pt idx="122">
                  <c:v>7622</c:v>
                </c:pt>
                <c:pt idx="123">
                  <c:v>7138</c:v>
                </c:pt>
                <c:pt idx="124">
                  <c:v>6804</c:v>
                </c:pt>
                <c:pt idx="125">
                  <c:v>6878</c:v>
                </c:pt>
                <c:pt idx="126">
                  <c:v>6749</c:v>
                </c:pt>
                <c:pt idx="127">
                  <c:v>6673</c:v>
                </c:pt>
                <c:pt idx="128">
                  <c:v>6808</c:v>
                </c:pt>
                <c:pt idx="129">
                  <c:v>7029</c:v>
                </c:pt>
                <c:pt idx="130">
                  <c:v>6511</c:v>
                </c:pt>
                <c:pt idx="131">
                  <c:v>6623</c:v>
                </c:pt>
                <c:pt idx="132">
                  <c:v>6929</c:v>
                </c:pt>
                <c:pt idx="133">
                  <c:v>7036</c:v>
                </c:pt>
                <c:pt idx="134">
                  <c:v>7134</c:v>
                </c:pt>
                <c:pt idx="135">
                  <c:v>7831</c:v>
                </c:pt>
                <c:pt idx="136">
                  <c:v>7222</c:v>
                </c:pt>
                <c:pt idx="137">
                  <c:v>6681</c:v>
                </c:pt>
                <c:pt idx="138">
                  <c:v>6670</c:v>
                </c:pt>
                <c:pt idx="139">
                  <c:v>6893</c:v>
                </c:pt>
                <c:pt idx="140">
                  <c:v>7054</c:v>
                </c:pt>
                <c:pt idx="141">
                  <c:v>7172</c:v>
                </c:pt>
                <c:pt idx="142">
                  <c:v>7648</c:v>
                </c:pt>
                <c:pt idx="143">
                  <c:v>7118</c:v>
                </c:pt>
                <c:pt idx="144">
                  <c:v>6745</c:v>
                </c:pt>
                <c:pt idx="145">
                  <c:v>6694</c:v>
                </c:pt>
                <c:pt idx="146">
                  <c:v>6768</c:v>
                </c:pt>
                <c:pt idx="147">
                  <c:v>6952</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900" b="0" i="0" u="none" strike="noStrike">
                <a:solidFill>
                  <a:srgbClr val="5F7183"/>
                </a:solidFill>
                <a:latin typeface="Calibri"/>
              </a:defRPr>
            </a:pPr>
            <a:endParaRPr lang="en-US"/>
          </a:p>
        </c:txPr>
        <c:crossAx val="2094734552"/>
        <c:crosses val="autoZero"/>
        <c:auto val="1"/>
        <c:lblAlgn val="ctr"/>
        <c:noMultiLvlLbl val="1"/>
        <c:tickLblSkip val="12"/>
      </c:catAx>
      <c:valAx>
        <c:axId val="2094734552"/>
        <c:scaling>
          <c:orientation val="minMax"/>
          <c:min val="0"/>
        </c:scaling>
        <c:delete val="0"/>
        <c:axPos val="l"/>
        <c:majorGridlines>
          <c:spPr>
            <a:ln w="1270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7183"/>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c:v>
                </c:pt>
              </c:strCache>
            </c:strRef>
          </c:tx>
          <c:spPr>
            <a:solidFill>
              <a:srgbClr val="0F2942"/>
            </a:solidFill>
            <a:ln w="31750" cap="flat">
              <a:solidFill>
                <a:srgbClr val="0F294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2942"/>
              </a:solidFill>
              <a:ln w="9525" cap="flat">
                <a:solidFill>
                  <a:srgbClr val="0F2942"/>
                </a:solidFill>
                <a:prstDash val="solid"/>
                <a:round/>
              </a:ln>
              <a:effectLst/>
            </c:spPr>
          </c:marker>
          <c:cat>
            <c:multiLvlStrRef>
              <c:f>Sheet1!$A$2:$A$149</c:f>
              <c:multiLvlStrCache>
                <c:ptCount val="148"/>
                <c:lvl>
                  <c:pt idx="0">
                    <c:v>01 Jan</c:v>
                  </c:pt>
                  <c:pt idx="1">
                    <c:v>02 Jan</c:v>
                  </c:pt>
                  <c:pt idx="2">
                    <c:v>03 Jan</c:v>
                  </c:pt>
                  <c:pt idx="3">
                    <c:v>04 Jan</c:v>
                  </c:pt>
                  <c:pt idx="4">
                    <c:v>05 Jan</c:v>
                  </c:pt>
                  <c:pt idx="5">
                    <c:v>06 Jan</c:v>
                  </c:pt>
                  <c:pt idx="6">
                    <c:v>07 Jan</c:v>
                  </c:pt>
                  <c:pt idx="7">
                    <c:v>08 Jan</c:v>
                  </c:pt>
                  <c:pt idx="8">
                    <c:v>09 Jan</c:v>
                  </c:pt>
                  <c:pt idx="9">
                    <c:v>10 Jan</c:v>
                  </c:pt>
                  <c:pt idx="10">
                    <c:v>11 Jan</c:v>
                  </c:pt>
                  <c:pt idx="11">
                    <c:v>12 Jan</c:v>
                  </c:pt>
                  <c:pt idx="12">
                    <c:v>13 Jan</c:v>
                  </c:pt>
                  <c:pt idx="13">
                    <c:v>14 Jan</c:v>
                  </c:pt>
                  <c:pt idx="14">
                    <c:v>15 Jan</c:v>
                  </c:pt>
                  <c:pt idx="15">
                    <c:v>16 Jan</c:v>
                  </c:pt>
                  <c:pt idx="16">
                    <c:v>17 Jan</c:v>
                  </c:pt>
                  <c:pt idx="17">
                    <c:v>18 Jan</c:v>
                  </c:pt>
                  <c:pt idx="18">
                    <c:v>19 Jan</c:v>
                  </c:pt>
                  <c:pt idx="19">
                    <c:v>20 Jan</c:v>
                  </c:pt>
                  <c:pt idx="20">
                    <c:v>21 Jan</c:v>
                  </c:pt>
                  <c:pt idx="21">
                    <c:v>22 Jan</c:v>
                  </c:pt>
                  <c:pt idx="22">
                    <c:v>23 Jan</c:v>
                  </c:pt>
                  <c:pt idx="23">
                    <c:v>24 Jan</c:v>
                  </c:pt>
                  <c:pt idx="24">
                    <c:v>25 Jan</c:v>
                  </c:pt>
                  <c:pt idx="25">
                    <c:v>26 Jan</c:v>
                  </c:pt>
                  <c:pt idx="26">
                    <c:v>27 Jan</c:v>
                  </c:pt>
                  <c:pt idx="27">
                    <c:v>28 Jan</c:v>
                  </c:pt>
                  <c:pt idx="28">
                    <c:v>29 Jan</c:v>
                  </c:pt>
                  <c:pt idx="29">
                    <c:v>30 Jan</c:v>
                  </c:pt>
                  <c:pt idx="30">
                    <c:v>31 Jan</c:v>
                  </c:pt>
                  <c:pt idx="31">
                    <c:v>01 Feb</c:v>
                  </c:pt>
                  <c:pt idx="32">
                    <c:v>02 Feb</c:v>
                  </c:pt>
                  <c:pt idx="33">
                    <c:v>03 Feb</c:v>
                  </c:pt>
                  <c:pt idx="34">
                    <c:v>04 Feb</c:v>
                  </c:pt>
                  <c:pt idx="35">
                    <c:v>05 Feb</c:v>
                  </c:pt>
                  <c:pt idx="36">
                    <c:v>06 Feb</c:v>
                  </c:pt>
                  <c:pt idx="37">
                    <c:v>07 Feb</c:v>
                  </c:pt>
                  <c:pt idx="38">
                    <c:v>08 Feb</c:v>
                  </c:pt>
                  <c:pt idx="39">
                    <c:v>09 Feb</c:v>
                  </c:pt>
                  <c:pt idx="40">
                    <c:v>10 Feb</c:v>
                  </c:pt>
                  <c:pt idx="41">
                    <c:v>11 Feb</c:v>
                  </c:pt>
                  <c:pt idx="42">
                    <c:v>12 Feb</c:v>
                  </c:pt>
                  <c:pt idx="43">
                    <c:v>13 Feb</c:v>
                  </c:pt>
                  <c:pt idx="44">
                    <c:v>14 Feb</c:v>
                  </c:pt>
                  <c:pt idx="45">
                    <c:v>15 Feb</c:v>
                  </c:pt>
                  <c:pt idx="46">
                    <c:v>16 Feb</c:v>
                  </c:pt>
                  <c:pt idx="47">
                    <c:v>17 Feb</c:v>
                  </c:pt>
                  <c:pt idx="48">
                    <c:v>18 Feb</c:v>
                  </c:pt>
                  <c:pt idx="49">
                    <c:v>19 Feb</c:v>
                  </c:pt>
                  <c:pt idx="50">
                    <c:v>20 Feb</c:v>
                  </c:pt>
                  <c:pt idx="51">
                    <c:v>21 Feb</c:v>
                  </c:pt>
                  <c:pt idx="52">
                    <c:v>22 Feb</c:v>
                  </c:pt>
                  <c:pt idx="53">
                    <c:v>23 Feb</c:v>
                  </c:pt>
                  <c:pt idx="54">
                    <c:v>24 Feb</c:v>
                  </c:pt>
                  <c:pt idx="55">
                    <c:v>25 Feb</c:v>
                  </c:pt>
                  <c:pt idx="56">
                    <c:v>26 Feb</c:v>
                  </c:pt>
                  <c:pt idx="57">
                    <c:v>27 Feb</c:v>
                  </c:pt>
                  <c:pt idx="58">
                    <c:v>28 Feb</c:v>
                  </c:pt>
                  <c:pt idx="59">
                    <c:v>01 Mar</c:v>
                  </c:pt>
                  <c:pt idx="60">
                    <c:v>02 Mar</c:v>
                  </c:pt>
                  <c:pt idx="61">
                    <c:v>03 Mar</c:v>
                  </c:pt>
                  <c:pt idx="62">
                    <c:v>04 Mar</c:v>
                  </c:pt>
                  <c:pt idx="63">
                    <c:v>05 Mar</c:v>
                  </c:pt>
                  <c:pt idx="64">
                    <c:v>06 Mar</c:v>
                  </c:pt>
                  <c:pt idx="65">
                    <c:v>07 Mar</c:v>
                  </c:pt>
                  <c:pt idx="66">
                    <c:v>08 Mar</c:v>
                  </c:pt>
                  <c:pt idx="67">
                    <c:v>09 Mar</c:v>
                  </c:pt>
                  <c:pt idx="68">
                    <c:v>10 Mar</c:v>
                  </c:pt>
                  <c:pt idx="69">
                    <c:v>11 Mar</c:v>
                  </c:pt>
                  <c:pt idx="70">
                    <c:v>12 Mar</c:v>
                  </c:pt>
                  <c:pt idx="71">
                    <c:v>13 Mar</c:v>
                  </c:pt>
                  <c:pt idx="72">
                    <c:v>14 Mar</c:v>
                  </c:pt>
                  <c:pt idx="73">
                    <c:v>15 Mar</c:v>
                  </c:pt>
                  <c:pt idx="74">
                    <c:v>16 Mar</c:v>
                  </c:pt>
                  <c:pt idx="75">
                    <c:v>17 Mar</c:v>
                  </c:pt>
                  <c:pt idx="76">
                    <c:v>18 Mar</c:v>
                  </c:pt>
                  <c:pt idx="77">
                    <c:v>19 Mar</c:v>
                  </c:pt>
                  <c:pt idx="78">
                    <c:v>20 Mar</c:v>
                  </c:pt>
                  <c:pt idx="79">
                    <c:v>21 Mar</c:v>
                  </c:pt>
                  <c:pt idx="80">
                    <c:v>22 Mar</c:v>
                  </c:pt>
                  <c:pt idx="81">
                    <c:v>23 Mar</c:v>
                  </c:pt>
                  <c:pt idx="82">
                    <c:v>24 Mar</c:v>
                  </c:pt>
                  <c:pt idx="83">
                    <c:v>25 Mar</c:v>
                  </c:pt>
                  <c:pt idx="84">
                    <c:v>26 Mar</c:v>
                  </c:pt>
                  <c:pt idx="85">
                    <c:v>27 Mar</c:v>
                  </c:pt>
                  <c:pt idx="86">
                    <c:v>28 Mar</c:v>
                  </c:pt>
                  <c:pt idx="87">
                    <c:v>29 Mar</c:v>
                  </c:pt>
                  <c:pt idx="88">
                    <c:v>30 Mar</c:v>
                  </c:pt>
                  <c:pt idx="89">
                    <c:v>31 Mar</c:v>
                  </c:pt>
                  <c:pt idx="90">
                    <c:v>01 Apr</c:v>
                  </c:pt>
                  <c:pt idx="91">
                    <c:v>02 Apr</c:v>
                  </c:pt>
                  <c:pt idx="92">
                    <c:v>03 Apr</c:v>
                  </c:pt>
                  <c:pt idx="93">
                    <c:v>04 Apr</c:v>
                  </c:pt>
                  <c:pt idx="94">
                    <c:v>05 Apr</c:v>
                  </c:pt>
                  <c:pt idx="95">
                    <c:v>06 Apr</c:v>
                  </c:pt>
                  <c:pt idx="96">
                    <c:v>07 Apr</c:v>
                  </c:pt>
                  <c:pt idx="97">
                    <c:v>08 Apr</c:v>
                  </c:pt>
                  <c:pt idx="98">
                    <c:v>09 Apr</c:v>
                  </c:pt>
                  <c:pt idx="99">
                    <c:v>10 Apr</c:v>
                  </c:pt>
                  <c:pt idx="100">
                    <c:v>11 Apr</c:v>
                  </c:pt>
                  <c:pt idx="101">
                    <c:v>12 Apr</c:v>
                  </c:pt>
                  <c:pt idx="102">
                    <c:v>13 Apr</c:v>
                  </c:pt>
                  <c:pt idx="103">
                    <c:v>14 Apr</c:v>
                  </c:pt>
                  <c:pt idx="104">
                    <c:v>15 Apr</c:v>
                  </c:pt>
                  <c:pt idx="105">
                    <c:v>16 Apr</c:v>
                  </c:pt>
                  <c:pt idx="106">
                    <c:v>17 Apr</c:v>
                  </c:pt>
                  <c:pt idx="107">
                    <c:v>18 Apr</c:v>
                  </c:pt>
                  <c:pt idx="108">
                    <c:v>19 Apr</c:v>
                  </c:pt>
                  <c:pt idx="109">
                    <c:v>20 Apr</c:v>
                  </c:pt>
                  <c:pt idx="110">
                    <c:v>21 Apr</c:v>
                  </c:pt>
                  <c:pt idx="111">
                    <c:v>22 Apr</c:v>
                  </c:pt>
                  <c:pt idx="112">
                    <c:v>23 Apr</c:v>
                  </c:pt>
                  <c:pt idx="113">
                    <c:v>24 Apr</c:v>
                  </c:pt>
                  <c:pt idx="114">
                    <c:v>25 Apr</c:v>
                  </c:pt>
                  <c:pt idx="115">
                    <c:v>26 Apr</c:v>
                  </c:pt>
                  <c:pt idx="116">
                    <c:v>27 Apr</c:v>
                  </c:pt>
                  <c:pt idx="117">
                    <c:v>28 Apr</c:v>
                  </c:pt>
                  <c:pt idx="118">
                    <c:v>29 Apr</c:v>
                  </c:pt>
                  <c:pt idx="119">
                    <c:v>30 Apr</c:v>
                  </c:pt>
                  <c:pt idx="120">
                    <c:v>01 May</c:v>
                  </c:pt>
                  <c:pt idx="121">
                    <c:v>02 May</c:v>
                  </c:pt>
                  <c:pt idx="122">
                    <c:v>03 May</c:v>
                  </c:pt>
                  <c:pt idx="123">
                    <c:v>04 May</c:v>
                  </c:pt>
                  <c:pt idx="124">
                    <c:v>05 May</c:v>
                  </c:pt>
                  <c:pt idx="125">
                    <c:v>06 May</c:v>
                  </c:pt>
                  <c:pt idx="126">
                    <c:v>07 May</c:v>
                  </c:pt>
                  <c:pt idx="127">
                    <c:v>08 May</c:v>
                  </c:pt>
                  <c:pt idx="128">
                    <c:v>09 May</c:v>
                  </c:pt>
                  <c:pt idx="129">
                    <c:v>10 May</c:v>
                  </c:pt>
                  <c:pt idx="130">
                    <c:v>11 May</c:v>
                  </c:pt>
                  <c:pt idx="131">
                    <c:v>12 May</c:v>
                  </c:pt>
                  <c:pt idx="132">
                    <c:v>13 May</c:v>
                  </c:pt>
                  <c:pt idx="133">
                    <c:v>14 May</c:v>
                  </c:pt>
                  <c:pt idx="134">
                    <c:v>15 May</c:v>
                  </c:pt>
                  <c:pt idx="135">
                    <c:v>16 May</c:v>
                  </c:pt>
                  <c:pt idx="136">
                    <c:v>17 May</c:v>
                  </c:pt>
                  <c:pt idx="137">
                    <c:v>18 May</c:v>
                  </c:pt>
                  <c:pt idx="138">
                    <c:v>19 May</c:v>
                  </c:pt>
                  <c:pt idx="139">
                    <c:v>20 May</c:v>
                  </c:pt>
                  <c:pt idx="140">
                    <c:v>21 May</c:v>
                  </c:pt>
                  <c:pt idx="141">
                    <c:v>22 May</c:v>
                  </c:pt>
                  <c:pt idx="142">
                    <c:v>23 May</c:v>
                  </c:pt>
                  <c:pt idx="143">
                    <c:v>24 May</c:v>
                  </c:pt>
                  <c:pt idx="144">
                    <c:v>25 May</c:v>
                  </c:pt>
                  <c:pt idx="145">
                    <c:v>26 May</c:v>
                  </c:pt>
                  <c:pt idx="146">
                    <c:v>27 May</c:v>
                  </c:pt>
                  <c:pt idx="147">
                    <c:v>28 May</c:v>
                  </c:pt>
                </c:lvl>
              </c:multiLvlStrCache>
            </c:multiLvlStrRef>
          </c:cat>
          <c:val>
            <c:numRef>
              <c:f>Sheet1!$B$2:$B$149</c:f>
              <c:numCache>
                <c:formatCode>General</c:formatCode>
                <c:ptCount val="148"/>
                <c:pt idx="0">
                  <c:v>8575</c:v>
                </c:pt>
                <c:pt idx="1">
                  <c:v>8139</c:v>
                </c:pt>
                <c:pt idx="2">
                  <c:v>7427</c:v>
                </c:pt>
                <c:pt idx="3">
                  <c:v>7185</c:v>
                </c:pt>
                <c:pt idx="4">
                  <c:v>6956</c:v>
                </c:pt>
                <c:pt idx="5">
                  <c:v>7450</c:v>
                </c:pt>
                <c:pt idx="6">
                  <c:v>7838</c:v>
                </c:pt>
                <c:pt idx="7">
                  <c:v>7573</c:v>
                </c:pt>
                <c:pt idx="8">
                  <c:v>7618</c:v>
                </c:pt>
                <c:pt idx="9">
                  <c:v>8129</c:v>
                </c:pt>
                <c:pt idx="10">
                  <c:v>7581</c:v>
                </c:pt>
                <c:pt idx="11">
                  <c:v>7155</c:v>
                </c:pt>
                <c:pt idx="12">
                  <c:v>7364</c:v>
                </c:pt>
                <c:pt idx="13">
                  <c:v>7456</c:v>
                </c:pt>
                <c:pt idx="14">
                  <c:v>7300</c:v>
                </c:pt>
                <c:pt idx="15">
                  <c:v>7527</c:v>
                </c:pt>
                <c:pt idx="16">
                  <c:v>7859</c:v>
                </c:pt>
                <c:pt idx="17">
                  <c:v>7561</c:v>
                </c:pt>
                <c:pt idx="18">
                  <c:v>6881</c:v>
                </c:pt>
                <c:pt idx="19">
                  <c:v>7234</c:v>
                </c:pt>
                <c:pt idx="20">
                  <c:v>7520</c:v>
                </c:pt>
                <c:pt idx="21">
                  <c:v>7494</c:v>
                </c:pt>
                <c:pt idx="22">
                  <c:v>7809</c:v>
                </c:pt>
                <c:pt idx="23">
                  <c:v>7915</c:v>
                </c:pt>
                <c:pt idx="24">
                  <c:v>7586</c:v>
                </c:pt>
                <c:pt idx="25">
                  <c:v>7011</c:v>
                </c:pt>
                <c:pt idx="26">
                  <c:v>7119</c:v>
                </c:pt>
                <c:pt idx="27">
                  <c:v>7444</c:v>
                </c:pt>
                <c:pt idx="28">
                  <c:v>7280</c:v>
                </c:pt>
                <c:pt idx="29">
                  <c:v>7433</c:v>
                </c:pt>
                <c:pt idx="30">
                  <c:v>8150</c:v>
                </c:pt>
                <c:pt idx="31">
                  <c:v>7599</c:v>
                </c:pt>
                <c:pt idx="32">
                  <c:v>6868</c:v>
                </c:pt>
                <c:pt idx="33">
                  <c:v>6784</c:v>
                </c:pt>
                <c:pt idx="34">
                  <c:v>7017</c:v>
                </c:pt>
                <c:pt idx="35">
                  <c:v>7140</c:v>
                </c:pt>
                <c:pt idx="36">
                  <c:v>7672</c:v>
                </c:pt>
                <c:pt idx="37">
                  <c:v>7962</c:v>
                </c:pt>
                <c:pt idx="38">
                  <c:v>7270</c:v>
                </c:pt>
                <c:pt idx="39">
                  <c:v>6335</c:v>
                </c:pt>
                <c:pt idx="40">
                  <c:v>6202</c:v>
                </c:pt>
                <c:pt idx="41">
                  <c:v>5613</c:v>
                </c:pt>
                <c:pt idx="42">
                  <c:v>5468</c:v>
                </c:pt>
                <c:pt idx="43">
                  <c:v>5134</c:v>
                </c:pt>
                <c:pt idx="44">
                  <c:v>4464</c:v>
                </c:pt>
                <c:pt idx="45">
                  <c:v>3936</c:v>
                </c:pt>
                <c:pt idx="46">
                  <c:v>3518</c:v>
                </c:pt>
                <c:pt idx="47">
                  <c:v>5271</c:v>
                </c:pt>
                <c:pt idx="48">
                  <c:v>6585</c:v>
                </c:pt>
                <c:pt idx="49">
                  <c:v>7980</c:v>
                </c:pt>
                <c:pt idx="50">
                  <c:v>7881</c:v>
                </c:pt>
                <c:pt idx="51">
                  <c:v>7988</c:v>
                </c:pt>
                <c:pt idx="52">
                  <c:v>7699</c:v>
                </c:pt>
                <c:pt idx="53">
                  <c:v>7073</c:v>
                </c:pt>
                <c:pt idx="54">
                  <c:v>6813</c:v>
                </c:pt>
                <c:pt idx="55">
                  <c:v>6644</c:v>
                </c:pt>
                <c:pt idx="56">
                  <c:v>7120</c:v>
                </c:pt>
                <c:pt idx="57">
                  <c:v>7451</c:v>
                </c:pt>
                <c:pt idx="58">
                  <c:v>7436</c:v>
                </c:pt>
                <c:pt idx="59">
                  <c:v>7091</c:v>
                </c:pt>
                <c:pt idx="60">
                  <c:v>6255</c:v>
                </c:pt>
                <c:pt idx="61">
                  <c:v>5836</c:v>
                </c:pt>
                <c:pt idx="62">
                  <c:v>5808</c:v>
                </c:pt>
                <c:pt idx="63">
                  <c:v>6099</c:v>
                </c:pt>
                <c:pt idx="64">
                  <c:v>6804</c:v>
                </c:pt>
                <c:pt idx="65">
                  <c:v>7626</c:v>
                </c:pt>
                <c:pt idx="66">
                  <c:v>7092</c:v>
                </c:pt>
                <c:pt idx="67">
                  <c:v>6789</c:v>
                </c:pt>
                <c:pt idx="68">
                  <c:v>6851</c:v>
                </c:pt>
                <c:pt idx="69">
                  <c:v>6909</c:v>
                </c:pt>
                <c:pt idx="70">
                  <c:v>6995</c:v>
                </c:pt>
                <c:pt idx="71">
                  <c:v>7478</c:v>
                </c:pt>
                <c:pt idx="72">
                  <c:v>8041</c:v>
                </c:pt>
                <c:pt idx="73">
                  <c:v>7248</c:v>
                </c:pt>
                <c:pt idx="74">
                  <c:v>6605</c:v>
                </c:pt>
                <c:pt idx="75">
                  <c:v>7018</c:v>
                </c:pt>
                <c:pt idx="76">
                  <c:v>7236</c:v>
                </c:pt>
                <c:pt idx="77">
                  <c:v>7244</c:v>
                </c:pt>
                <c:pt idx="78">
                  <c:v>7336</c:v>
                </c:pt>
                <c:pt idx="79">
                  <c:v>7576</c:v>
                </c:pt>
                <c:pt idx="80">
                  <c:v>6941</c:v>
                </c:pt>
                <c:pt idx="81">
                  <c:v>6779</c:v>
                </c:pt>
                <c:pt idx="82">
                  <c:v>6916</c:v>
                </c:pt>
                <c:pt idx="83">
                  <c:v>6997</c:v>
                </c:pt>
                <c:pt idx="84">
                  <c:v>6924</c:v>
                </c:pt>
                <c:pt idx="85">
                  <c:v>6814</c:v>
                </c:pt>
                <c:pt idx="86">
                  <c:v>7429</c:v>
                </c:pt>
                <c:pt idx="87">
                  <c:v>7101</c:v>
                </c:pt>
                <c:pt idx="88">
                  <c:v>6459</c:v>
                </c:pt>
                <c:pt idx="89">
                  <c:v>6022</c:v>
                </c:pt>
                <c:pt idx="90">
                  <c:v>6286</c:v>
                </c:pt>
                <c:pt idx="91">
                  <c:v>6375</c:v>
                </c:pt>
                <c:pt idx="92">
                  <c:v>6704</c:v>
                </c:pt>
                <c:pt idx="93">
                  <c:v>6754</c:v>
                </c:pt>
                <c:pt idx="94">
                  <c:v>7075</c:v>
                </c:pt>
                <c:pt idx="95">
                  <c:v>6349</c:v>
                </c:pt>
                <c:pt idx="96">
                  <c:v>6310</c:v>
                </c:pt>
                <c:pt idx="97">
                  <c:v>6629</c:v>
                </c:pt>
                <c:pt idx="98">
                  <c:v>6709</c:v>
                </c:pt>
                <c:pt idx="99">
                  <c:v>7046</c:v>
                </c:pt>
                <c:pt idx="100">
                  <c:v>7719</c:v>
                </c:pt>
                <c:pt idx="101">
                  <c:v>7188</c:v>
                </c:pt>
                <c:pt idx="102">
                  <c:v>6645</c:v>
                </c:pt>
                <c:pt idx="103">
                  <c:v>7135</c:v>
                </c:pt>
                <c:pt idx="104">
                  <c:v>7167</c:v>
                </c:pt>
                <c:pt idx="105">
                  <c:v>7122</c:v>
                </c:pt>
                <c:pt idx="106">
                  <c:v>7299</c:v>
                </c:pt>
                <c:pt idx="107">
                  <c:v>7958</c:v>
                </c:pt>
                <c:pt idx="108">
                  <c:v>7374</c:v>
                </c:pt>
                <c:pt idx="109">
                  <c:v>6813</c:v>
                </c:pt>
                <c:pt idx="110">
                  <c:v>7027</c:v>
                </c:pt>
                <c:pt idx="111">
                  <c:v>7141</c:v>
                </c:pt>
                <c:pt idx="112">
                  <c:v>7310</c:v>
                </c:pt>
                <c:pt idx="113">
                  <c:v>7058</c:v>
                </c:pt>
                <c:pt idx="114">
                  <c:v>7699</c:v>
                </c:pt>
                <c:pt idx="115">
                  <c:v>6881</c:v>
                </c:pt>
                <c:pt idx="116">
                  <c:v>6179</c:v>
                </c:pt>
                <c:pt idx="117">
                  <c:v>6576</c:v>
                </c:pt>
                <c:pt idx="118">
                  <c:v>6408</c:v>
                </c:pt>
                <c:pt idx="119">
                  <c:v>7108</c:v>
                </c:pt>
                <c:pt idx="120">
                  <c:v>8653</c:v>
                </c:pt>
                <c:pt idx="121">
                  <c:v>8249</c:v>
                </c:pt>
                <c:pt idx="122">
                  <c:v>7780</c:v>
                </c:pt>
                <c:pt idx="123">
                  <c:v>7153</c:v>
                </c:pt>
                <c:pt idx="124">
                  <c:v>6694</c:v>
                </c:pt>
                <c:pt idx="125">
                  <c:v>6063</c:v>
                </c:pt>
                <c:pt idx="126">
                  <c:v>6236</c:v>
                </c:pt>
                <c:pt idx="127">
                  <c:v>6738</c:v>
                </c:pt>
                <c:pt idx="128">
                  <c:v>7120</c:v>
                </c:pt>
                <c:pt idx="129">
                  <c:v>6714</c:v>
                </c:pt>
                <c:pt idx="130">
                  <c:v>6780</c:v>
                </c:pt>
                <c:pt idx="131">
                  <c:v>6903</c:v>
                </c:pt>
                <c:pt idx="132">
                  <c:v>6671</c:v>
                </c:pt>
                <c:pt idx="133">
                  <c:v>6955</c:v>
                </c:pt>
                <c:pt idx="134">
                  <c:v>6995</c:v>
                </c:pt>
                <c:pt idx="135">
                  <c:v>7815</c:v>
                </c:pt>
                <c:pt idx="136">
                  <c:v>7158</c:v>
                </c:pt>
                <c:pt idx="137">
                  <c:v>6839</c:v>
                </c:pt>
                <c:pt idx="138">
                  <c:v>6924</c:v>
                </c:pt>
                <c:pt idx="139">
                  <c:v>6769</c:v>
                </c:pt>
                <c:pt idx="140">
                  <c:v>6588</c:v>
                </c:pt>
                <c:pt idx="141">
                  <c:v>6874</c:v>
                </c:pt>
                <c:pt idx="142">
                  <c:v>7710</c:v>
                </c:pt>
                <c:pt idx="143">
                  <c:v>7045</c:v>
                </c:pt>
                <c:pt idx="144">
                  <c:v>6625</c:v>
                </c:pt>
                <c:pt idx="145">
                  <c:v>6877</c:v>
                </c:pt>
                <c:pt idx="146">
                  <c:v>7120</c:v>
                </c:pt>
                <c:pt idx="147">
                  <c:v>6993</c:v>
                </c:pt>
              </c:numCache>
            </c:numRef>
          </c:val>
          <c:smooth val="1"/>
        </c:ser>
        <c:ser>
          <c:idx val="1"/>
          <c:order val="1"/>
          <c:tx>
            <c:strRef>
              <c:f>Sheet1!$C$1</c:f>
              <c:strCache>
                <c:ptCount val="1"/>
                <c:pt idx="0">
                  <c:v>forecast</c:v>
                </c:pt>
              </c:strCache>
            </c:strRef>
          </c:tx>
          <c:spPr>
            <a:solidFill>
              <a:srgbClr val="2E8BA8"/>
            </a:solidFill>
            <a:ln w="31750" cap="flat">
              <a:solidFill>
                <a:srgbClr val="2E8B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8BA8"/>
              </a:solidFill>
              <a:ln w="9525" cap="flat">
                <a:solidFill>
                  <a:srgbClr val="2E8BA8"/>
                </a:solidFill>
                <a:prstDash val="solid"/>
                <a:round/>
              </a:ln>
              <a:effectLst/>
            </c:spPr>
          </c:marker>
          <c:cat>
            <c:multiLvlStrRef>
              <c:f>Sheet1!$A$2:$A$149</c:f>
              <c:multiLvlStrCache>
                <c:ptCount val="148"/>
                <c:lvl>
                  <c:pt idx="0">
                    <c:v>01 Jan</c:v>
                  </c:pt>
                  <c:pt idx="1">
                    <c:v>02 Jan</c:v>
                  </c:pt>
                  <c:pt idx="2">
                    <c:v>03 Jan</c:v>
                  </c:pt>
                  <c:pt idx="3">
                    <c:v>04 Jan</c:v>
                  </c:pt>
                  <c:pt idx="4">
                    <c:v>05 Jan</c:v>
                  </c:pt>
                  <c:pt idx="5">
                    <c:v>06 Jan</c:v>
                  </c:pt>
                  <c:pt idx="6">
                    <c:v>07 Jan</c:v>
                  </c:pt>
                  <c:pt idx="7">
                    <c:v>08 Jan</c:v>
                  </c:pt>
                  <c:pt idx="8">
                    <c:v>09 Jan</c:v>
                  </c:pt>
                  <c:pt idx="9">
                    <c:v>10 Jan</c:v>
                  </c:pt>
                  <c:pt idx="10">
                    <c:v>11 Jan</c:v>
                  </c:pt>
                  <c:pt idx="11">
                    <c:v>12 Jan</c:v>
                  </c:pt>
                  <c:pt idx="12">
                    <c:v>13 Jan</c:v>
                  </c:pt>
                  <c:pt idx="13">
                    <c:v>14 Jan</c:v>
                  </c:pt>
                  <c:pt idx="14">
                    <c:v>15 Jan</c:v>
                  </c:pt>
                  <c:pt idx="15">
                    <c:v>16 Jan</c:v>
                  </c:pt>
                  <c:pt idx="16">
                    <c:v>17 Jan</c:v>
                  </c:pt>
                  <c:pt idx="17">
                    <c:v>18 Jan</c:v>
                  </c:pt>
                  <c:pt idx="18">
                    <c:v>19 Jan</c:v>
                  </c:pt>
                  <c:pt idx="19">
                    <c:v>20 Jan</c:v>
                  </c:pt>
                  <c:pt idx="20">
                    <c:v>21 Jan</c:v>
                  </c:pt>
                  <c:pt idx="21">
                    <c:v>22 Jan</c:v>
                  </c:pt>
                  <c:pt idx="22">
                    <c:v>23 Jan</c:v>
                  </c:pt>
                  <c:pt idx="23">
                    <c:v>24 Jan</c:v>
                  </c:pt>
                  <c:pt idx="24">
                    <c:v>25 Jan</c:v>
                  </c:pt>
                  <c:pt idx="25">
                    <c:v>26 Jan</c:v>
                  </c:pt>
                  <c:pt idx="26">
                    <c:v>27 Jan</c:v>
                  </c:pt>
                  <c:pt idx="27">
                    <c:v>28 Jan</c:v>
                  </c:pt>
                  <c:pt idx="28">
                    <c:v>29 Jan</c:v>
                  </c:pt>
                  <c:pt idx="29">
                    <c:v>30 Jan</c:v>
                  </c:pt>
                  <c:pt idx="30">
                    <c:v>31 Jan</c:v>
                  </c:pt>
                  <c:pt idx="31">
                    <c:v>01 Feb</c:v>
                  </c:pt>
                  <c:pt idx="32">
                    <c:v>02 Feb</c:v>
                  </c:pt>
                  <c:pt idx="33">
                    <c:v>03 Feb</c:v>
                  </c:pt>
                  <c:pt idx="34">
                    <c:v>04 Feb</c:v>
                  </c:pt>
                  <c:pt idx="35">
                    <c:v>05 Feb</c:v>
                  </c:pt>
                  <c:pt idx="36">
                    <c:v>06 Feb</c:v>
                  </c:pt>
                  <c:pt idx="37">
                    <c:v>07 Feb</c:v>
                  </c:pt>
                  <c:pt idx="38">
                    <c:v>08 Feb</c:v>
                  </c:pt>
                  <c:pt idx="39">
                    <c:v>09 Feb</c:v>
                  </c:pt>
                  <c:pt idx="40">
                    <c:v>10 Feb</c:v>
                  </c:pt>
                  <c:pt idx="41">
                    <c:v>11 Feb</c:v>
                  </c:pt>
                  <c:pt idx="42">
                    <c:v>12 Feb</c:v>
                  </c:pt>
                  <c:pt idx="43">
                    <c:v>13 Feb</c:v>
                  </c:pt>
                  <c:pt idx="44">
                    <c:v>14 Feb</c:v>
                  </c:pt>
                  <c:pt idx="45">
                    <c:v>15 Feb</c:v>
                  </c:pt>
                  <c:pt idx="46">
                    <c:v>16 Feb</c:v>
                  </c:pt>
                  <c:pt idx="47">
                    <c:v>17 Feb</c:v>
                  </c:pt>
                  <c:pt idx="48">
                    <c:v>18 Feb</c:v>
                  </c:pt>
                  <c:pt idx="49">
                    <c:v>19 Feb</c:v>
                  </c:pt>
                  <c:pt idx="50">
                    <c:v>20 Feb</c:v>
                  </c:pt>
                  <c:pt idx="51">
                    <c:v>21 Feb</c:v>
                  </c:pt>
                  <c:pt idx="52">
                    <c:v>22 Feb</c:v>
                  </c:pt>
                  <c:pt idx="53">
                    <c:v>23 Feb</c:v>
                  </c:pt>
                  <c:pt idx="54">
                    <c:v>24 Feb</c:v>
                  </c:pt>
                  <c:pt idx="55">
                    <c:v>25 Feb</c:v>
                  </c:pt>
                  <c:pt idx="56">
                    <c:v>26 Feb</c:v>
                  </c:pt>
                  <c:pt idx="57">
                    <c:v>27 Feb</c:v>
                  </c:pt>
                  <c:pt idx="58">
                    <c:v>28 Feb</c:v>
                  </c:pt>
                  <c:pt idx="59">
                    <c:v>01 Mar</c:v>
                  </c:pt>
                  <c:pt idx="60">
                    <c:v>02 Mar</c:v>
                  </c:pt>
                  <c:pt idx="61">
                    <c:v>03 Mar</c:v>
                  </c:pt>
                  <c:pt idx="62">
                    <c:v>04 Mar</c:v>
                  </c:pt>
                  <c:pt idx="63">
                    <c:v>05 Mar</c:v>
                  </c:pt>
                  <c:pt idx="64">
                    <c:v>06 Mar</c:v>
                  </c:pt>
                  <c:pt idx="65">
                    <c:v>07 Mar</c:v>
                  </c:pt>
                  <c:pt idx="66">
                    <c:v>08 Mar</c:v>
                  </c:pt>
                  <c:pt idx="67">
                    <c:v>09 Mar</c:v>
                  </c:pt>
                  <c:pt idx="68">
                    <c:v>10 Mar</c:v>
                  </c:pt>
                  <c:pt idx="69">
                    <c:v>11 Mar</c:v>
                  </c:pt>
                  <c:pt idx="70">
                    <c:v>12 Mar</c:v>
                  </c:pt>
                  <c:pt idx="71">
                    <c:v>13 Mar</c:v>
                  </c:pt>
                  <c:pt idx="72">
                    <c:v>14 Mar</c:v>
                  </c:pt>
                  <c:pt idx="73">
                    <c:v>15 Mar</c:v>
                  </c:pt>
                  <c:pt idx="74">
                    <c:v>16 Mar</c:v>
                  </c:pt>
                  <c:pt idx="75">
                    <c:v>17 Mar</c:v>
                  </c:pt>
                  <c:pt idx="76">
                    <c:v>18 Mar</c:v>
                  </c:pt>
                  <c:pt idx="77">
                    <c:v>19 Mar</c:v>
                  </c:pt>
                  <c:pt idx="78">
                    <c:v>20 Mar</c:v>
                  </c:pt>
                  <c:pt idx="79">
                    <c:v>21 Mar</c:v>
                  </c:pt>
                  <c:pt idx="80">
                    <c:v>22 Mar</c:v>
                  </c:pt>
                  <c:pt idx="81">
                    <c:v>23 Mar</c:v>
                  </c:pt>
                  <c:pt idx="82">
                    <c:v>24 Mar</c:v>
                  </c:pt>
                  <c:pt idx="83">
                    <c:v>25 Mar</c:v>
                  </c:pt>
                  <c:pt idx="84">
                    <c:v>26 Mar</c:v>
                  </c:pt>
                  <c:pt idx="85">
                    <c:v>27 Mar</c:v>
                  </c:pt>
                  <c:pt idx="86">
                    <c:v>28 Mar</c:v>
                  </c:pt>
                  <c:pt idx="87">
                    <c:v>29 Mar</c:v>
                  </c:pt>
                  <c:pt idx="88">
                    <c:v>30 Mar</c:v>
                  </c:pt>
                  <c:pt idx="89">
                    <c:v>31 Mar</c:v>
                  </c:pt>
                  <c:pt idx="90">
                    <c:v>01 Apr</c:v>
                  </c:pt>
                  <c:pt idx="91">
                    <c:v>02 Apr</c:v>
                  </c:pt>
                  <c:pt idx="92">
                    <c:v>03 Apr</c:v>
                  </c:pt>
                  <c:pt idx="93">
                    <c:v>04 Apr</c:v>
                  </c:pt>
                  <c:pt idx="94">
                    <c:v>05 Apr</c:v>
                  </c:pt>
                  <c:pt idx="95">
                    <c:v>06 Apr</c:v>
                  </c:pt>
                  <c:pt idx="96">
                    <c:v>07 Apr</c:v>
                  </c:pt>
                  <c:pt idx="97">
                    <c:v>08 Apr</c:v>
                  </c:pt>
                  <c:pt idx="98">
                    <c:v>09 Apr</c:v>
                  </c:pt>
                  <c:pt idx="99">
                    <c:v>10 Apr</c:v>
                  </c:pt>
                  <c:pt idx="100">
                    <c:v>11 Apr</c:v>
                  </c:pt>
                  <c:pt idx="101">
                    <c:v>12 Apr</c:v>
                  </c:pt>
                  <c:pt idx="102">
                    <c:v>13 Apr</c:v>
                  </c:pt>
                  <c:pt idx="103">
                    <c:v>14 Apr</c:v>
                  </c:pt>
                  <c:pt idx="104">
                    <c:v>15 Apr</c:v>
                  </c:pt>
                  <c:pt idx="105">
                    <c:v>16 Apr</c:v>
                  </c:pt>
                  <c:pt idx="106">
                    <c:v>17 Apr</c:v>
                  </c:pt>
                  <c:pt idx="107">
                    <c:v>18 Apr</c:v>
                  </c:pt>
                  <c:pt idx="108">
                    <c:v>19 Apr</c:v>
                  </c:pt>
                  <c:pt idx="109">
                    <c:v>20 Apr</c:v>
                  </c:pt>
                  <c:pt idx="110">
                    <c:v>21 Apr</c:v>
                  </c:pt>
                  <c:pt idx="111">
                    <c:v>22 Apr</c:v>
                  </c:pt>
                  <c:pt idx="112">
                    <c:v>23 Apr</c:v>
                  </c:pt>
                  <c:pt idx="113">
                    <c:v>24 Apr</c:v>
                  </c:pt>
                  <c:pt idx="114">
                    <c:v>25 Apr</c:v>
                  </c:pt>
                  <c:pt idx="115">
                    <c:v>26 Apr</c:v>
                  </c:pt>
                  <c:pt idx="116">
                    <c:v>27 Apr</c:v>
                  </c:pt>
                  <c:pt idx="117">
                    <c:v>28 Apr</c:v>
                  </c:pt>
                  <c:pt idx="118">
                    <c:v>29 Apr</c:v>
                  </c:pt>
                  <c:pt idx="119">
                    <c:v>30 Apr</c:v>
                  </c:pt>
                  <c:pt idx="120">
                    <c:v>01 May</c:v>
                  </c:pt>
                  <c:pt idx="121">
                    <c:v>02 May</c:v>
                  </c:pt>
                  <c:pt idx="122">
                    <c:v>03 May</c:v>
                  </c:pt>
                  <c:pt idx="123">
                    <c:v>04 May</c:v>
                  </c:pt>
                  <c:pt idx="124">
                    <c:v>05 May</c:v>
                  </c:pt>
                  <c:pt idx="125">
                    <c:v>06 May</c:v>
                  </c:pt>
                  <c:pt idx="126">
                    <c:v>07 May</c:v>
                  </c:pt>
                  <c:pt idx="127">
                    <c:v>08 May</c:v>
                  </c:pt>
                  <c:pt idx="128">
                    <c:v>09 May</c:v>
                  </c:pt>
                  <c:pt idx="129">
                    <c:v>10 May</c:v>
                  </c:pt>
                  <c:pt idx="130">
                    <c:v>11 May</c:v>
                  </c:pt>
                  <c:pt idx="131">
                    <c:v>12 May</c:v>
                  </c:pt>
                  <c:pt idx="132">
                    <c:v>13 May</c:v>
                  </c:pt>
                  <c:pt idx="133">
                    <c:v>14 May</c:v>
                  </c:pt>
                  <c:pt idx="134">
                    <c:v>15 May</c:v>
                  </c:pt>
                  <c:pt idx="135">
                    <c:v>16 May</c:v>
                  </c:pt>
                  <c:pt idx="136">
                    <c:v>17 May</c:v>
                  </c:pt>
                  <c:pt idx="137">
                    <c:v>18 May</c:v>
                  </c:pt>
                  <c:pt idx="138">
                    <c:v>19 May</c:v>
                  </c:pt>
                  <c:pt idx="139">
                    <c:v>20 May</c:v>
                  </c:pt>
                  <c:pt idx="140">
                    <c:v>21 May</c:v>
                  </c:pt>
                  <c:pt idx="141">
                    <c:v>22 May</c:v>
                  </c:pt>
                  <c:pt idx="142">
                    <c:v>23 May</c:v>
                  </c:pt>
                  <c:pt idx="143">
                    <c:v>24 May</c:v>
                  </c:pt>
                  <c:pt idx="144">
                    <c:v>25 May</c:v>
                  </c:pt>
                  <c:pt idx="145">
                    <c:v>26 May</c:v>
                  </c:pt>
                  <c:pt idx="146">
                    <c:v>27 May</c:v>
                  </c:pt>
                  <c:pt idx="147">
                    <c:v>28 May</c:v>
                  </c:pt>
                </c:lvl>
              </c:multiLvlStrCache>
            </c:multiLvlStrRef>
          </c:cat>
          <c:val>
            <c:numRef>
              <c:f>Sheet1!$C$2:$C$149</c:f>
              <c:numCache>
                <c:formatCode>General</c:formatCode>
                <c:ptCount val="148"/>
                <c:pt idx="0">
                  <c:v>7343</c:v>
                </c:pt>
                <c:pt idx="1">
                  <c:v>7350</c:v>
                </c:pt>
                <c:pt idx="2">
                  <c:v>7271</c:v>
                </c:pt>
                <c:pt idx="3">
                  <c:v>7039</c:v>
                </c:pt>
                <c:pt idx="4">
                  <c:v>6772</c:v>
                </c:pt>
                <c:pt idx="5">
                  <c:v>6671</c:v>
                </c:pt>
                <c:pt idx="6">
                  <c:v>7214</c:v>
                </c:pt>
                <c:pt idx="7">
                  <c:v>7522</c:v>
                </c:pt>
                <c:pt idx="8">
                  <c:v>7485</c:v>
                </c:pt>
                <c:pt idx="9">
                  <c:v>7914</c:v>
                </c:pt>
                <c:pt idx="10">
                  <c:v>7399</c:v>
                </c:pt>
                <c:pt idx="11">
                  <c:v>7116</c:v>
                </c:pt>
                <c:pt idx="12">
                  <c:v>7196</c:v>
                </c:pt>
                <c:pt idx="13">
                  <c:v>7385</c:v>
                </c:pt>
                <c:pt idx="14">
                  <c:v>7207</c:v>
                </c:pt>
                <c:pt idx="15">
                  <c:v>7237</c:v>
                </c:pt>
                <c:pt idx="16">
                  <c:v>7552</c:v>
                </c:pt>
                <c:pt idx="17">
                  <c:v>7214</c:v>
                </c:pt>
                <c:pt idx="18">
                  <c:v>6638</c:v>
                </c:pt>
                <c:pt idx="19">
                  <c:v>6911</c:v>
                </c:pt>
                <c:pt idx="20">
                  <c:v>6998</c:v>
                </c:pt>
                <c:pt idx="21">
                  <c:v>7344</c:v>
                </c:pt>
                <c:pt idx="22">
                  <c:v>7397</c:v>
                </c:pt>
                <c:pt idx="23">
                  <c:v>7670</c:v>
                </c:pt>
                <c:pt idx="24">
                  <c:v>7071</c:v>
                </c:pt>
                <c:pt idx="25">
                  <c:v>6737</c:v>
                </c:pt>
                <c:pt idx="26">
                  <c:v>6717</c:v>
                </c:pt>
                <c:pt idx="27">
                  <c:v>7046</c:v>
                </c:pt>
                <c:pt idx="28">
                  <c:v>7162</c:v>
                </c:pt>
                <c:pt idx="29">
                  <c:v>7370</c:v>
                </c:pt>
                <c:pt idx="30">
                  <c:v>7689</c:v>
                </c:pt>
                <c:pt idx="31">
                  <c:v>7363</c:v>
                </c:pt>
                <c:pt idx="32">
                  <c:v>6840</c:v>
                </c:pt>
                <c:pt idx="33">
                  <c:v>6959</c:v>
                </c:pt>
                <c:pt idx="34">
                  <c:v>7345</c:v>
                </c:pt>
                <c:pt idx="35">
                  <c:v>7156</c:v>
                </c:pt>
                <c:pt idx="36">
                  <c:v>7178</c:v>
                </c:pt>
                <c:pt idx="37">
                  <c:v>7540</c:v>
                </c:pt>
                <c:pt idx="38">
                  <c:v>7308</c:v>
                </c:pt>
                <c:pt idx="39">
                  <c:v>7054</c:v>
                </c:pt>
                <c:pt idx="40">
                  <c:v>6004</c:v>
                </c:pt>
                <c:pt idx="41">
                  <c:v>6679</c:v>
                </c:pt>
                <c:pt idx="42">
                  <c:v>6064</c:v>
                </c:pt>
                <c:pt idx="43">
                  <c:v>5640</c:v>
                </c:pt>
                <c:pt idx="44">
                  <c:v>5280</c:v>
                </c:pt>
                <c:pt idx="45">
                  <c:v>4420</c:v>
                </c:pt>
                <c:pt idx="46">
                  <c:v>3550</c:v>
                </c:pt>
                <c:pt idx="47">
                  <c:v>5452</c:v>
                </c:pt>
                <c:pt idx="48">
                  <c:v>6596</c:v>
                </c:pt>
                <c:pt idx="49">
                  <c:v>7336</c:v>
                </c:pt>
                <c:pt idx="50">
                  <c:v>7740</c:v>
                </c:pt>
                <c:pt idx="51">
                  <c:v>8450</c:v>
                </c:pt>
                <c:pt idx="52">
                  <c:v>8353</c:v>
                </c:pt>
                <c:pt idx="53">
                  <c:v>7497</c:v>
                </c:pt>
                <c:pt idx="54">
                  <c:v>7038</c:v>
                </c:pt>
                <c:pt idx="55">
                  <c:v>7281</c:v>
                </c:pt>
                <c:pt idx="56">
                  <c:v>7362</c:v>
                </c:pt>
                <c:pt idx="57">
                  <c:v>7335</c:v>
                </c:pt>
                <c:pt idx="58">
                  <c:v>7197</c:v>
                </c:pt>
                <c:pt idx="59">
                  <c:v>7190</c:v>
                </c:pt>
                <c:pt idx="60">
                  <c:v>6765</c:v>
                </c:pt>
                <c:pt idx="61">
                  <c:v>6754</c:v>
                </c:pt>
                <c:pt idx="62">
                  <c:v>6736</c:v>
                </c:pt>
                <c:pt idx="63">
                  <c:v>6455</c:v>
                </c:pt>
                <c:pt idx="64">
                  <c:v>6831</c:v>
                </c:pt>
                <c:pt idx="65">
                  <c:v>7675</c:v>
                </c:pt>
                <c:pt idx="66">
                  <c:v>7137</c:v>
                </c:pt>
                <c:pt idx="67">
                  <c:v>6750</c:v>
                </c:pt>
                <c:pt idx="68">
                  <c:v>6844</c:v>
                </c:pt>
                <c:pt idx="69">
                  <c:v>6773</c:v>
                </c:pt>
                <c:pt idx="70">
                  <c:v>7258</c:v>
                </c:pt>
                <c:pt idx="71">
                  <c:v>7372</c:v>
                </c:pt>
                <c:pt idx="72">
                  <c:v>7869</c:v>
                </c:pt>
                <c:pt idx="73">
                  <c:v>7377</c:v>
                </c:pt>
                <c:pt idx="74">
                  <c:v>6843</c:v>
                </c:pt>
                <c:pt idx="75">
                  <c:v>6832</c:v>
                </c:pt>
                <c:pt idx="76">
                  <c:v>6772</c:v>
                </c:pt>
                <c:pt idx="77">
                  <c:v>7188</c:v>
                </c:pt>
                <c:pt idx="78">
                  <c:v>7476</c:v>
                </c:pt>
                <c:pt idx="79">
                  <c:v>7853</c:v>
                </c:pt>
                <c:pt idx="80">
                  <c:v>7266</c:v>
                </c:pt>
                <c:pt idx="81">
                  <c:v>6714</c:v>
                </c:pt>
                <c:pt idx="82">
                  <c:v>6722</c:v>
                </c:pt>
                <c:pt idx="83">
                  <c:v>6723</c:v>
                </c:pt>
                <c:pt idx="84">
                  <c:v>7130</c:v>
                </c:pt>
                <c:pt idx="85">
                  <c:v>7305</c:v>
                </c:pt>
                <c:pt idx="86">
                  <c:v>7651</c:v>
                </c:pt>
                <c:pt idx="87">
                  <c:v>6978</c:v>
                </c:pt>
                <c:pt idx="88">
                  <c:v>6240</c:v>
                </c:pt>
                <c:pt idx="89">
                  <c:v>6405</c:v>
                </c:pt>
                <c:pt idx="90">
                  <c:v>6491</c:v>
                </c:pt>
                <c:pt idx="91">
                  <c:v>6188</c:v>
                </c:pt>
                <c:pt idx="92">
                  <c:v>6694</c:v>
                </c:pt>
                <c:pt idx="93">
                  <c:v>7648</c:v>
                </c:pt>
                <c:pt idx="94">
                  <c:v>7119</c:v>
                </c:pt>
                <c:pt idx="95">
                  <c:v>6155</c:v>
                </c:pt>
                <c:pt idx="96">
                  <c:v>6079</c:v>
                </c:pt>
                <c:pt idx="97">
                  <c:v>6457</c:v>
                </c:pt>
                <c:pt idx="98">
                  <c:v>6555</c:v>
                </c:pt>
                <c:pt idx="99">
                  <c:v>6881</c:v>
                </c:pt>
                <c:pt idx="100">
                  <c:v>7444</c:v>
                </c:pt>
                <c:pt idx="101">
                  <c:v>7019</c:v>
                </c:pt>
                <c:pt idx="102">
                  <c:v>6557</c:v>
                </c:pt>
                <c:pt idx="103">
                  <c:v>6657</c:v>
                </c:pt>
                <c:pt idx="104">
                  <c:v>6804</c:v>
                </c:pt>
                <c:pt idx="105">
                  <c:v>7245</c:v>
                </c:pt>
                <c:pt idx="106">
                  <c:v>7268</c:v>
                </c:pt>
                <c:pt idx="107">
                  <c:v>7949</c:v>
                </c:pt>
                <c:pt idx="108">
                  <c:v>7424</c:v>
                </c:pt>
                <c:pt idx="109">
                  <c:v>6609</c:v>
                </c:pt>
                <c:pt idx="110">
                  <c:v>6652</c:v>
                </c:pt>
                <c:pt idx="111">
                  <c:v>6841</c:v>
                </c:pt>
                <c:pt idx="112">
                  <c:v>6966</c:v>
                </c:pt>
                <c:pt idx="113">
                  <c:v>7294</c:v>
                </c:pt>
                <c:pt idx="114">
                  <c:v>7804</c:v>
                </c:pt>
                <c:pt idx="115">
                  <c:v>7134</c:v>
                </c:pt>
                <c:pt idx="116">
                  <c:v>6661</c:v>
                </c:pt>
                <c:pt idx="117">
                  <c:v>6770</c:v>
                </c:pt>
                <c:pt idx="118">
                  <c:v>6752</c:v>
                </c:pt>
                <c:pt idx="119">
                  <c:v>6805</c:v>
                </c:pt>
                <c:pt idx="120">
                  <c:v>8112</c:v>
                </c:pt>
                <c:pt idx="121">
                  <c:v>8165</c:v>
                </c:pt>
                <c:pt idx="122">
                  <c:v>7507</c:v>
                </c:pt>
                <c:pt idx="123">
                  <c:v>7258</c:v>
                </c:pt>
                <c:pt idx="124">
                  <c:v>6788</c:v>
                </c:pt>
                <c:pt idx="125">
                  <c:v>6620</c:v>
                </c:pt>
                <c:pt idx="126">
                  <c:v>6749</c:v>
                </c:pt>
                <c:pt idx="127">
                  <c:v>6906</c:v>
                </c:pt>
                <c:pt idx="128">
                  <c:v>7018</c:v>
                </c:pt>
                <c:pt idx="129">
                  <c:v>7131</c:v>
                </c:pt>
                <c:pt idx="130">
                  <c:v>6547</c:v>
                </c:pt>
                <c:pt idx="131">
                  <c:v>6561</c:v>
                </c:pt>
                <c:pt idx="132">
                  <c:v>6787</c:v>
                </c:pt>
                <c:pt idx="133">
                  <c:v>7036</c:v>
                </c:pt>
                <c:pt idx="134">
                  <c:v>7192</c:v>
                </c:pt>
                <c:pt idx="135">
                  <c:v>7779</c:v>
                </c:pt>
                <c:pt idx="136">
                  <c:v>7197</c:v>
                </c:pt>
                <c:pt idx="137">
                  <c:v>6634</c:v>
                </c:pt>
                <c:pt idx="138">
                  <c:v>6638</c:v>
                </c:pt>
                <c:pt idx="139">
                  <c:v>6741</c:v>
                </c:pt>
                <c:pt idx="140">
                  <c:v>7054</c:v>
                </c:pt>
                <c:pt idx="141">
                  <c:v>7229</c:v>
                </c:pt>
                <c:pt idx="142">
                  <c:v>7788</c:v>
                </c:pt>
                <c:pt idx="143">
                  <c:v>7145</c:v>
                </c:pt>
                <c:pt idx="144">
                  <c:v>6685</c:v>
                </c:pt>
                <c:pt idx="145">
                  <c:v>6667</c:v>
                </c:pt>
                <c:pt idx="146">
                  <c:v>6616</c:v>
                </c:pt>
                <c:pt idx="147">
                  <c:v>6952</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900" b="0" i="0" u="none" strike="noStrike">
                <a:solidFill>
                  <a:srgbClr val="5F7183"/>
                </a:solidFill>
                <a:latin typeface="Calibri"/>
              </a:defRPr>
            </a:pPr>
            <a:endParaRPr lang="en-US"/>
          </a:p>
        </c:txPr>
        <c:crossAx val="2094734552"/>
        <c:crosses val="autoZero"/>
        <c:auto val="1"/>
        <c:lblAlgn val="ctr"/>
        <c:noMultiLvlLbl val="1"/>
        <c:tickLblSkip val="12"/>
      </c:catAx>
      <c:valAx>
        <c:axId val="2094734552"/>
        <c:scaling>
          <c:orientation val="minMax"/>
          <c:min val="0"/>
        </c:scaling>
        <c:delete val="0"/>
        <c:axPos val="l"/>
        <c:majorGridlines>
          <c:spPr>
            <a:ln w="1270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7183"/>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c:v>
                </c:pt>
              </c:strCache>
            </c:strRef>
          </c:tx>
          <c:spPr>
            <a:solidFill>
              <a:srgbClr val="0F2942"/>
            </a:solidFill>
            <a:ln w="31750" cap="flat">
              <a:solidFill>
                <a:srgbClr val="0F294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2942"/>
              </a:solidFill>
              <a:ln w="9525" cap="flat">
                <a:solidFill>
                  <a:srgbClr val="0F2942"/>
                </a:solidFill>
                <a:prstDash val="solid"/>
                <a:round/>
              </a:ln>
              <a:effectLst/>
            </c:spPr>
          </c:marker>
          <c:cat>
            <c:multiLvlStrRef>
              <c:f>Sheet1!$A$2:$A$149</c:f>
              <c:multiLvlStrCache>
                <c:ptCount val="148"/>
                <c:lvl>
                  <c:pt idx="0">
                    <c:v>01 Jan</c:v>
                  </c:pt>
                  <c:pt idx="1">
                    <c:v>02 Jan</c:v>
                  </c:pt>
                  <c:pt idx="2">
                    <c:v>03 Jan</c:v>
                  </c:pt>
                  <c:pt idx="3">
                    <c:v>04 Jan</c:v>
                  </c:pt>
                  <c:pt idx="4">
                    <c:v>05 Jan</c:v>
                  </c:pt>
                  <c:pt idx="5">
                    <c:v>06 Jan</c:v>
                  </c:pt>
                  <c:pt idx="6">
                    <c:v>07 Jan</c:v>
                  </c:pt>
                  <c:pt idx="7">
                    <c:v>08 Jan</c:v>
                  </c:pt>
                  <c:pt idx="8">
                    <c:v>09 Jan</c:v>
                  </c:pt>
                  <c:pt idx="9">
                    <c:v>10 Jan</c:v>
                  </c:pt>
                  <c:pt idx="10">
                    <c:v>11 Jan</c:v>
                  </c:pt>
                  <c:pt idx="11">
                    <c:v>12 Jan</c:v>
                  </c:pt>
                  <c:pt idx="12">
                    <c:v>13 Jan</c:v>
                  </c:pt>
                  <c:pt idx="13">
                    <c:v>14 Jan</c:v>
                  </c:pt>
                  <c:pt idx="14">
                    <c:v>15 Jan</c:v>
                  </c:pt>
                  <c:pt idx="15">
                    <c:v>16 Jan</c:v>
                  </c:pt>
                  <c:pt idx="16">
                    <c:v>17 Jan</c:v>
                  </c:pt>
                  <c:pt idx="17">
                    <c:v>18 Jan</c:v>
                  </c:pt>
                  <c:pt idx="18">
                    <c:v>19 Jan</c:v>
                  </c:pt>
                  <c:pt idx="19">
                    <c:v>20 Jan</c:v>
                  </c:pt>
                  <c:pt idx="20">
                    <c:v>21 Jan</c:v>
                  </c:pt>
                  <c:pt idx="21">
                    <c:v>22 Jan</c:v>
                  </c:pt>
                  <c:pt idx="22">
                    <c:v>23 Jan</c:v>
                  </c:pt>
                  <c:pt idx="23">
                    <c:v>24 Jan</c:v>
                  </c:pt>
                  <c:pt idx="24">
                    <c:v>25 Jan</c:v>
                  </c:pt>
                  <c:pt idx="25">
                    <c:v>26 Jan</c:v>
                  </c:pt>
                  <c:pt idx="26">
                    <c:v>27 Jan</c:v>
                  </c:pt>
                  <c:pt idx="27">
                    <c:v>28 Jan</c:v>
                  </c:pt>
                  <c:pt idx="28">
                    <c:v>29 Jan</c:v>
                  </c:pt>
                  <c:pt idx="29">
                    <c:v>30 Jan</c:v>
                  </c:pt>
                  <c:pt idx="30">
                    <c:v>31 Jan</c:v>
                  </c:pt>
                  <c:pt idx="31">
                    <c:v>01 Feb</c:v>
                  </c:pt>
                  <c:pt idx="32">
                    <c:v>02 Feb</c:v>
                  </c:pt>
                  <c:pt idx="33">
                    <c:v>03 Feb</c:v>
                  </c:pt>
                  <c:pt idx="34">
                    <c:v>04 Feb</c:v>
                  </c:pt>
                  <c:pt idx="35">
                    <c:v>05 Feb</c:v>
                  </c:pt>
                  <c:pt idx="36">
                    <c:v>06 Feb</c:v>
                  </c:pt>
                  <c:pt idx="37">
                    <c:v>07 Feb</c:v>
                  </c:pt>
                  <c:pt idx="38">
                    <c:v>08 Feb</c:v>
                  </c:pt>
                  <c:pt idx="39">
                    <c:v>09 Feb</c:v>
                  </c:pt>
                  <c:pt idx="40">
                    <c:v>10 Feb</c:v>
                  </c:pt>
                  <c:pt idx="41">
                    <c:v>11 Feb</c:v>
                  </c:pt>
                  <c:pt idx="42">
                    <c:v>12 Feb</c:v>
                  </c:pt>
                  <c:pt idx="43">
                    <c:v>13 Feb</c:v>
                  </c:pt>
                  <c:pt idx="44">
                    <c:v>14 Feb</c:v>
                  </c:pt>
                  <c:pt idx="45">
                    <c:v>15 Feb</c:v>
                  </c:pt>
                  <c:pt idx="46">
                    <c:v>16 Feb</c:v>
                  </c:pt>
                  <c:pt idx="47">
                    <c:v>17 Feb</c:v>
                  </c:pt>
                  <c:pt idx="48">
                    <c:v>18 Feb</c:v>
                  </c:pt>
                  <c:pt idx="49">
                    <c:v>19 Feb</c:v>
                  </c:pt>
                  <c:pt idx="50">
                    <c:v>20 Feb</c:v>
                  </c:pt>
                  <c:pt idx="51">
                    <c:v>21 Feb</c:v>
                  </c:pt>
                  <c:pt idx="52">
                    <c:v>22 Feb</c:v>
                  </c:pt>
                  <c:pt idx="53">
                    <c:v>23 Feb</c:v>
                  </c:pt>
                  <c:pt idx="54">
                    <c:v>24 Feb</c:v>
                  </c:pt>
                  <c:pt idx="55">
                    <c:v>25 Feb</c:v>
                  </c:pt>
                  <c:pt idx="56">
                    <c:v>26 Feb</c:v>
                  </c:pt>
                  <c:pt idx="57">
                    <c:v>27 Feb</c:v>
                  </c:pt>
                  <c:pt idx="58">
                    <c:v>28 Feb</c:v>
                  </c:pt>
                  <c:pt idx="59">
                    <c:v>01 Mar</c:v>
                  </c:pt>
                  <c:pt idx="60">
                    <c:v>02 Mar</c:v>
                  </c:pt>
                  <c:pt idx="61">
                    <c:v>03 Mar</c:v>
                  </c:pt>
                  <c:pt idx="62">
                    <c:v>04 Mar</c:v>
                  </c:pt>
                  <c:pt idx="63">
                    <c:v>05 Mar</c:v>
                  </c:pt>
                  <c:pt idx="64">
                    <c:v>06 Mar</c:v>
                  </c:pt>
                  <c:pt idx="65">
                    <c:v>07 Mar</c:v>
                  </c:pt>
                  <c:pt idx="66">
                    <c:v>08 Mar</c:v>
                  </c:pt>
                  <c:pt idx="67">
                    <c:v>09 Mar</c:v>
                  </c:pt>
                  <c:pt idx="68">
                    <c:v>10 Mar</c:v>
                  </c:pt>
                  <c:pt idx="69">
                    <c:v>11 Mar</c:v>
                  </c:pt>
                  <c:pt idx="70">
                    <c:v>12 Mar</c:v>
                  </c:pt>
                  <c:pt idx="71">
                    <c:v>13 Mar</c:v>
                  </c:pt>
                  <c:pt idx="72">
                    <c:v>14 Mar</c:v>
                  </c:pt>
                  <c:pt idx="73">
                    <c:v>15 Mar</c:v>
                  </c:pt>
                  <c:pt idx="74">
                    <c:v>16 Mar</c:v>
                  </c:pt>
                  <c:pt idx="75">
                    <c:v>17 Mar</c:v>
                  </c:pt>
                  <c:pt idx="76">
                    <c:v>18 Mar</c:v>
                  </c:pt>
                  <c:pt idx="77">
                    <c:v>19 Mar</c:v>
                  </c:pt>
                  <c:pt idx="78">
                    <c:v>20 Mar</c:v>
                  </c:pt>
                  <c:pt idx="79">
                    <c:v>21 Mar</c:v>
                  </c:pt>
                  <c:pt idx="80">
                    <c:v>22 Mar</c:v>
                  </c:pt>
                  <c:pt idx="81">
                    <c:v>23 Mar</c:v>
                  </c:pt>
                  <c:pt idx="82">
                    <c:v>24 Mar</c:v>
                  </c:pt>
                  <c:pt idx="83">
                    <c:v>25 Mar</c:v>
                  </c:pt>
                  <c:pt idx="84">
                    <c:v>26 Mar</c:v>
                  </c:pt>
                  <c:pt idx="85">
                    <c:v>27 Mar</c:v>
                  </c:pt>
                  <c:pt idx="86">
                    <c:v>28 Mar</c:v>
                  </c:pt>
                  <c:pt idx="87">
                    <c:v>29 Mar</c:v>
                  </c:pt>
                  <c:pt idx="88">
                    <c:v>30 Mar</c:v>
                  </c:pt>
                  <c:pt idx="89">
                    <c:v>31 Mar</c:v>
                  </c:pt>
                  <c:pt idx="90">
                    <c:v>01 Apr</c:v>
                  </c:pt>
                  <c:pt idx="91">
                    <c:v>02 Apr</c:v>
                  </c:pt>
                  <c:pt idx="92">
                    <c:v>03 Apr</c:v>
                  </c:pt>
                  <c:pt idx="93">
                    <c:v>04 Apr</c:v>
                  </c:pt>
                  <c:pt idx="94">
                    <c:v>05 Apr</c:v>
                  </c:pt>
                  <c:pt idx="95">
                    <c:v>06 Apr</c:v>
                  </c:pt>
                  <c:pt idx="96">
                    <c:v>07 Apr</c:v>
                  </c:pt>
                  <c:pt idx="97">
                    <c:v>08 Apr</c:v>
                  </c:pt>
                  <c:pt idx="98">
                    <c:v>09 Apr</c:v>
                  </c:pt>
                  <c:pt idx="99">
                    <c:v>10 Apr</c:v>
                  </c:pt>
                  <c:pt idx="100">
                    <c:v>11 Apr</c:v>
                  </c:pt>
                  <c:pt idx="101">
                    <c:v>12 Apr</c:v>
                  </c:pt>
                  <c:pt idx="102">
                    <c:v>13 Apr</c:v>
                  </c:pt>
                  <c:pt idx="103">
                    <c:v>14 Apr</c:v>
                  </c:pt>
                  <c:pt idx="104">
                    <c:v>15 Apr</c:v>
                  </c:pt>
                  <c:pt idx="105">
                    <c:v>16 Apr</c:v>
                  </c:pt>
                  <c:pt idx="106">
                    <c:v>17 Apr</c:v>
                  </c:pt>
                  <c:pt idx="107">
                    <c:v>18 Apr</c:v>
                  </c:pt>
                  <c:pt idx="108">
                    <c:v>19 Apr</c:v>
                  </c:pt>
                  <c:pt idx="109">
                    <c:v>20 Apr</c:v>
                  </c:pt>
                  <c:pt idx="110">
                    <c:v>21 Apr</c:v>
                  </c:pt>
                  <c:pt idx="111">
                    <c:v>22 Apr</c:v>
                  </c:pt>
                  <c:pt idx="112">
                    <c:v>23 Apr</c:v>
                  </c:pt>
                  <c:pt idx="113">
                    <c:v>24 Apr</c:v>
                  </c:pt>
                  <c:pt idx="114">
                    <c:v>25 Apr</c:v>
                  </c:pt>
                  <c:pt idx="115">
                    <c:v>26 Apr</c:v>
                  </c:pt>
                  <c:pt idx="116">
                    <c:v>27 Apr</c:v>
                  </c:pt>
                  <c:pt idx="117">
                    <c:v>28 Apr</c:v>
                  </c:pt>
                  <c:pt idx="118">
                    <c:v>29 Apr</c:v>
                  </c:pt>
                  <c:pt idx="119">
                    <c:v>30 Apr</c:v>
                  </c:pt>
                  <c:pt idx="120">
                    <c:v>01 May</c:v>
                  </c:pt>
                  <c:pt idx="121">
                    <c:v>02 May</c:v>
                  </c:pt>
                  <c:pt idx="122">
                    <c:v>03 May</c:v>
                  </c:pt>
                  <c:pt idx="123">
                    <c:v>04 May</c:v>
                  </c:pt>
                  <c:pt idx="124">
                    <c:v>05 May</c:v>
                  </c:pt>
                  <c:pt idx="125">
                    <c:v>06 May</c:v>
                  </c:pt>
                  <c:pt idx="126">
                    <c:v>07 May</c:v>
                  </c:pt>
                  <c:pt idx="127">
                    <c:v>08 May</c:v>
                  </c:pt>
                  <c:pt idx="128">
                    <c:v>09 May</c:v>
                  </c:pt>
                  <c:pt idx="129">
                    <c:v>10 May</c:v>
                  </c:pt>
                  <c:pt idx="130">
                    <c:v>11 May</c:v>
                  </c:pt>
                  <c:pt idx="131">
                    <c:v>12 May</c:v>
                  </c:pt>
                  <c:pt idx="132">
                    <c:v>13 May</c:v>
                  </c:pt>
                  <c:pt idx="133">
                    <c:v>14 May</c:v>
                  </c:pt>
                  <c:pt idx="134">
                    <c:v>15 May</c:v>
                  </c:pt>
                  <c:pt idx="135">
                    <c:v>16 May</c:v>
                  </c:pt>
                  <c:pt idx="136">
                    <c:v>17 May</c:v>
                  </c:pt>
                  <c:pt idx="137">
                    <c:v>18 May</c:v>
                  </c:pt>
                  <c:pt idx="138">
                    <c:v>19 May</c:v>
                  </c:pt>
                  <c:pt idx="139">
                    <c:v>20 May</c:v>
                  </c:pt>
                  <c:pt idx="140">
                    <c:v>21 May</c:v>
                  </c:pt>
                  <c:pt idx="141">
                    <c:v>22 May</c:v>
                  </c:pt>
                  <c:pt idx="142">
                    <c:v>23 May</c:v>
                  </c:pt>
                  <c:pt idx="143">
                    <c:v>24 May</c:v>
                  </c:pt>
                  <c:pt idx="144">
                    <c:v>25 May</c:v>
                  </c:pt>
                  <c:pt idx="145">
                    <c:v>26 May</c:v>
                  </c:pt>
                  <c:pt idx="146">
                    <c:v>27 May</c:v>
                  </c:pt>
                  <c:pt idx="147">
                    <c:v>28 May</c:v>
                  </c:pt>
                </c:lvl>
              </c:multiLvlStrCache>
            </c:multiLvlStrRef>
          </c:cat>
          <c:val>
            <c:numRef>
              <c:f>Sheet1!$B$2:$B$149</c:f>
              <c:numCache>
                <c:formatCode>General</c:formatCode>
                <c:ptCount val="148"/>
                <c:pt idx="0">
                  <c:v>8575</c:v>
                </c:pt>
                <c:pt idx="1">
                  <c:v>8139</c:v>
                </c:pt>
                <c:pt idx="2">
                  <c:v>7427</c:v>
                </c:pt>
                <c:pt idx="3">
                  <c:v>7185</c:v>
                </c:pt>
                <c:pt idx="4">
                  <c:v>6956</c:v>
                </c:pt>
                <c:pt idx="5">
                  <c:v>7450</c:v>
                </c:pt>
                <c:pt idx="6">
                  <c:v>7838</c:v>
                </c:pt>
                <c:pt idx="7">
                  <c:v>7573</c:v>
                </c:pt>
                <c:pt idx="8">
                  <c:v>7618</c:v>
                </c:pt>
                <c:pt idx="9">
                  <c:v>8129</c:v>
                </c:pt>
                <c:pt idx="10">
                  <c:v>7581</c:v>
                </c:pt>
                <c:pt idx="11">
                  <c:v>7155</c:v>
                </c:pt>
                <c:pt idx="12">
                  <c:v>7364</c:v>
                </c:pt>
                <c:pt idx="13">
                  <c:v>7456</c:v>
                </c:pt>
                <c:pt idx="14">
                  <c:v>7300</c:v>
                </c:pt>
                <c:pt idx="15">
                  <c:v>7527</c:v>
                </c:pt>
                <c:pt idx="16">
                  <c:v>7859</c:v>
                </c:pt>
                <c:pt idx="17">
                  <c:v>7561</c:v>
                </c:pt>
                <c:pt idx="18">
                  <c:v>6881</c:v>
                </c:pt>
                <c:pt idx="19">
                  <c:v>7234</c:v>
                </c:pt>
                <c:pt idx="20">
                  <c:v>7520</c:v>
                </c:pt>
                <c:pt idx="21">
                  <c:v>7494</c:v>
                </c:pt>
                <c:pt idx="22">
                  <c:v>7809</c:v>
                </c:pt>
                <c:pt idx="23">
                  <c:v>7915</c:v>
                </c:pt>
                <c:pt idx="24">
                  <c:v>7586</c:v>
                </c:pt>
                <c:pt idx="25">
                  <c:v>7011</c:v>
                </c:pt>
                <c:pt idx="26">
                  <c:v>7119</c:v>
                </c:pt>
                <c:pt idx="27">
                  <c:v>7444</c:v>
                </c:pt>
                <c:pt idx="28">
                  <c:v>7280</c:v>
                </c:pt>
                <c:pt idx="29">
                  <c:v>7433</c:v>
                </c:pt>
                <c:pt idx="30">
                  <c:v>8150</c:v>
                </c:pt>
                <c:pt idx="31">
                  <c:v>7599</c:v>
                </c:pt>
                <c:pt idx="32">
                  <c:v>6868</c:v>
                </c:pt>
                <c:pt idx="33">
                  <c:v>6784</c:v>
                </c:pt>
                <c:pt idx="34">
                  <c:v>7017</c:v>
                </c:pt>
                <c:pt idx="35">
                  <c:v>7140</c:v>
                </c:pt>
                <c:pt idx="36">
                  <c:v>7672</c:v>
                </c:pt>
                <c:pt idx="37">
                  <c:v>7962</c:v>
                </c:pt>
                <c:pt idx="38">
                  <c:v>7270</c:v>
                </c:pt>
                <c:pt idx="39">
                  <c:v>6335</c:v>
                </c:pt>
                <c:pt idx="40">
                  <c:v>6202</c:v>
                </c:pt>
                <c:pt idx="41">
                  <c:v>5613</c:v>
                </c:pt>
                <c:pt idx="42">
                  <c:v>5468</c:v>
                </c:pt>
                <c:pt idx="43">
                  <c:v>5134</c:v>
                </c:pt>
                <c:pt idx="44">
                  <c:v>4464</c:v>
                </c:pt>
                <c:pt idx="45">
                  <c:v>3936</c:v>
                </c:pt>
                <c:pt idx="46">
                  <c:v>3518</c:v>
                </c:pt>
                <c:pt idx="47">
                  <c:v>5271</c:v>
                </c:pt>
                <c:pt idx="48">
                  <c:v>6585</c:v>
                </c:pt>
                <c:pt idx="49">
                  <c:v>7980</c:v>
                </c:pt>
                <c:pt idx="50">
                  <c:v>7881</c:v>
                </c:pt>
                <c:pt idx="51">
                  <c:v>7988</c:v>
                </c:pt>
                <c:pt idx="52">
                  <c:v>7699</c:v>
                </c:pt>
                <c:pt idx="53">
                  <c:v>7073</c:v>
                </c:pt>
                <c:pt idx="54">
                  <c:v>6813</c:v>
                </c:pt>
                <c:pt idx="55">
                  <c:v>6644</c:v>
                </c:pt>
                <c:pt idx="56">
                  <c:v>7120</c:v>
                </c:pt>
                <c:pt idx="57">
                  <c:v>7451</c:v>
                </c:pt>
                <c:pt idx="58">
                  <c:v>7436</c:v>
                </c:pt>
                <c:pt idx="59">
                  <c:v>7091</c:v>
                </c:pt>
                <c:pt idx="60">
                  <c:v>6255</c:v>
                </c:pt>
                <c:pt idx="61">
                  <c:v>5836</c:v>
                </c:pt>
                <c:pt idx="62">
                  <c:v>5808</c:v>
                </c:pt>
                <c:pt idx="63">
                  <c:v>6099</c:v>
                </c:pt>
                <c:pt idx="64">
                  <c:v>6804</c:v>
                </c:pt>
                <c:pt idx="65">
                  <c:v>7626</c:v>
                </c:pt>
                <c:pt idx="66">
                  <c:v>7092</c:v>
                </c:pt>
                <c:pt idx="67">
                  <c:v>6789</c:v>
                </c:pt>
                <c:pt idx="68">
                  <c:v>6851</c:v>
                </c:pt>
                <c:pt idx="69">
                  <c:v>6909</c:v>
                </c:pt>
                <c:pt idx="70">
                  <c:v>6995</c:v>
                </c:pt>
                <c:pt idx="71">
                  <c:v>7478</c:v>
                </c:pt>
                <c:pt idx="72">
                  <c:v>8041</c:v>
                </c:pt>
                <c:pt idx="73">
                  <c:v>7248</c:v>
                </c:pt>
                <c:pt idx="74">
                  <c:v>6605</c:v>
                </c:pt>
                <c:pt idx="75">
                  <c:v>7018</c:v>
                </c:pt>
                <c:pt idx="76">
                  <c:v>7236</c:v>
                </c:pt>
                <c:pt idx="77">
                  <c:v>7244</c:v>
                </c:pt>
                <c:pt idx="78">
                  <c:v>7336</c:v>
                </c:pt>
                <c:pt idx="79">
                  <c:v>7576</c:v>
                </c:pt>
                <c:pt idx="80">
                  <c:v>6941</c:v>
                </c:pt>
                <c:pt idx="81">
                  <c:v>6779</c:v>
                </c:pt>
                <c:pt idx="82">
                  <c:v>6916</c:v>
                </c:pt>
                <c:pt idx="83">
                  <c:v>6997</c:v>
                </c:pt>
                <c:pt idx="84">
                  <c:v>6924</c:v>
                </c:pt>
                <c:pt idx="85">
                  <c:v>6814</c:v>
                </c:pt>
                <c:pt idx="86">
                  <c:v>7429</c:v>
                </c:pt>
                <c:pt idx="87">
                  <c:v>7101</c:v>
                </c:pt>
                <c:pt idx="88">
                  <c:v>6459</c:v>
                </c:pt>
                <c:pt idx="89">
                  <c:v>6022</c:v>
                </c:pt>
                <c:pt idx="90">
                  <c:v>6286</c:v>
                </c:pt>
                <c:pt idx="91">
                  <c:v>6375</c:v>
                </c:pt>
                <c:pt idx="92">
                  <c:v>6704</c:v>
                </c:pt>
                <c:pt idx="93">
                  <c:v>6754</c:v>
                </c:pt>
                <c:pt idx="94">
                  <c:v>7075</c:v>
                </c:pt>
                <c:pt idx="95">
                  <c:v>6349</c:v>
                </c:pt>
                <c:pt idx="96">
                  <c:v>6310</c:v>
                </c:pt>
                <c:pt idx="97">
                  <c:v>6629</c:v>
                </c:pt>
                <c:pt idx="98">
                  <c:v>6709</c:v>
                </c:pt>
                <c:pt idx="99">
                  <c:v>7046</c:v>
                </c:pt>
                <c:pt idx="100">
                  <c:v>7719</c:v>
                </c:pt>
                <c:pt idx="101">
                  <c:v>7188</c:v>
                </c:pt>
                <c:pt idx="102">
                  <c:v>6645</c:v>
                </c:pt>
                <c:pt idx="103">
                  <c:v>7135</c:v>
                </c:pt>
                <c:pt idx="104">
                  <c:v>7167</c:v>
                </c:pt>
                <c:pt idx="105">
                  <c:v>7122</c:v>
                </c:pt>
                <c:pt idx="106">
                  <c:v>7299</c:v>
                </c:pt>
                <c:pt idx="107">
                  <c:v>7958</c:v>
                </c:pt>
                <c:pt idx="108">
                  <c:v>7374</c:v>
                </c:pt>
                <c:pt idx="109">
                  <c:v>6813</c:v>
                </c:pt>
                <c:pt idx="110">
                  <c:v>7027</c:v>
                </c:pt>
                <c:pt idx="111">
                  <c:v>7141</c:v>
                </c:pt>
                <c:pt idx="112">
                  <c:v>7310</c:v>
                </c:pt>
                <c:pt idx="113">
                  <c:v>7058</c:v>
                </c:pt>
                <c:pt idx="114">
                  <c:v>7699</c:v>
                </c:pt>
                <c:pt idx="115">
                  <c:v>6881</c:v>
                </c:pt>
                <c:pt idx="116">
                  <c:v>6179</c:v>
                </c:pt>
                <c:pt idx="117">
                  <c:v>6576</c:v>
                </c:pt>
                <c:pt idx="118">
                  <c:v>6408</c:v>
                </c:pt>
                <c:pt idx="119">
                  <c:v>7108</c:v>
                </c:pt>
                <c:pt idx="120">
                  <c:v>8653</c:v>
                </c:pt>
                <c:pt idx="121">
                  <c:v>8249</c:v>
                </c:pt>
                <c:pt idx="122">
                  <c:v>7780</c:v>
                </c:pt>
                <c:pt idx="123">
                  <c:v>7153</c:v>
                </c:pt>
                <c:pt idx="124">
                  <c:v>6694</c:v>
                </c:pt>
                <c:pt idx="125">
                  <c:v>6063</c:v>
                </c:pt>
                <c:pt idx="126">
                  <c:v>6236</c:v>
                </c:pt>
                <c:pt idx="127">
                  <c:v>6738</c:v>
                </c:pt>
                <c:pt idx="128">
                  <c:v>7120</c:v>
                </c:pt>
                <c:pt idx="129">
                  <c:v>6714</c:v>
                </c:pt>
                <c:pt idx="130">
                  <c:v>6780</c:v>
                </c:pt>
                <c:pt idx="131">
                  <c:v>6903</c:v>
                </c:pt>
                <c:pt idx="132">
                  <c:v>6671</c:v>
                </c:pt>
                <c:pt idx="133">
                  <c:v>6955</c:v>
                </c:pt>
                <c:pt idx="134">
                  <c:v>6995</c:v>
                </c:pt>
                <c:pt idx="135">
                  <c:v>7815</c:v>
                </c:pt>
                <c:pt idx="136">
                  <c:v>7158</c:v>
                </c:pt>
                <c:pt idx="137">
                  <c:v>6839</c:v>
                </c:pt>
                <c:pt idx="138">
                  <c:v>6924</c:v>
                </c:pt>
                <c:pt idx="139">
                  <c:v>6769</c:v>
                </c:pt>
                <c:pt idx="140">
                  <c:v>6588</c:v>
                </c:pt>
                <c:pt idx="141">
                  <c:v>6874</c:v>
                </c:pt>
                <c:pt idx="142">
                  <c:v>7710</c:v>
                </c:pt>
                <c:pt idx="143">
                  <c:v>7045</c:v>
                </c:pt>
                <c:pt idx="144">
                  <c:v>6625</c:v>
                </c:pt>
                <c:pt idx="145">
                  <c:v>6877</c:v>
                </c:pt>
                <c:pt idx="146">
                  <c:v>7120</c:v>
                </c:pt>
                <c:pt idx="147">
                  <c:v>6993</c:v>
                </c:pt>
              </c:numCache>
            </c:numRef>
          </c:val>
          <c:smooth val="1"/>
        </c:ser>
        <c:ser>
          <c:idx val="1"/>
          <c:order val="1"/>
          <c:tx>
            <c:strRef>
              <c:f>Sheet1!$C$1</c:f>
              <c:strCache>
                <c:ptCount val="1"/>
                <c:pt idx="0">
                  <c:v>forecast</c:v>
                </c:pt>
              </c:strCache>
            </c:strRef>
          </c:tx>
          <c:spPr>
            <a:solidFill>
              <a:srgbClr val="2E8BA8"/>
            </a:solidFill>
            <a:ln w="31750" cap="flat">
              <a:solidFill>
                <a:srgbClr val="2E8B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8BA8"/>
              </a:solidFill>
              <a:ln w="9525" cap="flat">
                <a:solidFill>
                  <a:srgbClr val="2E8BA8"/>
                </a:solidFill>
                <a:prstDash val="solid"/>
                <a:round/>
              </a:ln>
              <a:effectLst/>
            </c:spPr>
          </c:marker>
          <c:cat>
            <c:multiLvlStrRef>
              <c:f>Sheet1!$A$2:$A$149</c:f>
              <c:multiLvlStrCache>
                <c:ptCount val="148"/>
                <c:lvl>
                  <c:pt idx="0">
                    <c:v>01 Jan</c:v>
                  </c:pt>
                  <c:pt idx="1">
                    <c:v>02 Jan</c:v>
                  </c:pt>
                  <c:pt idx="2">
                    <c:v>03 Jan</c:v>
                  </c:pt>
                  <c:pt idx="3">
                    <c:v>04 Jan</c:v>
                  </c:pt>
                  <c:pt idx="4">
                    <c:v>05 Jan</c:v>
                  </c:pt>
                  <c:pt idx="5">
                    <c:v>06 Jan</c:v>
                  </c:pt>
                  <c:pt idx="6">
                    <c:v>07 Jan</c:v>
                  </c:pt>
                  <c:pt idx="7">
                    <c:v>08 Jan</c:v>
                  </c:pt>
                  <c:pt idx="8">
                    <c:v>09 Jan</c:v>
                  </c:pt>
                  <c:pt idx="9">
                    <c:v>10 Jan</c:v>
                  </c:pt>
                  <c:pt idx="10">
                    <c:v>11 Jan</c:v>
                  </c:pt>
                  <c:pt idx="11">
                    <c:v>12 Jan</c:v>
                  </c:pt>
                  <c:pt idx="12">
                    <c:v>13 Jan</c:v>
                  </c:pt>
                  <c:pt idx="13">
                    <c:v>14 Jan</c:v>
                  </c:pt>
                  <c:pt idx="14">
                    <c:v>15 Jan</c:v>
                  </c:pt>
                  <c:pt idx="15">
                    <c:v>16 Jan</c:v>
                  </c:pt>
                  <c:pt idx="16">
                    <c:v>17 Jan</c:v>
                  </c:pt>
                  <c:pt idx="17">
                    <c:v>18 Jan</c:v>
                  </c:pt>
                  <c:pt idx="18">
                    <c:v>19 Jan</c:v>
                  </c:pt>
                  <c:pt idx="19">
                    <c:v>20 Jan</c:v>
                  </c:pt>
                  <c:pt idx="20">
                    <c:v>21 Jan</c:v>
                  </c:pt>
                  <c:pt idx="21">
                    <c:v>22 Jan</c:v>
                  </c:pt>
                  <c:pt idx="22">
                    <c:v>23 Jan</c:v>
                  </c:pt>
                  <c:pt idx="23">
                    <c:v>24 Jan</c:v>
                  </c:pt>
                  <c:pt idx="24">
                    <c:v>25 Jan</c:v>
                  </c:pt>
                  <c:pt idx="25">
                    <c:v>26 Jan</c:v>
                  </c:pt>
                  <c:pt idx="26">
                    <c:v>27 Jan</c:v>
                  </c:pt>
                  <c:pt idx="27">
                    <c:v>28 Jan</c:v>
                  </c:pt>
                  <c:pt idx="28">
                    <c:v>29 Jan</c:v>
                  </c:pt>
                  <c:pt idx="29">
                    <c:v>30 Jan</c:v>
                  </c:pt>
                  <c:pt idx="30">
                    <c:v>31 Jan</c:v>
                  </c:pt>
                  <c:pt idx="31">
                    <c:v>01 Feb</c:v>
                  </c:pt>
                  <c:pt idx="32">
                    <c:v>02 Feb</c:v>
                  </c:pt>
                  <c:pt idx="33">
                    <c:v>03 Feb</c:v>
                  </c:pt>
                  <c:pt idx="34">
                    <c:v>04 Feb</c:v>
                  </c:pt>
                  <c:pt idx="35">
                    <c:v>05 Feb</c:v>
                  </c:pt>
                  <c:pt idx="36">
                    <c:v>06 Feb</c:v>
                  </c:pt>
                  <c:pt idx="37">
                    <c:v>07 Feb</c:v>
                  </c:pt>
                  <c:pt idx="38">
                    <c:v>08 Feb</c:v>
                  </c:pt>
                  <c:pt idx="39">
                    <c:v>09 Feb</c:v>
                  </c:pt>
                  <c:pt idx="40">
                    <c:v>10 Feb</c:v>
                  </c:pt>
                  <c:pt idx="41">
                    <c:v>11 Feb</c:v>
                  </c:pt>
                  <c:pt idx="42">
                    <c:v>12 Feb</c:v>
                  </c:pt>
                  <c:pt idx="43">
                    <c:v>13 Feb</c:v>
                  </c:pt>
                  <c:pt idx="44">
                    <c:v>14 Feb</c:v>
                  </c:pt>
                  <c:pt idx="45">
                    <c:v>15 Feb</c:v>
                  </c:pt>
                  <c:pt idx="46">
                    <c:v>16 Feb</c:v>
                  </c:pt>
                  <c:pt idx="47">
                    <c:v>17 Feb</c:v>
                  </c:pt>
                  <c:pt idx="48">
                    <c:v>18 Feb</c:v>
                  </c:pt>
                  <c:pt idx="49">
                    <c:v>19 Feb</c:v>
                  </c:pt>
                  <c:pt idx="50">
                    <c:v>20 Feb</c:v>
                  </c:pt>
                  <c:pt idx="51">
                    <c:v>21 Feb</c:v>
                  </c:pt>
                  <c:pt idx="52">
                    <c:v>22 Feb</c:v>
                  </c:pt>
                  <c:pt idx="53">
                    <c:v>23 Feb</c:v>
                  </c:pt>
                  <c:pt idx="54">
                    <c:v>24 Feb</c:v>
                  </c:pt>
                  <c:pt idx="55">
                    <c:v>25 Feb</c:v>
                  </c:pt>
                  <c:pt idx="56">
                    <c:v>26 Feb</c:v>
                  </c:pt>
                  <c:pt idx="57">
                    <c:v>27 Feb</c:v>
                  </c:pt>
                  <c:pt idx="58">
                    <c:v>28 Feb</c:v>
                  </c:pt>
                  <c:pt idx="59">
                    <c:v>01 Mar</c:v>
                  </c:pt>
                  <c:pt idx="60">
                    <c:v>02 Mar</c:v>
                  </c:pt>
                  <c:pt idx="61">
                    <c:v>03 Mar</c:v>
                  </c:pt>
                  <c:pt idx="62">
                    <c:v>04 Mar</c:v>
                  </c:pt>
                  <c:pt idx="63">
                    <c:v>05 Mar</c:v>
                  </c:pt>
                  <c:pt idx="64">
                    <c:v>06 Mar</c:v>
                  </c:pt>
                  <c:pt idx="65">
                    <c:v>07 Mar</c:v>
                  </c:pt>
                  <c:pt idx="66">
                    <c:v>08 Mar</c:v>
                  </c:pt>
                  <c:pt idx="67">
                    <c:v>09 Mar</c:v>
                  </c:pt>
                  <c:pt idx="68">
                    <c:v>10 Mar</c:v>
                  </c:pt>
                  <c:pt idx="69">
                    <c:v>11 Mar</c:v>
                  </c:pt>
                  <c:pt idx="70">
                    <c:v>12 Mar</c:v>
                  </c:pt>
                  <c:pt idx="71">
                    <c:v>13 Mar</c:v>
                  </c:pt>
                  <c:pt idx="72">
                    <c:v>14 Mar</c:v>
                  </c:pt>
                  <c:pt idx="73">
                    <c:v>15 Mar</c:v>
                  </c:pt>
                  <c:pt idx="74">
                    <c:v>16 Mar</c:v>
                  </c:pt>
                  <c:pt idx="75">
                    <c:v>17 Mar</c:v>
                  </c:pt>
                  <c:pt idx="76">
                    <c:v>18 Mar</c:v>
                  </c:pt>
                  <c:pt idx="77">
                    <c:v>19 Mar</c:v>
                  </c:pt>
                  <c:pt idx="78">
                    <c:v>20 Mar</c:v>
                  </c:pt>
                  <c:pt idx="79">
                    <c:v>21 Mar</c:v>
                  </c:pt>
                  <c:pt idx="80">
                    <c:v>22 Mar</c:v>
                  </c:pt>
                  <c:pt idx="81">
                    <c:v>23 Mar</c:v>
                  </c:pt>
                  <c:pt idx="82">
                    <c:v>24 Mar</c:v>
                  </c:pt>
                  <c:pt idx="83">
                    <c:v>25 Mar</c:v>
                  </c:pt>
                  <c:pt idx="84">
                    <c:v>26 Mar</c:v>
                  </c:pt>
                  <c:pt idx="85">
                    <c:v>27 Mar</c:v>
                  </c:pt>
                  <c:pt idx="86">
                    <c:v>28 Mar</c:v>
                  </c:pt>
                  <c:pt idx="87">
                    <c:v>29 Mar</c:v>
                  </c:pt>
                  <c:pt idx="88">
                    <c:v>30 Mar</c:v>
                  </c:pt>
                  <c:pt idx="89">
                    <c:v>31 Mar</c:v>
                  </c:pt>
                  <c:pt idx="90">
                    <c:v>01 Apr</c:v>
                  </c:pt>
                  <c:pt idx="91">
                    <c:v>02 Apr</c:v>
                  </c:pt>
                  <c:pt idx="92">
                    <c:v>03 Apr</c:v>
                  </c:pt>
                  <c:pt idx="93">
                    <c:v>04 Apr</c:v>
                  </c:pt>
                  <c:pt idx="94">
                    <c:v>05 Apr</c:v>
                  </c:pt>
                  <c:pt idx="95">
                    <c:v>06 Apr</c:v>
                  </c:pt>
                  <c:pt idx="96">
                    <c:v>07 Apr</c:v>
                  </c:pt>
                  <c:pt idx="97">
                    <c:v>08 Apr</c:v>
                  </c:pt>
                  <c:pt idx="98">
                    <c:v>09 Apr</c:v>
                  </c:pt>
                  <c:pt idx="99">
                    <c:v>10 Apr</c:v>
                  </c:pt>
                  <c:pt idx="100">
                    <c:v>11 Apr</c:v>
                  </c:pt>
                  <c:pt idx="101">
                    <c:v>12 Apr</c:v>
                  </c:pt>
                  <c:pt idx="102">
                    <c:v>13 Apr</c:v>
                  </c:pt>
                  <c:pt idx="103">
                    <c:v>14 Apr</c:v>
                  </c:pt>
                  <c:pt idx="104">
                    <c:v>15 Apr</c:v>
                  </c:pt>
                  <c:pt idx="105">
                    <c:v>16 Apr</c:v>
                  </c:pt>
                  <c:pt idx="106">
                    <c:v>17 Apr</c:v>
                  </c:pt>
                  <c:pt idx="107">
                    <c:v>18 Apr</c:v>
                  </c:pt>
                  <c:pt idx="108">
                    <c:v>19 Apr</c:v>
                  </c:pt>
                  <c:pt idx="109">
                    <c:v>20 Apr</c:v>
                  </c:pt>
                  <c:pt idx="110">
                    <c:v>21 Apr</c:v>
                  </c:pt>
                  <c:pt idx="111">
                    <c:v>22 Apr</c:v>
                  </c:pt>
                  <c:pt idx="112">
                    <c:v>23 Apr</c:v>
                  </c:pt>
                  <c:pt idx="113">
                    <c:v>24 Apr</c:v>
                  </c:pt>
                  <c:pt idx="114">
                    <c:v>25 Apr</c:v>
                  </c:pt>
                  <c:pt idx="115">
                    <c:v>26 Apr</c:v>
                  </c:pt>
                  <c:pt idx="116">
                    <c:v>27 Apr</c:v>
                  </c:pt>
                  <c:pt idx="117">
                    <c:v>28 Apr</c:v>
                  </c:pt>
                  <c:pt idx="118">
                    <c:v>29 Apr</c:v>
                  </c:pt>
                  <c:pt idx="119">
                    <c:v>30 Apr</c:v>
                  </c:pt>
                  <c:pt idx="120">
                    <c:v>01 May</c:v>
                  </c:pt>
                  <c:pt idx="121">
                    <c:v>02 May</c:v>
                  </c:pt>
                  <c:pt idx="122">
                    <c:v>03 May</c:v>
                  </c:pt>
                  <c:pt idx="123">
                    <c:v>04 May</c:v>
                  </c:pt>
                  <c:pt idx="124">
                    <c:v>05 May</c:v>
                  </c:pt>
                  <c:pt idx="125">
                    <c:v>06 May</c:v>
                  </c:pt>
                  <c:pt idx="126">
                    <c:v>07 May</c:v>
                  </c:pt>
                  <c:pt idx="127">
                    <c:v>08 May</c:v>
                  </c:pt>
                  <c:pt idx="128">
                    <c:v>09 May</c:v>
                  </c:pt>
                  <c:pt idx="129">
                    <c:v>10 May</c:v>
                  </c:pt>
                  <c:pt idx="130">
                    <c:v>11 May</c:v>
                  </c:pt>
                  <c:pt idx="131">
                    <c:v>12 May</c:v>
                  </c:pt>
                  <c:pt idx="132">
                    <c:v>13 May</c:v>
                  </c:pt>
                  <c:pt idx="133">
                    <c:v>14 May</c:v>
                  </c:pt>
                  <c:pt idx="134">
                    <c:v>15 May</c:v>
                  </c:pt>
                  <c:pt idx="135">
                    <c:v>16 May</c:v>
                  </c:pt>
                  <c:pt idx="136">
                    <c:v>17 May</c:v>
                  </c:pt>
                  <c:pt idx="137">
                    <c:v>18 May</c:v>
                  </c:pt>
                  <c:pt idx="138">
                    <c:v>19 May</c:v>
                  </c:pt>
                  <c:pt idx="139">
                    <c:v>20 May</c:v>
                  </c:pt>
                  <c:pt idx="140">
                    <c:v>21 May</c:v>
                  </c:pt>
                  <c:pt idx="141">
                    <c:v>22 May</c:v>
                  </c:pt>
                  <c:pt idx="142">
                    <c:v>23 May</c:v>
                  </c:pt>
                  <c:pt idx="143">
                    <c:v>24 May</c:v>
                  </c:pt>
                  <c:pt idx="144">
                    <c:v>25 May</c:v>
                  </c:pt>
                  <c:pt idx="145">
                    <c:v>26 May</c:v>
                  </c:pt>
                  <c:pt idx="146">
                    <c:v>27 May</c:v>
                  </c:pt>
                  <c:pt idx="147">
                    <c:v>28 May</c:v>
                  </c:pt>
                </c:lvl>
              </c:multiLvlStrCache>
            </c:multiLvlStrRef>
          </c:cat>
          <c:val>
            <c:numRef>
              <c:f>Sheet1!$C$2:$C$149</c:f>
              <c:numCache>
                <c:formatCode>General</c:formatCode>
                <c:ptCount val="148"/>
                <c:pt idx="0">
                  <c:v>7343</c:v>
                </c:pt>
                <c:pt idx="1">
                  <c:v>7350</c:v>
                </c:pt>
                <c:pt idx="2">
                  <c:v>7271</c:v>
                </c:pt>
                <c:pt idx="3">
                  <c:v>7039</c:v>
                </c:pt>
                <c:pt idx="4">
                  <c:v>6772</c:v>
                </c:pt>
                <c:pt idx="5">
                  <c:v>6671</c:v>
                </c:pt>
                <c:pt idx="6">
                  <c:v>7214</c:v>
                </c:pt>
                <c:pt idx="7">
                  <c:v>6892</c:v>
                </c:pt>
                <c:pt idx="8">
                  <c:v>6955</c:v>
                </c:pt>
                <c:pt idx="9">
                  <c:v>7581</c:v>
                </c:pt>
                <c:pt idx="10">
                  <c:v>6882</c:v>
                </c:pt>
                <c:pt idx="11">
                  <c:v>6569</c:v>
                </c:pt>
                <c:pt idx="12">
                  <c:v>6757</c:v>
                </c:pt>
                <c:pt idx="13">
                  <c:v>7026</c:v>
                </c:pt>
                <c:pt idx="14">
                  <c:v>7207</c:v>
                </c:pt>
                <c:pt idx="15">
                  <c:v>7237</c:v>
                </c:pt>
                <c:pt idx="16">
                  <c:v>7552</c:v>
                </c:pt>
                <c:pt idx="17">
                  <c:v>7214</c:v>
                </c:pt>
                <c:pt idx="18">
                  <c:v>6638</c:v>
                </c:pt>
                <c:pt idx="19">
                  <c:v>6911</c:v>
                </c:pt>
                <c:pt idx="20">
                  <c:v>6998</c:v>
                </c:pt>
                <c:pt idx="21">
                  <c:v>7059</c:v>
                </c:pt>
                <c:pt idx="22">
                  <c:v>6934</c:v>
                </c:pt>
                <c:pt idx="23">
                  <c:v>7249</c:v>
                </c:pt>
                <c:pt idx="24">
                  <c:v>6731</c:v>
                </c:pt>
                <c:pt idx="25">
                  <c:v>6382</c:v>
                </c:pt>
                <c:pt idx="26">
                  <c:v>6518</c:v>
                </c:pt>
                <c:pt idx="27">
                  <c:v>6462</c:v>
                </c:pt>
                <c:pt idx="28">
                  <c:v>7162</c:v>
                </c:pt>
                <c:pt idx="29">
                  <c:v>7370</c:v>
                </c:pt>
                <c:pt idx="30">
                  <c:v>7689</c:v>
                </c:pt>
                <c:pt idx="31">
                  <c:v>7363</c:v>
                </c:pt>
                <c:pt idx="32">
                  <c:v>6840</c:v>
                </c:pt>
                <c:pt idx="33">
                  <c:v>6959</c:v>
                </c:pt>
                <c:pt idx="34">
                  <c:v>7345</c:v>
                </c:pt>
                <c:pt idx="35">
                  <c:v>7438</c:v>
                </c:pt>
                <c:pt idx="36">
                  <c:v>7387</c:v>
                </c:pt>
                <c:pt idx="37">
                  <c:v>7439</c:v>
                </c:pt>
                <c:pt idx="38">
                  <c:v>7114</c:v>
                </c:pt>
                <c:pt idx="39">
                  <c:v>7180</c:v>
                </c:pt>
                <c:pt idx="40">
                  <c:v>6108</c:v>
                </c:pt>
                <c:pt idx="41">
                  <c:v>6716</c:v>
                </c:pt>
                <c:pt idx="42">
                  <c:v>6064</c:v>
                </c:pt>
                <c:pt idx="43">
                  <c:v>5640</c:v>
                </c:pt>
                <c:pt idx="44">
                  <c:v>5280</c:v>
                </c:pt>
                <c:pt idx="45">
                  <c:v>4420</c:v>
                </c:pt>
                <c:pt idx="46">
                  <c:v>3550</c:v>
                </c:pt>
                <c:pt idx="47">
                  <c:v>5452</c:v>
                </c:pt>
                <c:pt idx="48">
                  <c:v>6596</c:v>
                </c:pt>
                <c:pt idx="49">
                  <c:v>7300</c:v>
                </c:pt>
                <c:pt idx="50">
                  <c:v>7731</c:v>
                </c:pt>
                <c:pt idx="51">
                  <c:v>8368</c:v>
                </c:pt>
                <c:pt idx="52">
                  <c:v>8267</c:v>
                </c:pt>
                <c:pt idx="53">
                  <c:v>7397</c:v>
                </c:pt>
                <c:pt idx="54">
                  <c:v>6974</c:v>
                </c:pt>
                <c:pt idx="55">
                  <c:v>7189</c:v>
                </c:pt>
                <c:pt idx="56">
                  <c:v>7362</c:v>
                </c:pt>
                <c:pt idx="57">
                  <c:v>7335</c:v>
                </c:pt>
                <c:pt idx="58">
                  <c:v>7197</c:v>
                </c:pt>
                <c:pt idx="59">
                  <c:v>7190</c:v>
                </c:pt>
                <c:pt idx="60">
                  <c:v>6765</c:v>
                </c:pt>
                <c:pt idx="61">
                  <c:v>6754</c:v>
                </c:pt>
                <c:pt idx="62">
                  <c:v>6736</c:v>
                </c:pt>
                <c:pt idx="63">
                  <c:v>6992</c:v>
                </c:pt>
                <c:pt idx="64">
                  <c:v>7392</c:v>
                </c:pt>
                <c:pt idx="65">
                  <c:v>7924</c:v>
                </c:pt>
                <c:pt idx="66">
                  <c:v>7450</c:v>
                </c:pt>
                <c:pt idx="67">
                  <c:v>6920</c:v>
                </c:pt>
                <c:pt idx="68">
                  <c:v>6999</c:v>
                </c:pt>
                <c:pt idx="69">
                  <c:v>7148</c:v>
                </c:pt>
                <c:pt idx="70">
                  <c:v>7258</c:v>
                </c:pt>
                <c:pt idx="71">
                  <c:v>7372</c:v>
                </c:pt>
                <c:pt idx="72">
                  <c:v>7869</c:v>
                </c:pt>
                <c:pt idx="73">
                  <c:v>7377</c:v>
                </c:pt>
                <c:pt idx="74">
                  <c:v>6843</c:v>
                </c:pt>
                <c:pt idx="75">
                  <c:v>6832</c:v>
                </c:pt>
                <c:pt idx="76">
                  <c:v>6772</c:v>
                </c:pt>
                <c:pt idx="77">
                  <c:v>7140</c:v>
                </c:pt>
                <c:pt idx="78">
                  <c:v>7372</c:v>
                </c:pt>
                <c:pt idx="79">
                  <c:v>7861</c:v>
                </c:pt>
                <c:pt idx="80">
                  <c:v>7205</c:v>
                </c:pt>
                <c:pt idx="81">
                  <c:v>6602</c:v>
                </c:pt>
                <c:pt idx="82">
                  <c:v>6764</c:v>
                </c:pt>
                <c:pt idx="83">
                  <c:v>6680</c:v>
                </c:pt>
                <c:pt idx="84">
                  <c:v>7130</c:v>
                </c:pt>
                <c:pt idx="85">
                  <c:v>7305</c:v>
                </c:pt>
                <c:pt idx="86">
                  <c:v>7651</c:v>
                </c:pt>
                <c:pt idx="87">
                  <c:v>6978</c:v>
                </c:pt>
                <c:pt idx="88">
                  <c:v>6240</c:v>
                </c:pt>
                <c:pt idx="89">
                  <c:v>6405</c:v>
                </c:pt>
                <c:pt idx="90">
                  <c:v>6491</c:v>
                </c:pt>
                <c:pt idx="91">
                  <c:v>6604</c:v>
                </c:pt>
                <c:pt idx="92">
                  <c:v>7106</c:v>
                </c:pt>
                <c:pt idx="93">
                  <c:v>7938</c:v>
                </c:pt>
                <c:pt idx="94">
                  <c:v>7347</c:v>
                </c:pt>
                <c:pt idx="95">
                  <c:v>6390</c:v>
                </c:pt>
                <c:pt idx="96">
                  <c:v>6225</c:v>
                </c:pt>
                <c:pt idx="97">
                  <c:v>6515</c:v>
                </c:pt>
                <c:pt idx="98">
                  <c:v>6555</c:v>
                </c:pt>
                <c:pt idx="99">
                  <c:v>6881</c:v>
                </c:pt>
                <c:pt idx="100">
                  <c:v>7444</c:v>
                </c:pt>
                <c:pt idx="101">
                  <c:v>7019</c:v>
                </c:pt>
                <c:pt idx="102">
                  <c:v>6557</c:v>
                </c:pt>
                <c:pt idx="103">
                  <c:v>6657</c:v>
                </c:pt>
                <c:pt idx="104">
                  <c:v>6804</c:v>
                </c:pt>
                <c:pt idx="105">
                  <c:v>7094</c:v>
                </c:pt>
                <c:pt idx="106">
                  <c:v>7184</c:v>
                </c:pt>
                <c:pt idx="107">
                  <c:v>7819</c:v>
                </c:pt>
                <c:pt idx="108">
                  <c:v>7164</c:v>
                </c:pt>
                <c:pt idx="109">
                  <c:v>6587</c:v>
                </c:pt>
                <c:pt idx="110">
                  <c:v>6601</c:v>
                </c:pt>
                <c:pt idx="111">
                  <c:v>6710</c:v>
                </c:pt>
                <c:pt idx="112">
                  <c:v>6966</c:v>
                </c:pt>
                <c:pt idx="113">
                  <c:v>7294</c:v>
                </c:pt>
                <c:pt idx="114">
                  <c:v>7804</c:v>
                </c:pt>
                <c:pt idx="115">
                  <c:v>7134</c:v>
                </c:pt>
                <c:pt idx="116">
                  <c:v>6661</c:v>
                </c:pt>
                <c:pt idx="117">
                  <c:v>6770</c:v>
                </c:pt>
                <c:pt idx="118">
                  <c:v>6752</c:v>
                </c:pt>
                <c:pt idx="119">
                  <c:v>6907</c:v>
                </c:pt>
                <c:pt idx="120">
                  <c:v>8125</c:v>
                </c:pt>
                <c:pt idx="121">
                  <c:v>8055</c:v>
                </c:pt>
                <c:pt idx="122">
                  <c:v>7551</c:v>
                </c:pt>
                <c:pt idx="123">
                  <c:v>7344</c:v>
                </c:pt>
                <c:pt idx="124">
                  <c:v>6808</c:v>
                </c:pt>
                <c:pt idx="125">
                  <c:v>6654</c:v>
                </c:pt>
                <c:pt idx="126">
                  <c:v>6749</c:v>
                </c:pt>
                <c:pt idx="127">
                  <c:v>6906</c:v>
                </c:pt>
                <c:pt idx="128">
                  <c:v>7018</c:v>
                </c:pt>
                <c:pt idx="129">
                  <c:v>7131</c:v>
                </c:pt>
                <c:pt idx="130">
                  <c:v>6547</c:v>
                </c:pt>
                <c:pt idx="131">
                  <c:v>6561</c:v>
                </c:pt>
                <c:pt idx="132">
                  <c:v>6787</c:v>
                </c:pt>
                <c:pt idx="133">
                  <c:v>6947</c:v>
                </c:pt>
                <c:pt idx="134">
                  <c:v>6889</c:v>
                </c:pt>
                <c:pt idx="135">
                  <c:v>7722</c:v>
                </c:pt>
                <c:pt idx="136">
                  <c:v>7138</c:v>
                </c:pt>
                <c:pt idx="137">
                  <c:v>6570</c:v>
                </c:pt>
                <c:pt idx="138">
                  <c:v>6555</c:v>
                </c:pt>
                <c:pt idx="139">
                  <c:v>6506</c:v>
                </c:pt>
                <c:pt idx="140">
                  <c:v>7054</c:v>
                </c:pt>
                <c:pt idx="141">
                  <c:v>7229</c:v>
                </c:pt>
                <c:pt idx="142">
                  <c:v>7788</c:v>
                </c:pt>
                <c:pt idx="143">
                  <c:v>7145</c:v>
                </c:pt>
                <c:pt idx="144">
                  <c:v>6685</c:v>
                </c:pt>
                <c:pt idx="145">
                  <c:v>6667</c:v>
                </c:pt>
                <c:pt idx="146">
                  <c:v>6616</c:v>
                </c:pt>
                <c:pt idx="147">
                  <c:v>6794</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900" b="0" i="0" u="none" strike="noStrike">
                <a:solidFill>
                  <a:srgbClr val="5F7183"/>
                </a:solidFill>
                <a:latin typeface="Calibri"/>
              </a:defRPr>
            </a:pPr>
            <a:endParaRPr lang="en-US"/>
          </a:p>
        </c:txPr>
        <c:crossAx val="2094734552"/>
        <c:crosses val="autoZero"/>
        <c:auto val="1"/>
        <c:lblAlgn val="ctr"/>
        <c:noMultiLvlLbl val="1"/>
        <c:tickLblSkip val="12"/>
      </c:catAx>
      <c:valAx>
        <c:axId val="2094734552"/>
        <c:scaling>
          <c:orientation val="minMax"/>
          <c:min val="0"/>
        </c:scaling>
        <c:delete val="0"/>
        <c:axPos val="l"/>
        <c:majorGridlines>
          <c:spPr>
            <a:ln w="1270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7183"/>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c:v>
                </c:pt>
              </c:strCache>
            </c:strRef>
          </c:tx>
          <c:spPr>
            <a:solidFill>
              <a:srgbClr val="0F2942"/>
            </a:solidFill>
            <a:ln w="31750" cap="flat">
              <a:solidFill>
                <a:srgbClr val="0F294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2942"/>
              </a:solidFill>
              <a:ln w="9525" cap="flat">
                <a:solidFill>
                  <a:srgbClr val="0F2942"/>
                </a:solidFill>
                <a:prstDash val="solid"/>
                <a:round/>
              </a:ln>
              <a:effectLst/>
            </c:spPr>
          </c:marker>
          <c:cat>
            <c:multiLvlStrRef>
              <c:f>Sheet1!$A$2:$A$149</c:f>
              <c:multiLvlStrCache>
                <c:ptCount val="148"/>
                <c:lvl>
                  <c:pt idx="0">
                    <c:v>01 Jan</c:v>
                  </c:pt>
                  <c:pt idx="1">
                    <c:v>02 Jan</c:v>
                  </c:pt>
                  <c:pt idx="2">
                    <c:v>03 Jan</c:v>
                  </c:pt>
                  <c:pt idx="3">
                    <c:v>04 Jan</c:v>
                  </c:pt>
                  <c:pt idx="4">
                    <c:v>05 Jan</c:v>
                  </c:pt>
                  <c:pt idx="5">
                    <c:v>06 Jan</c:v>
                  </c:pt>
                  <c:pt idx="6">
                    <c:v>07 Jan</c:v>
                  </c:pt>
                  <c:pt idx="7">
                    <c:v>08 Jan</c:v>
                  </c:pt>
                  <c:pt idx="8">
                    <c:v>09 Jan</c:v>
                  </c:pt>
                  <c:pt idx="9">
                    <c:v>10 Jan</c:v>
                  </c:pt>
                  <c:pt idx="10">
                    <c:v>11 Jan</c:v>
                  </c:pt>
                  <c:pt idx="11">
                    <c:v>12 Jan</c:v>
                  </c:pt>
                  <c:pt idx="12">
                    <c:v>13 Jan</c:v>
                  </c:pt>
                  <c:pt idx="13">
                    <c:v>14 Jan</c:v>
                  </c:pt>
                  <c:pt idx="14">
                    <c:v>15 Jan</c:v>
                  </c:pt>
                  <c:pt idx="15">
                    <c:v>16 Jan</c:v>
                  </c:pt>
                  <c:pt idx="16">
                    <c:v>17 Jan</c:v>
                  </c:pt>
                  <c:pt idx="17">
                    <c:v>18 Jan</c:v>
                  </c:pt>
                  <c:pt idx="18">
                    <c:v>19 Jan</c:v>
                  </c:pt>
                  <c:pt idx="19">
                    <c:v>20 Jan</c:v>
                  </c:pt>
                  <c:pt idx="20">
                    <c:v>21 Jan</c:v>
                  </c:pt>
                  <c:pt idx="21">
                    <c:v>22 Jan</c:v>
                  </c:pt>
                  <c:pt idx="22">
                    <c:v>23 Jan</c:v>
                  </c:pt>
                  <c:pt idx="23">
                    <c:v>24 Jan</c:v>
                  </c:pt>
                  <c:pt idx="24">
                    <c:v>25 Jan</c:v>
                  </c:pt>
                  <c:pt idx="25">
                    <c:v>26 Jan</c:v>
                  </c:pt>
                  <c:pt idx="26">
                    <c:v>27 Jan</c:v>
                  </c:pt>
                  <c:pt idx="27">
                    <c:v>28 Jan</c:v>
                  </c:pt>
                  <c:pt idx="28">
                    <c:v>29 Jan</c:v>
                  </c:pt>
                  <c:pt idx="29">
                    <c:v>30 Jan</c:v>
                  </c:pt>
                  <c:pt idx="30">
                    <c:v>31 Jan</c:v>
                  </c:pt>
                  <c:pt idx="31">
                    <c:v>01 Feb</c:v>
                  </c:pt>
                  <c:pt idx="32">
                    <c:v>02 Feb</c:v>
                  </c:pt>
                  <c:pt idx="33">
                    <c:v>03 Feb</c:v>
                  </c:pt>
                  <c:pt idx="34">
                    <c:v>04 Feb</c:v>
                  </c:pt>
                  <c:pt idx="35">
                    <c:v>05 Feb</c:v>
                  </c:pt>
                  <c:pt idx="36">
                    <c:v>06 Feb</c:v>
                  </c:pt>
                  <c:pt idx="37">
                    <c:v>07 Feb</c:v>
                  </c:pt>
                  <c:pt idx="38">
                    <c:v>08 Feb</c:v>
                  </c:pt>
                  <c:pt idx="39">
                    <c:v>09 Feb</c:v>
                  </c:pt>
                  <c:pt idx="40">
                    <c:v>10 Feb</c:v>
                  </c:pt>
                  <c:pt idx="41">
                    <c:v>11 Feb</c:v>
                  </c:pt>
                  <c:pt idx="42">
                    <c:v>12 Feb</c:v>
                  </c:pt>
                  <c:pt idx="43">
                    <c:v>13 Feb</c:v>
                  </c:pt>
                  <c:pt idx="44">
                    <c:v>14 Feb</c:v>
                  </c:pt>
                  <c:pt idx="45">
                    <c:v>15 Feb</c:v>
                  </c:pt>
                  <c:pt idx="46">
                    <c:v>16 Feb</c:v>
                  </c:pt>
                  <c:pt idx="47">
                    <c:v>17 Feb</c:v>
                  </c:pt>
                  <c:pt idx="48">
                    <c:v>18 Feb</c:v>
                  </c:pt>
                  <c:pt idx="49">
                    <c:v>19 Feb</c:v>
                  </c:pt>
                  <c:pt idx="50">
                    <c:v>20 Feb</c:v>
                  </c:pt>
                  <c:pt idx="51">
                    <c:v>21 Feb</c:v>
                  </c:pt>
                  <c:pt idx="52">
                    <c:v>22 Feb</c:v>
                  </c:pt>
                  <c:pt idx="53">
                    <c:v>23 Feb</c:v>
                  </c:pt>
                  <c:pt idx="54">
                    <c:v>24 Feb</c:v>
                  </c:pt>
                  <c:pt idx="55">
                    <c:v>25 Feb</c:v>
                  </c:pt>
                  <c:pt idx="56">
                    <c:v>26 Feb</c:v>
                  </c:pt>
                  <c:pt idx="57">
                    <c:v>27 Feb</c:v>
                  </c:pt>
                  <c:pt idx="58">
                    <c:v>28 Feb</c:v>
                  </c:pt>
                  <c:pt idx="59">
                    <c:v>01 Mar</c:v>
                  </c:pt>
                  <c:pt idx="60">
                    <c:v>02 Mar</c:v>
                  </c:pt>
                  <c:pt idx="61">
                    <c:v>03 Mar</c:v>
                  </c:pt>
                  <c:pt idx="62">
                    <c:v>04 Mar</c:v>
                  </c:pt>
                  <c:pt idx="63">
                    <c:v>05 Mar</c:v>
                  </c:pt>
                  <c:pt idx="64">
                    <c:v>06 Mar</c:v>
                  </c:pt>
                  <c:pt idx="65">
                    <c:v>07 Mar</c:v>
                  </c:pt>
                  <c:pt idx="66">
                    <c:v>08 Mar</c:v>
                  </c:pt>
                  <c:pt idx="67">
                    <c:v>09 Mar</c:v>
                  </c:pt>
                  <c:pt idx="68">
                    <c:v>10 Mar</c:v>
                  </c:pt>
                  <c:pt idx="69">
                    <c:v>11 Mar</c:v>
                  </c:pt>
                  <c:pt idx="70">
                    <c:v>12 Mar</c:v>
                  </c:pt>
                  <c:pt idx="71">
                    <c:v>13 Mar</c:v>
                  </c:pt>
                  <c:pt idx="72">
                    <c:v>14 Mar</c:v>
                  </c:pt>
                  <c:pt idx="73">
                    <c:v>15 Mar</c:v>
                  </c:pt>
                  <c:pt idx="74">
                    <c:v>16 Mar</c:v>
                  </c:pt>
                  <c:pt idx="75">
                    <c:v>17 Mar</c:v>
                  </c:pt>
                  <c:pt idx="76">
                    <c:v>18 Mar</c:v>
                  </c:pt>
                  <c:pt idx="77">
                    <c:v>19 Mar</c:v>
                  </c:pt>
                  <c:pt idx="78">
                    <c:v>20 Mar</c:v>
                  </c:pt>
                  <c:pt idx="79">
                    <c:v>21 Mar</c:v>
                  </c:pt>
                  <c:pt idx="80">
                    <c:v>22 Mar</c:v>
                  </c:pt>
                  <c:pt idx="81">
                    <c:v>23 Mar</c:v>
                  </c:pt>
                  <c:pt idx="82">
                    <c:v>24 Mar</c:v>
                  </c:pt>
                  <c:pt idx="83">
                    <c:v>25 Mar</c:v>
                  </c:pt>
                  <c:pt idx="84">
                    <c:v>26 Mar</c:v>
                  </c:pt>
                  <c:pt idx="85">
                    <c:v>27 Mar</c:v>
                  </c:pt>
                  <c:pt idx="86">
                    <c:v>28 Mar</c:v>
                  </c:pt>
                  <c:pt idx="87">
                    <c:v>29 Mar</c:v>
                  </c:pt>
                  <c:pt idx="88">
                    <c:v>30 Mar</c:v>
                  </c:pt>
                  <c:pt idx="89">
                    <c:v>31 Mar</c:v>
                  </c:pt>
                  <c:pt idx="90">
                    <c:v>01 Apr</c:v>
                  </c:pt>
                  <c:pt idx="91">
                    <c:v>02 Apr</c:v>
                  </c:pt>
                  <c:pt idx="92">
                    <c:v>03 Apr</c:v>
                  </c:pt>
                  <c:pt idx="93">
                    <c:v>04 Apr</c:v>
                  </c:pt>
                  <c:pt idx="94">
                    <c:v>05 Apr</c:v>
                  </c:pt>
                  <c:pt idx="95">
                    <c:v>06 Apr</c:v>
                  </c:pt>
                  <c:pt idx="96">
                    <c:v>07 Apr</c:v>
                  </c:pt>
                  <c:pt idx="97">
                    <c:v>08 Apr</c:v>
                  </c:pt>
                  <c:pt idx="98">
                    <c:v>09 Apr</c:v>
                  </c:pt>
                  <c:pt idx="99">
                    <c:v>10 Apr</c:v>
                  </c:pt>
                  <c:pt idx="100">
                    <c:v>11 Apr</c:v>
                  </c:pt>
                  <c:pt idx="101">
                    <c:v>12 Apr</c:v>
                  </c:pt>
                  <c:pt idx="102">
                    <c:v>13 Apr</c:v>
                  </c:pt>
                  <c:pt idx="103">
                    <c:v>14 Apr</c:v>
                  </c:pt>
                  <c:pt idx="104">
                    <c:v>15 Apr</c:v>
                  </c:pt>
                  <c:pt idx="105">
                    <c:v>16 Apr</c:v>
                  </c:pt>
                  <c:pt idx="106">
                    <c:v>17 Apr</c:v>
                  </c:pt>
                  <c:pt idx="107">
                    <c:v>18 Apr</c:v>
                  </c:pt>
                  <c:pt idx="108">
                    <c:v>19 Apr</c:v>
                  </c:pt>
                  <c:pt idx="109">
                    <c:v>20 Apr</c:v>
                  </c:pt>
                  <c:pt idx="110">
                    <c:v>21 Apr</c:v>
                  </c:pt>
                  <c:pt idx="111">
                    <c:v>22 Apr</c:v>
                  </c:pt>
                  <c:pt idx="112">
                    <c:v>23 Apr</c:v>
                  </c:pt>
                  <c:pt idx="113">
                    <c:v>24 Apr</c:v>
                  </c:pt>
                  <c:pt idx="114">
                    <c:v>25 Apr</c:v>
                  </c:pt>
                  <c:pt idx="115">
                    <c:v>26 Apr</c:v>
                  </c:pt>
                  <c:pt idx="116">
                    <c:v>27 Apr</c:v>
                  </c:pt>
                  <c:pt idx="117">
                    <c:v>28 Apr</c:v>
                  </c:pt>
                  <c:pt idx="118">
                    <c:v>29 Apr</c:v>
                  </c:pt>
                  <c:pt idx="119">
                    <c:v>30 Apr</c:v>
                  </c:pt>
                  <c:pt idx="120">
                    <c:v>01 May</c:v>
                  </c:pt>
                  <c:pt idx="121">
                    <c:v>02 May</c:v>
                  </c:pt>
                  <c:pt idx="122">
                    <c:v>03 May</c:v>
                  </c:pt>
                  <c:pt idx="123">
                    <c:v>04 May</c:v>
                  </c:pt>
                  <c:pt idx="124">
                    <c:v>05 May</c:v>
                  </c:pt>
                  <c:pt idx="125">
                    <c:v>06 May</c:v>
                  </c:pt>
                  <c:pt idx="126">
                    <c:v>07 May</c:v>
                  </c:pt>
                  <c:pt idx="127">
                    <c:v>08 May</c:v>
                  </c:pt>
                  <c:pt idx="128">
                    <c:v>09 May</c:v>
                  </c:pt>
                  <c:pt idx="129">
                    <c:v>10 May</c:v>
                  </c:pt>
                  <c:pt idx="130">
                    <c:v>11 May</c:v>
                  </c:pt>
                  <c:pt idx="131">
                    <c:v>12 May</c:v>
                  </c:pt>
                  <c:pt idx="132">
                    <c:v>13 May</c:v>
                  </c:pt>
                  <c:pt idx="133">
                    <c:v>14 May</c:v>
                  </c:pt>
                  <c:pt idx="134">
                    <c:v>15 May</c:v>
                  </c:pt>
                  <c:pt idx="135">
                    <c:v>16 May</c:v>
                  </c:pt>
                  <c:pt idx="136">
                    <c:v>17 May</c:v>
                  </c:pt>
                  <c:pt idx="137">
                    <c:v>18 May</c:v>
                  </c:pt>
                  <c:pt idx="138">
                    <c:v>19 May</c:v>
                  </c:pt>
                  <c:pt idx="139">
                    <c:v>20 May</c:v>
                  </c:pt>
                  <c:pt idx="140">
                    <c:v>21 May</c:v>
                  </c:pt>
                  <c:pt idx="141">
                    <c:v>22 May</c:v>
                  </c:pt>
                  <c:pt idx="142">
                    <c:v>23 May</c:v>
                  </c:pt>
                  <c:pt idx="143">
                    <c:v>24 May</c:v>
                  </c:pt>
                  <c:pt idx="144">
                    <c:v>25 May</c:v>
                  </c:pt>
                  <c:pt idx="145">
                    <c:v>26 May</c:v>
                  </c:pt>
                  <c:pt idx="146">
                    <c:v>27 May</c:v>
                  </c:pt>
                  <c:pt idx="147">
                    <c:v>28 May</c:v>
                  </c:pt>
                </c:lvl>
              </c:multiLvlStrCache>
            </c:multiLvlStrRef>
          </c:cat>
          <c:val>
            <c:numRef>
              <c:f>Sheet1!$B$2:$B$149</c:f>
              <c:numCache>
                <c:formatCode>General</c:formatCode>
                <c:ptCount val="148"/>
                <c:pt idx="0">
                  <c:v>8575</c:v>
                </c:pt>
                <c:pt idx="1">
                  <c:v>8139</c:v>
                </c:pt>
                <c:pt idx="2">
                  <c:v>7427</c:v>
                </c:pt>
                <c:pt idx="3">
                  <c:v>7185</c:v>
                </c:pt>
                <c:pt idx="4">
                  <c:v>6956</c:v>
                </c:pt>
                <c:pt idx="5">
                  <c:v>7450</c:v>
                </c:pt>
                <c:pt idx="6">
                  <c:v>7838</c:v>
                </c:pt>
                <c:pt idx="7">
                  <c:v>7573</c:v>
                </c:pt>
                <c:pt idx="8">
                  <c:v>7618</c:v>
                </c:pt>
                <c:pt idx="9">
                  <c:v>8129</c:v>
                </c:pt>
                <c:pt idx="10">
                  <c:v>7581</c:v>
                </c:pt>
                <c:pt idx="11">
                  <c:v>7155</c:v>
                </c:pt>
                <c:pt idx="12">
                  <c:v>7364</c:v>
                </c:pt>
                <c:pt idx="13">
                  <c:v>7456</c:v>
                </c:pt>
                <c:pt idx="14">
                  <c:v>7300</c:v>
                </c:pt>
                <c:pt idx="15">
                  <c:v>7527</c:v>
                </c:pt>
                <c:pt idx="16">
                  <c:v>7859</c:v>
                </c:pt>
                <c:pt idx="17">
                  <c:v>7561</c:v>
                </c:pt>
                <c:pt idx="18">
                  <c:v>6881</c:v>
                </c:pt>
                <c:pt idx="19">
                  <c:v>7234</c:v>
                </c:pt>
                <c:pt idx="20">
                  <c:v>7520</c:v>
                </c:pt>
                <c:pt idx="21">
                  <c:v>7494</c:v>
                </c:pt>
                <c:pt idx="22">
                  <c:v>7809</c:v>
                </c:pt>
                <c:pt idx="23">
                  <c:v>7915</c:v>
                </c:pt>
                <c:pt idx="24">
                  <c:v>7586</c:v>
                </c:pt>
                <c:pt idx="25">
                  <c:v>7011</c:v>
                </c:pt>
                <c:pt idx="26">
                  <c:v>7119</c:v>
                </c:pt>
                <c:pt idx="27">
                  <c:v>7444</c:v>
                </c:pt>
                <c:pt idx="28">
                  <c:v>7280</c:v>
                </c:pt>
                <c:pt idx="29">
                  <c:v>7433</c:v>
                </c:pt>
                <c:pt idx="30">
                  <c:v>8150</c:v>
                </c:pt>
                <c:pt idx="31">
                  <c:v>7599</c:v>
                </c:pt>
                <c:pt idx="32">
                  <c:v>6868</c:v>
                </c:pt>
                <c:pt idx="33">
                  <c:v>6784</c:v>
                </c:pt>
                <c:pt idx="34">
                  <c:v>7017</c:v>
                </c:pt>
                <c:pt idx="35">
                  <c:v>7140</c:v>
                </c:pt>
                <c:pt idx="36">
                  <c:v>7672</c:v>
                </c:pt>
                <c:pt idx="37">
                  <c:v>7962</c:v>
                </c:pt>
                <c:pt idx="38">
                  <c:v>7270</c:v>
                </c:pt>
                <c:pt idx="39">
                  <c:v>6335</c:v>
                </c:pt>
                <c:pt idx="40">
                  <c:v>6202</c:v>
                </c:pt>
                <c:pt idx="41">
                  <c:v>5613</c:v>
                </c:pt>
                <c:pt idx="42">
                  <c:v>5468</c:v>
                </c:pt>
                <c:pt idx="43">
                  <c:v>5134</c:v>
                </c:pt>
                <c:pt idx="44">
                  <c:v>4464</c:v>
                </c:pt>
                <c:pt idx="45">
                  <c:v>3936</c:v>
                </c:pt>
                <c:pt idx="46">
                  <c:v>3518</c:v>
                </c:pt>
                <c:pt idx="47">
                  <c:v>5271</c:v>
                </c:pt>
                <c:pt idx="48">
                  <c:v>6585</c:v>
                </c:pt>
                <c:pt idx="49">
                  <c:v>7980</c:v>
                </c:pt>
                <c:pt idx="50">
                  <c:v>7881</c:v>
                </c:pt>
                <c:pt idx="51">
                  <c:v>7988</c:v>
                </c:pt>
                <c:pt idx="52">
                  <c:v>7699</c:v>
                </c:pt>
                <c:pt idx="53">
                  <c:v>7073</c:v>
                </c:pt>
                <c:pt idx="54">
                  <c:v>6813</c:v>
                </c:pt>
                <c:pt idx="55">
                  <c:v>6644</c:v>
                </c:pt>
                <c:pt idx="56">
                  <c:v>7120</c:v>
                </c:pt>
                <c:pt idx="57">
                  <c:v>7451</c:v>
                </c:pt>
                <c:pt idx="58">
                  <c:v>7436</c:v>
                </c:pt>
                <c:pt idx="59">
                  <c:v>7091</c:v>
                </c:pt>
                <c:pt idx="60">
                  <c:v>6255</c:v>
                </c:pt>
                <c:pt idx="61">
                  <c:v>5836</c:v>
                </c:pt>
                <c:pt idx="62">
                  <c:v>5808</c:v>
                </c:pt>
                <c:pt idx="63">
                  <c:v>6099</c:v>
                </c:pt>
                <c:pt idx="64">
                  <c:v>6804</c:v>
                </c:pt>
                <c:pt idx="65">
                  <c:v>7626</c:v>
                </c:pt>
                <c:pt idx="66">
                  <c:v>7092</c:v>
                </c:pt>
                <c:pt idx="67">
                  <c:v>6789</c:v>
                </c:pt>
                <c:pt idx="68">
                  <c:v>6851</c:v>
                </c:pt>
                <c:pt idx="69">
                  <c:v>6909</c:v>
                </c:pt>
                <c:pt idx="70">
                  <c:v>6995</c:v>
                </c:pt>
                <c:pt idx="71">
                  <c:v>7478</c:v>
                </c:pt>
                <c:pt idx="72">
                  <c:v>8041</c:v>
                </c:pt>
                <c:pt idx="73">
                  <c:v>7248</c:v>
                </c:pt>
                <c:pt idx="74">
                  <c:v>6605</c:v>
                </c:pt>
                <c:pt idx="75">
                  <c:v>7018</c:v>
                </c:pt>
                <c:pt idx="76">
                  <c:v>7236</c:v>
                </c:pt>
                <c:pt idx="77">
                  <c:v>7244</c:v>
                </c:pt>
                <c:pt idx="78">
                  <c:v>7336</c:v>
                </c:pt>
                <c:pt idx="79">
                  <c:v>7576</c:v>
                </c:pt>
                <c:pt idx="80">
                  <c:v>6941</c:v>
                </c:pt>
                <c:pt idx="81">
                  <c:v>6779</c:v>
                </c:pt>
                <c:pt idx="82">
                  <c:v>6916</c:v>
                </c:pt>
                <c:pt idx="83">
                  <c:v>6997</c:v>
                </c:pt>
                <c:pt idx="84">
                  <c:v>6924</c:v>
                </c:pt>
                <c:pt idx="85">
                  <c:v>6814</c:v>
                </c:pt>
                <c:pt idx="86">
                  <c:v>7429</c:v>
                </c:pt>
                <c:pt idx="87">
                  <c:v>7101</c:v>
                </c:pt>
                <c:pt idx="88">
                  <c:v>6459</c:v>
                </c:pt>
                <c:pt idx="89">
                  <c:v>6022</c:v>
                </c:pt>
                <c:pt idx="90">
                  <c:v>6286</c:v>
                </c:pt>
                <c:pt idx="91">
                  <c:v>6375</c:v>
                </c:pt>
                <c:pt idx="92">
                  <c:v>6704</c:v>
                </c:pt>
                <c:pt idx="93">
                  <c:v>6754</c:v>
                </c:pt>
                <c:pt idx="94">
                  <c:v>7075</c:v>
                </c:pt>
                <c:pt idx="95">
                  <c:v>6349</c:v>
                </c:pt>
                <c:pt idx="96">
                  <c:v>6310</c:v>
                </c:pt>
                <c:pt idx="97">
                  <c:v>6629</c:v>
                </c:pt>
                <c:pt idx="98">
                  <c:v>6709</c:v>
                </c:pt>
                <c:pt idx="99">
                  <c:v>7046</c:v>
                </c:pt>
                <c:pt idx="100">
                  <c:v>7719</c:v>
                </c:pt>
                <c:pt idx="101">
                  <c:v>7188</c:v>
                </c:pt>
                <c:pt idx="102">
                  <c:v>6645</c:v>
                </c:pt>
                <c:pt idx="103">
                  <c:v>7135</c:v>
                </c:pt>
                <c:pt idx="104">
                  <c:v>7167</c:v>
                </c:pt>
                <c:pt idx="105">
                  <c:v>7122</c:v>
                </c:pt>
                <c:pt idx="106">
                  <c:v>7299</c:v>
                </c:pt>
                <c:pt idx="107">
                  <c:v>7958</c:v>
                </c:pt>
                <c:pt idx="108">
                  <c:v>7374</c:v>
                </c:pt>
                <c:pt idx="109">
                  <c:v>6813</c:v>
                </c:pt>
                <c:pt idx="110">
                  <c:v>7027</c:v>
                </c:pt>
                <c:pt idx="111">
                  <c:v>7141</c:v>
                </c:pt>
                <c:pt idx="112">
                  <c:v>7310</c:v>
                </c:pt>
                <c:pt idx="113">
                  <c:v>7058</c:v>
                </c:pt>
                <c:pt idx="114">
                  <c:v>7699</c:v>
                </c:pt>
                <c:pt idx="115">
                  <c:v>6881</c:v>
                </c:pt>
                <c:pt idx="116">
                  <c:v>6179</c:v>
                </c:pt>
                <c:pt idx="117">
                  <c:v>6576</c:v>
                </c:pt>
                <c:pt idx="118">
                  <c:v>6408</c:v>
                </c:pt>
                <c:pt idx="119">
                  <c:v>7108</c:v>
                </c:pt>
                <c:pt idx="120">
                  <c:v>8653</c:v>
                </c:pt>
                <c:pt idx="121">
                  <c:v>8249</c:v>
                </c:pt>
                <c:pt idx="122">
                  <c:v>7780</c:v>
                </c:pt>
                <c:pt idx="123">
                  <c:v>7153</c:v>
                </c:pt>
                <c:pt idx="124">
                  <c:v>6694</c:v>
                </c:pt>
                <c:pt idx="125">
                  <c:v>6063</c:v>
                </c:pt>
                <c:pt idx="126">
                  <c:v>6236</c:v>
                </c:pt>
                <c:pt idx="127">
                  <c:v>6738</c:v>
                </c:pt>
                <c:pt idx="128">
                  <c:v>7120</c:v>
                </c:pt>
                <c:pt idx="129">
                  <c:v>6714</c:v>
                </c:pt>
                <c:pt idx="130">
                  <c:v>6780</c:v>
                </c:pt>
                <c:pt idx="131">
                  <c:v>6903</c:v>
                </c:pt>
                <c:pt idx="132">
                  <c:v>6671</c:v>
                </c:pt>
                <c:pt idx="133">
                  <c:v>6955</c:v>
                </c:pt>
                <c:pt idx="134">
                  <c:v>6995</c:v>
                </c:pt>
                <c:pt idx="135">
                  <c:v>7815</c:v>
                </c:pt>
                <c:pt idx="136">
                  <c:v>7158</c:v>
                </c:pt>
                <c:pt idx="137">
                  <c:v>6839</c:v>
                </c:pt>
                <c:pt idx="138">
                  <c:v>6924</c:v>
                </c:pt>
                <c:pt idx="139">
                  <c:v>6769</c:v>
                </c:pt>
                <c:pt idx="140">
                  <c:v>6588</c:v>
                </c:pt>
                <c:pt idx="141">
                  <c:v>6874</c:v>
                </c:pt>
                <c:pt idx="142">
                  <c:v>7710</c:v>
                </c:pt>
                <c:pt idx="143">
                  <c:v>7045</c:v>
                </c:pt>
                <c:pt idx="144">
                  <c:v>6625</c:v>
                </c:pt>
                <c:pt idx="145">
                  <c:v>6877</c:v>
                </c:pt>
                <c:pt idx="146">
                  <c:v>7120</c:v>
                </c:pt>
                <c:pt idx="147">
                  <c:v>6993</c:v>
                </c:pt>
              </c:numCache>
            </c:numRef>
          </c:val>
          <c:smooth val="1"/>
        </c:ser>
        <c:ser>
          <c:idx val="1"/>
          <c:order val="1"/>
          <c:tx>
            <c:strRef>
              <c:f>Sheet1!$C$1</c:f>
              <c:strCache>
                <c:ptCount val="1"/>
                <c:pt idx="0">
                  <c:v>forecast</c:v>
                </c:pt>
              </c:strCache>
            </c:strRef>
          </c:tx>
          <c:spPr>
            <a:solidFill>
              <a:srgbClr val="2E8BA8"/>
            </a:solidFill>
            <a:ln w="31750" cap="flat">
              <a:solidFill>
                <a:srgbClr val="2E8B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8BA8"/>
              </a:solidFill>
              <a:ln w="9525" cap="flat">
                <a:solidFill>
                  <a:srgbClr val="2E8BA8"/>
                </a:solidFill>
                <a:prstDash val="solid"/>
                <a:round/>
              </a:ln>
              <a:effectLst/>
            </c:spPr>
          </c:marker>
          <c:cat>
            <c:multiLvlStrRef>
              <c:f>Sheet1!$A$2:$A$149</c:f>
              <c:multiLvlStrCache>
                <c:ptCount val="148"/>
                <c:lvl>
                  <c:pt idx="0">
                    <c:v>01 Jan</c:v>
                  </c:pt>
                  <c:pt idx="1">
                    <c:v>02 Jan</c:v>
                  </c:pt>
                  <c:pt idx="2">
                    <c:v>03 Jan</c:v>
                  </c:pt>
                  <c:pt idx="3">
                    <c:v>04 Jan</c:v>
                  </c:pt>
                  <c:pt idx="4">
                    <c:v>05 Jan</c:v>
                  </c:pt>
                  <c:pt idx="5">
                    <c:v>06 Jan</c:v>
                  </c:pt>
                  <c:pt idx="6">
                    <c:v>07 Jan</c:v>
                  </c:pt>
                  <c:pt idx="7">
                    <c:v>08 Jan</c:v>
                  </c:pt>
                  <c:pt idx="8">
                    <c:v>09 Jan</c:v>
                  </c:pt>
                  <c:pt idx="9">
                    <c:v>10 Jan</c:v>
                  </c:pt>
                  <c:pt idx="10">
                    <c:v>11 Jan</c:v>
                  </c:pt>
                  <c:pt idx="11">
                    <c:v>12 Jan</c:v>
                  </c:pt>
                  <c:pt idx="12">
                    <c:v>13 Jan</c:v>
                  </c:pt>
                  <c:pt idx="13">
                    <c:v>14 Jan</c:v>
                  </c:pt>
                  <c:pt idx="14">
                    <c:v>15 Jan</c:v>
                  </c:pt>
                  <c:pt idx="15">
                    <c:v>16 Jan</c:v>
                  </c:pt>
                  <c:pt idx="16">
                    <c:v>17 Jan</c:v>
                  </c:pt>
                  <c:pt idx="17">
                    <c:v>18 Jan</c:v>
                  </c:pt>
                  <c:pt idx="18">
                    <c:v>19 Jan</c:v>
                  </c:pt>
                  <c:pt idx="19">
                    <c:v>20 Jan</c:v>
                  </c:pt>
                  <c:pt idx="20">
                    <c:v>21 Jan</c:v>
                  </c:pt>
                  <c:pt idx="21">
                    <c:v>22 Jan</c:v>
                  </c:pt>
                  <c:pt idx="22">
                    <c:v>23 Jan</c:v>
                  </c:pt>
                  <c:pt idx="23">
                    <c:v>24 Jan</c:v>
                  </c:pt>
                  <c:pt idx="24">
                    <c:v>25 Jan</c:v>
                  </c:pt>
                  <c:pt idx="25">
                    <c:v>26 Jan</c:v>
                  </c:pt>
                  <c:pt idx="26">
                    <c:v>27 Jan</c:v>
                  </c:pt>
                  <c:pt idx="27">
                    <c:v>28 Jan</c:v>
                  </c:pt>
                  <c:pt idx="28">
                    <c:v>29 Jan</c:v>
                  </c:pt>
                  <c:pt idx="29">
                    <c:v>30 Jan</c:v>
                  </c:pt>
                  <c:pt idx="30">
                    <c:v>31 Jan</c:v>
                  </c:pt>
                  <c:pt idx="31">
                    <c:v>01 Feb</c:v>
                  </c:pt>
                  <c:pt idx="32">
                    <c:v>02 Feb</c:v>
                  </c:pt>
                  <c:pt idx="33">
                    <c:v>03 Feb</c:v>
                  </c:pt>
                  <c:pt idx="34">
                    <c:v>04 Feb</c:v>
                  </c:pt>
                  <c:pt idx="35">
                    <c:v>05 Feb</c:v>
                  </c:pt>
                  <c:pt idx="36">
                    <c:v>06 Feb</c:v>
                  </c:pt>
                  <c:pt idx="37">
                    <c:v>07 Feb</c:v>
                  </c:pt>
                  <c:pt idx="38">
                    <c:v>08 Feb</c:v>
                  </c:pt>
                  <c:pt idx="39">
                    <c:v>09 Feb</c:v>
                  </c:pt>
                  <c:pt idx="40">
                    <c:v>10 Feb</c:v>
                  </c:pt>
                  <c:pt idx="41">
                    <c:v>11 Feb</c:v>
                  </c:pt>
                  <c:pt idx="42">
                    <c:v>12 Feb</c:v>
                  </c:pt>
                  <c:pt idx="43">
                    <c:v>13 Feb</c:v>
                  </c:pt>
                  <c:pt idx="44">
                    <c:v>14 Feb</c:v>
                  </c:pt>
                  <c:pt idx="45">
                    <c:v>15 Feb</c:v>
                  </c:pt>
                  <c:pt idx="46">
                    <c:v>16 Feb</c:v>
                  </c:pt>
                  <c:pt idx="47">
                    <c:v>17 Feb</c:v>
                  </c:pt>
                  <c:pt idx="48">
                    <c:v>18 Feb</c:v>
                  </c:pt>
                  <c:pt idx="49">
                    <c:v>19 Feb</c:v>
                  </c:pt>
                  <c:pt idx="50">
                    <c:v>20 Feb</c:v>
                  </c:pt>
                  <c:pt idx="51">
                    <c:v>21 Feb</c:v>
                  </c:pt>
                  <c:pt idx="52">
                    <c:v>22 Feb</c:v>
                  </c:pt>
                  <c:pt idx="53">
                    <c:v>23 Feb</c:v>
                  </c:pt>
                  <c:pt idx="54">
                    <c:v>24 Feb</c:v>
                  </c:pt>
                  <c:pt idx="55">
                    <c:v>25 Feb</c:v>
                  </c:pt>
                  <c:pt idx="56">
                    <c:v>26 Feb</c:v>
                  </c:pt>
                  <c:pt idx="57">
                    <c:v>27 Feb</c:v>
                  </c:pt>
                  <c:pt idx="58">
                    <c:v>28 Feb</c:v>
                  </c:pt>
                  <c:pt idx="59">
                    <c:v>01 Mar</c:v>
                  </c:pt>
                  <c:pt idx="60">
                    <c:v>02 Mar</c:v>
                  </c:pt>
                  <c:pt idx="61">
                    <c:v>03 Mar</c:v>
                  </c:pt>
                  <c:pt idx="62">
                    <c:v>04 Mar</c:v>
                  </c:pt>
                  <c:pt idx="63">
                    <c:v>05 Mar</c:v>
                  </c:pt>
                  <c:pt idx="64">
                    <c:v>06 Mar</c:v>
                  </c:pt>
                  <c:pt idx="65">
                    <c:v>07 Mar</c:v>
                  </c:pt>
                  <c:pt idx="66">
                    <c:v>08 Mar</c:v>
                  </c:pt>
                  <c:pt idx="67">
                    <c:v>09 Mar</c:v>
                  </c:pt>
                  <c:pt idx="68">
                    <c:v>10 Mar</c:v>
                  </c:pt>
                  <c:pt idx="69">
                    <c:v>11 Mar</c:v>
                  </c:pt>
                  <c:pt idx="70">
                    <c:v>12 Mar</c:v>
                  </c:pt>
                  <c:pt idx="71">
                    <c:v>13 Mar</c:v>
                  </c:pt>
                  <c:pt idx="72">
                    <c:v>14 Mar</c:v>
                  </c:pt>
                  <c:pt idx="73">
                    <c:v>15 Mar</c:v>
                  </c:pt>
                  <c:pt idx="74">
                    <c:v>16 Mar</c:v>
                  </c:pt>
                  <c:pt idx="75">
                    <c:v>17 Mar</c:v>
                  </c:pt>
                  <c:pt idx="76">
                    <c:v>18 Mar</c:v>
                  </c:pt>
                  <c:pt idx="77">
                    <c:v>19 Mar</c:v>
                  </c:pt>
                  <c:pt idx="78">
                    <c:v>20 Mar</c:v>
                  </c:pt>
                  <c:pt idx="79">
                    <c:v>21 Mar</c:v>
                  </c:pt>
                  <c:pt idx="80">
                    <c:v>22 Mar</c:v>
                  </c:pt>
                  <c:pt idx="81">
                    <c:v>23 Mar</c:v>
                  </c:pt>
                  <c:pt idx="82">
                    <c:v>24 Mar</c:v>
                  </c:pt>
                  <c:pt idx="83">
                    <c:v>25 Mar</c:v>
                  </c:pt>
                  <c:pt idx="84">
                    <c:v>26 Mar</c:v>
                  </c:pt>
                  <c:pt idx="85">
                    <c:v>27 Mar</c:v>
                  </c:pt>
                  <c:pt idx="86">
                    <c:v>28 Mar</c:v>
                  </c:pt>
                  <c:pt idx="87">
                    <c:v>29 Mar</c:v>
                  </c:pt>
                  <c:pt idx="88">
                    <c:v>30 Mar</c:v>
                  </c:pt>
                  <c:pt idx="89">
                    <c:v>31 Mar</c:v>
                  </c:pt>
                  <c:pt idx="90">
                    <c:v>01 Apr</c:v>
                  </c:pt>
                  <c:pt idx="91">
                    <c:v>02 Apr</c:v>
                  </c:pt>
                  <c:pt idx="92">
                    <c:v>03 Apr</c:v>
                  </c:pt>
                  <c:pt idx="93">
                    <c:v>04 Apr</c:v>
                  </c:pt>
                  <c:pt idx="94">
                    <c:v>05 Apr</c:v>
                  </c:pt>
                  <c:pt idx="95">
                    <c:v>06 Apr</c:v>
                  </c:pt>
                  <c:pt idx="96">
                    <c:v>07 Apr</c:v>
                  </c:pt>
                  <c:pt idx="97">
                    <c:v>08 Apr</c:v>
                  </c:pt>
                  <c:pt idx="98">
                    <c:v>09 Apr</c:v>
                  </c:pt>
                  <c:pt idx="99">
                    <c:v>10 Apr</c:v>
                  </c:pt>
                  <c:pt idx="100">
                    <c:v>11 Apr</c:v>
                  </c:pt>
                  <c:pt idx="101">
                    <c:v>12 Apr</c:v>
                  </c:pt>
                  <c:pt idx="102">
                    <c:v>13 Apr</c:v>
                  </c:pt>
                  <c:pt idx="103">
                    <c:v>14 Apr</c:v>
                  </c:pt>
                  <c:pt idx="104">
                    <c:v>15 Apr</c:v>
                  </c:pt>
                  <c:pt idx="105">
                    <c:v>16 Apr</c:v>
                  </c:pt>
                  <c:pt idx="106">
                    <c:v>17 Apr</c:v>
                  </c:pt>
                  <c:pt idx="107">
                    <c:v>18 Apr</c:v>
                  </c:pt>
                  <c:pt idx="108">
                    <c:v>19 Apr</c:v>
                  </c:pt>
                  <c:pt idx="109">
                    <c:v>20 Apr</c:v>
                  </c:pt>
                  <c:pt idx="110">
                    <c:v>21 Apr</c:v>
                  </c:pt>
                  <c:pt idx="111">
                    <c:v>22 Apr</c:v>
                  </c:pt>
                  <c:pt idx="112">
                    <c:v>23 Apr</c:v>
                  </c:pt>
                  <c:pt idx="113">
                    <c:v>24 Apr</c:v>
                  </c:pt>
                  <c:pt idx="114">
                    <c:v>25 Apr</c:v>
                  </c:pt>
                  <c:pt idx="115">
                    <c:v>26 Apr</c:v>
                  </c:pt>
                  <c:pt idx="116">
                    <c:v>27 Apr</c:v>
                  </c:pt>
                  <c:pt idx="117">
                    <c:v>28 Apr</c:v>
                  </c:pt>
                  <c:pt idx="118">
                    <c:v>29 Apr</c:v>
                  </c:pt>
                  <c:pt idx="119">
                    <c:v>30 Apr</c:v>
                  </c:pt>
                  <c:pt idx="120">
                    <c:v>01 May</c:v>
                  </c:pt>
                  <c:pt idx="121">
                    <c:v>02 May</c:v>
                  </c:pt>
                  <c:pt idx="122">
                    <c:v>03 May</c:v>
                  </c:pt>
                  <c:pt idx="123">
                    <c:v>04 May</c:v>
                  </c:pt>
                  <c:pt idx="124">
                    <c:v>05 May</c:v>
                  </c:pt>
                  <c:pt idx="125">
                    <c:v>06 May</c:v>
                  </c:pt>
                  <c:pt idx="126">
                    <c:v>07 May</c:v>
                  </c:pt>
                  <c:pt idx="127">
                    <c:v>08 May</c:v>
                  </c:pt>
                  <c:pt idx="128">
                    <c:v>09 May</c:v>
                  </c:pt>
                  <c:pt idx="129">
                    <c:v>10 May</c:v>
                  </c:pt>
                  <c:pt idx="130">
                    <c:v>11 May</c:v>
                  </c:pt>
                  <c:pt idx="131">
                    <c:v>12 May</c:v>
                  </c:pt>
                  <c:pt idx="132">
                    <c:v>13 May</c:v>
                  </c:pt>
                  <c:pt idx="133">
                    <c:v>14 May</c:v>
                  </c:pt>
                  <c:pt idx="134">
                    <c:v>15 May</c:v>
                  </c:pt>
                  <c:pt idx="135">
                    <c:v>16 May</c:v>
                  </c:pt>
                  <c:pt idx="136">
                    <c:v>17 May</c:v>
                  </c:pt>
                  <c:pt idx="137">
                    <c:v>18 May</c:v>
                  </c:pt>
                  <c:pt idx="138">
                    <c:v>19 May</c:v>
                  </c:pt>
                  <c:pt idx="139">
                    <c:v>20 May</c:v>
                  </c:pt>
                  <c:pt idx="140">
                    <c:v>21 May</c:v>
                  </c:pt>
                  <c:pt idx="141">
                    <c:v>22 May</c:v>
                  </c:pt>
                  <c:pt idx="142">
                    <c:v>23 May</c:v>
                  </c:pt>
                  <c:pt idx="143">
                    <c:v>24 May</c:v>
                  </c:pt>
                  <c:pt idx="144">
                    <c:v>25 May</c:v>
                  </c:pt>
                  <c:pt idx="145">
                    <c:v>26 May</c:v>
                  </c:pt>
                  <c:pt idx="146">
                    <c:v>27 May</c:v>
                  </c:pt>
                  <c:pt idx="147">
                    <c:v>28 May</c:v>
                  </c:pt>
                </c:lvl>
              </c:multiLvlStrCache>
            </c:multiLvlStrRef>
          </c:cat>
          <c:val>
            <c:numRef>
              <c:f>Sheet1!$C$2:$C$149</c:f>
              <c:numCache>
                <c:formatCode>General</c:formatCode>
                <c:ptCount val="148"/>
                <c:pt idx="0">
                  <c:v>7343</c:v>
                </c:pt>
                <c:pt idx="1">
                  <c:v>7350</c:v>
                </c:pt>
                <c:pt idx="2">
                  <c:v>7271</c:v>
                </c:pt>
                <c:pt idx="3">
                  <c:v>7039</c:v>
                </c:pt>
                <c:pt idx="4">
                  <c:v>6772</c:v>
                </c:pt>
                <c:pt idx="5">
                  <c:v>6671</c:v>
                </c:pt>
                <c:pt idx="6">
                  <c:v>7214</c:v>
                </c:pt>
                <c:pt idx="7">
                  <c:v>6892</c:v>
                </c:pt>
                <c:pt idx="8">
                  <c:v>6955</c:v>
                </c:pt>
                <c:pt idx="9">
                  <c:v>7581</c:v>
                </c:pt>
                <c:pt idx="10">
                  <c:v>6882</c:v>
                </c:pt>
                <c:pt idx="11">
                  <c:v>6569</c:v>
                </c:pt>
                <c:pt idx="12">
                  <c:v>6757</c:v>
                </c:pt>
                <c:pt idx="13">
                  <c:v>7026</c:v>
                </c:pt>
                <c:pt idx="14">
                  <c:v>7002</c:v>
                </c:pt>
                <c:pt idx="15">
                  <c:v>7142</c:v>
                </c:pt>
                <c:pt idx="16">
                  <c:v>7681</c:v>
                </c:pt>
                <c:pt idx="17">
                  <c:v>7180</c:v>
                </c:pt>
                <c:pt idx="18">
                  <c:v>6670</c:v>
                </c:pt>
                <c:pt idx="19">
                  <c:v>6754</c:v>
                </c:pt>
                <c:pt idx="20">
                  <c:v>6675</c:v>
                </c:pt>
                <c:pt idx="21">
                  <c:v>7076</c:v>
                </c:pt>
                <c:pt idx="22">
                  <c:v>7169</c:v>
                </c:pt>
                <c:pt idx="23">
                  <c:v>7585</c:v>
                </c:pt>
                <c:pt idx="24">
                  <c:v>6933</c:v>
                </c:pt>
                <c:pt idx="25">
                  <c:v>6478</c:v>
                </c:pt>
                <c:pt idx="26">
                  <c:v>6357</c:v>
                </c:pt>
                <c:pt idx="27">
                  <c:v>6714</c:v>
                </c:pt>
                <c:pt idx="28">
                  <c:v>7162</c:v>
                </c:pt>
                <c:pt idx="29">
                  <c:v>7370</c:v>
                </c:pt>
                <c:pt idx="30">
                  <c:v>7689</c:v>
                </c:pt>
                <c:pt idx="31">
                  <c:v>7363</c:v>
                </c:pt>
                <c:pt idx="32">
                  <c:v>6840</c:v>
                </c:pt>
                <c:pt idx="33">
                  <c:v>6959</c:v>
                </c:pt>
                <c:pt idx="34">
                  <c:v>7345</c:v>
                </c:pt>
                <c:pt idx="35">
                  <c:v>7438</c:v>
                </c:pt>
                <c:pt idx="36">
                  <c:v>7387</c:v>
                </c:pt>
                <c:pt idx="37">
                  <c:v>7439</c:v>
                </c:pt>
                <c:pt idx="38">
                  <c:v>7114</c:v>
                </c:pt>
                <c:pt idx="39">
                  <c:v>7180</c:v>
                </c:pt>
                <c:pt idx="40">
                  <c:v>6108</c:v>
                </c:pt>
                <c:pt idx="41">
                  <c:v>6716</c:v>
                </c:pt>
                <c:pt idx="42">
                  <c:v>6197</c:v>
                </c:pt>
                <c:pt idx="43">
                  <c:v>5793</c:v>
                </c:pt>
                <c:pt idx="44">
                  <c:v>5347</c:v>
                </c:pt>
                <c:pt idx="45">
                  <c:v>4392</c:v>
                </c:pt>
                <c:pt idx="46">
                  <c:v>3596</c:v>
                </c:pt>
                <c:pt idx="47">
                  <c:v>5553</c:v>
                </c:pt>
                <c:pt idx="48">
                  <c:v>6787</c:v>
                </c:pt>
                <c:pt idx="49">
                  <c:v>7287</c:v>
                </c:pt>
                <c:pt idx="50">
                  <c:v>7633</c:v>
                </c:pt>
                <c:pt idx="51">
                  <c:v>8346</c:v>
                </c:pt>
                <c:pt idx="52">
                  <c:v>8199</c:v>
                </c:pt>
                <c:pt idx="53">
                  <c:v>7349</c:v>
                </c:pt>
                <c:pt idx="54">
                  <c:v>6976</c:v>
                </c:pt>
                <c:pt idx="55">
                  <c:v>7279</c:v>
                </c:pt>
                <c:pt idx="56">
                  <c:v>7362</c:v>
                </c:pt>
                <c:pt idx="57">
                  <c:v>7335</c:v>
                </c:pt>
                <c:pt idx="58">
                  <c:v>7197</c:v>
                </c:pt>
                <c:pt idx="59">
                  <c:v>7190</c:v>
                </c:pt>
                <c:pt idx="60">
                  <c:v>6765</c:v>
                </c:pt>
                <c:pt idx="61">
                  <c:v>6754</c:v>
                </c:pt>
                <c:pt idx="62">
                  <c:v>6736</c:v>
                </c:pt>
                <c:pt idx="63">
                  <c:v>6992</c:v>
                </c:pt>
                <c:pt idx="64">
                  <c:v>7392</c:v>
                </c:pt>
                <c:pt idx="65">
                  <c:v>7924</c:v>
                </c:pt>
                <c:pt idx="66">
                  <c:v>7450</c:v>
                </c:pt>
                <c:pt idx="67">
                  <c:v>6920</c:v>
                </c:pt>
                <c:pt idx="68">
                  <c:v>6999</c:v>
                </c:pt>
                <c:pt idx="69">
                  <c:v>7148</c:v>
                </c:pt>
                <c:pt idx="70">
                  <c:v>7439</c:v>
                </c:pt>
                <c:pt idx="71">
                  <c:v>7348</c:v>
                </c:pt>
                <c:pt idx="72">
                  <c:v>7874</c:v>
                </c:pt>
                <c:pt idx="73">
                  <c:v>7392</c:v>
                </c:pt>
                <c:pt idx="74">
                  <c:v>7030</c:v>
                </c:pt>
                <c:pt idx="75">
                  <c:v>7023</c:v>
                </c:pt>
                <c:pt idx="76">
                  <c:v>7187</c:v>
                </c:pt>
                <c:pt idx="77">
                  <c:v>7281</c:v>
                </c:pt>
                <c:pt idx="78">
                  <c:v>7448</c:v>
                </c:pt>
                <c:pt idx="79">
                  <c:v>7909</c:v>
                </c:pt>
                <c:pt idx="80">
                  <c:v>7422</c:v>
                </c:pt>
                <c:pt idx="81">
                  <c:v>6904</c:v>
                </c:pt>
                <c:pt idx="82">
                  <c:v>6976</c:v>
                </c:pt>
                <c:pt idx="83">
                  <c:v>7130</c:v>
                </c:pt>
                <c:pt idx="84">
                  <c:v>7130</c:v>
                </c:pt>
                <c:pt idx="85">
                  <c:v>7305</c:v>
                </c:pt>
                <c:pt idx="86">
                  <c:v>7651</c:v>
                </c:pt>
                <c:pt idx="87">
                  <c:v>6978</c:v>
                </c:pt>
                <c:pt idx="88">
                  <c:v>6240</c:v>
                </c:pt>
                <c:pt idx="89">
                  <c:v>6405</c:v>
                </c:pt>
                <c:pt idx="90">
                  <c:v>6491</c:v>
                </c:pt>
                <c:pt idx="91">
                  <c:v>6604</c:v>
                </c:pt>
                <c:pt idx="92">
                  <c:v>7106</c:v>
                </c:pt>
                <c:pt idx="93">
                  <c:v>7938</c:v>
                </c:pt>
                <c:pt idx="94">
                  <c:v>7347</c:v>
                </c:pt>
                <c:pt idx="95">
                  <c:v>6390</c:v>
                </c:pt>
                <c:pt idx="96">
                  <c:v>6225</c:v>
                </c:pt>
                <c:pt idx="97">
                  <c:v>6515</c:v>
                </c:pt>
                <c:pt idx="98">
                  <c:v>6847</c:v>
                </c:pt>
                <c:pt idx="99">
                  <c:v>7083</c:v>
                </c:pt>
                <c:pt idx="100">
                  <c:v>7923</c:v>
                </c:pt>
                <c:pt idx="101">
                  <c:v>7215</c:v>
                </c:pt>
                <c:pt idx="102">
                  <c:v>6756</c:v>
                </c:pt>
                <c:pt idx="103">
                  <c:v>6882</c:v>
                </c:pt>
                <c:pt idx="104">
                  <c:v>7041</c:v>
                </c:pt>
                <c:pt idx="105">
                  <c:v>7125</c:v>
                </c:pt>
                <c:pt idx="106">
                  <c:v>7238</c:v>
                </c:pt>
                <c:pt idx="107">
                  <c:v>7763</c:v>
                </c:pt>
                <c:pt idx="108">
                  <c:v>7205</c:v>
                </c:pt>
                <c:pt idx="109">
                  <c:v>6790</c:v>
                </c:pt>
                <c:pt idx="110">
                  <c:v>6854</c:v>
                </c:pt>
                <c:pt idx="111">
                  <c:v>6907</c:v>
                </c:pt>
                <c:pt idx="112">
                  <c:v>6966</c:v>
                </c:pt>
                <c:pt idx="113">
                  <c:v>7294</c:v>
                </c:pt>
                <c:pt idx="114">
                  <c:v>7804</c:v>
                </c:pt>
                <c:pt idx="115">
                  <c:v>7134</c:v>
                </c:pt>
                <c:pt idx="116">
                  <c:v>6661</c:v>
                </c:pt>
                <c:pt idx="117">
                  <c:v>6770</c:v>
                </c:pt>
                <c:pt idx="118">
                  <c:v>6752</c:v>
                </c:pt>
                <c:pt idx="119">
                  <c:v>6907</c:v>
                </c:pt>
                <c:pt idx="120">
                  <c:v>8125</c:v>
                </c:pt>
                <c:pt idx="121">
                  <c:v>8055</c:v>
                </c:pt>
                <c:pt idx="122">
                  <c:v>7551</c:v>
                </c:pt>
                <c:pt idx="123">
                  <c:v>7344</c:v>
                </c:pt>
                <c:pt idx="124">
                  <c:v>6808</c:v>
                </c:pt>
                <c:pt idx="125">
                  <c:v>6654</c:v>
                </c:pt>
                <c:pt idx="126">
                  <c:v>6855</c:v>
                </c:pt>
                <c:pt idx="127">
                  <c:v>7090</c:v>
                </c:pt>
                <c:pt idx="128">
                  <c:v>7023</c:v>
                </c:pt>
                <c:pt idx="129">
                  <c:v>7180</c:v>
                </c:pt>
                <c:pt idx="130">
                  <c:v>6818</c:v>
                </c:pt>
                <c:pt idx="131">
                  <c:v>6935</c:v>
                </c:pt>
                <c:pt idx="132">
                  <c:v>7033</c:v>
                </c:pt>
                <c:pt idx="133">
                  <c:v>7046</c:v>
                </c:pt>
                <c:pt idx="134">
                  <c:v>7187</c:v>
                </c:pt>
                <c:pt idx="135">
                  <c:v>7829</c:v>
                </c:pt>
                <c:pt idx="136">
                  <c:v>7338</c:v>
                </c:pt>
                <c:pt idx="137">
                  <c:v>6914</c:v>
                </c:pt>
                <c:pt idx="138">
                  <c:v>6842</c:v>
                </c:pt>
                <c:pt idx="139">
                  <c:v>7043</c:v>
                </c:pt>
                <c:pt idx="140">
                  <c:v>7054</c:v>
                </c:pt>
                <c:pt idx="141">
                  <c:v>7229</c:v>
                </c:pt>
                <c:pt idx="142">
                  <c:v>7788</c:v>
                </c:pt>
                <c:pt idx="143">
                  <c:v>7145</c:v>
                </c:pt>
                <c:pt idx="144">
                  <c:v>6685</c:v>
                </c:pt>
                <c:pt idx="145">
                  <c:v>6667</c:v>
                </c:pt>
                <c:pt idx="146">
                  <c:v>6616</c:v>
                </c:pt>
                <c:pt idx="147">
                  <c:v>6794</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900" b="0" i="0" u="none" strike="noStrike">
                <a:solidFill>
                  <a:srgbClr val="5F7183"/>
                </a:solidFill>
                <a:latin typeface="Calibri"/>
              </a:defRPr>
            </a:pPr>
            <a:endParaRPr lang="en-US"/>
          </a:p>
        </c:txPr>
        <c:crossAx val="2094734552"/>
        <c:crosses val="autoZero"/>
        <c:auto val="1"/>
        <c:lblAlgn val="ctr"/>
        <c:noMultiLvlLbl val="1"/>
        <c:tickLblSkip val="12"/>
      </c:catAx>
      <c:valAx>
        <c:axId val="2094734552"/>
        <c:scaling>
          <c:orientation val="minMax"/>
          <c:min val="0"/>
        </c:scaling>
        <c:delete val="0"/>
        <c:axPos val="l"/>
        <c:majorGridlines>
          <c:spPr>
            <a:ln w="1270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7183"/>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average % miss</c:v>
                </c:pt>
              </c:strCache>
            </c:strRef>
          </c:tx>
          <c:spPr>
            <a:solidFill>
              <a:srgbClr val="2FA87C"/>
            </a:solidFill>
            <a:effectLst/>
          </c:spPr>
          <c:invertIfNegative val="0"/>
          <c:dLbls>
            <c:numFmt formatCode="0.00&quot;%&quot;" sourceLinked="0"/>
            <c:txPr>
              <a:bodyPr/>
              <a:lstStyle/>
              <a:p>
                <a:pPr>
                  <a:defRPr b="0" i="0" strike="noStrike" sz="1300" u="none">
                    <a:solidFill>
                      <a:srgbClr val="0F2942"/>
                    </a:solidFill>
                    <a:latin typeface="Arial"/>
                  </a:defRPr>
                </a:pPr>
              </a:p>
            </c:txPr>
            <c:showLegendKey val="0"/>
            <c:showVal val="1"/>
            <c:showCatName val="0"/>
            <c:showSerName val="0"/>
            <c:showPercent val="0"/>
            <c:showBubbleSize val="0"/>
            <c:showLeaderLines val="0"/>
          </c:dLbls>
          <c:dPt>
            <c:idx val="0"/>
            <c:invertIfNegative val="0"/>
            <c:bubble3D val="0"/>
            <c:spPr>
              <a:solidFill>
                <a:srgbClr val="2FA87C"/>
              </a:solidFill>
              <a:effectLst/>
            </c:spPr>
          </c:dPt>
          <c:dPt>
            <c:idx val="1"/>
            <c:invertIfNegative val="0"/>
            <c:bubble3D val="0"/>
            <c:spPr>
              <a:solidFill>
                <a:srgbClr val="2E8BA8"/>
              </a:solidFill>
              <a:effectLst/>
            </c:spPr>
          </c:dPt>
          <c:dPt>
            <c:idx val="2"/>
            <c:invertIfNegative val="0"/>
            <c:bubble3D val="0"/>
            <c:spPr>
              <a:solidFill>
                <a:srgbClr val="E8B547"/>
              </a:solidFill>
              <a:effectLst/>
            </c:spPr>
          </c:dPt>
          <c:dPt>
            <c:idx val="3"/>
            <c:invertIfNegative val="0"/>
            <c:bubble3D val="0"/>
            <c:spPr>
              <a:solidFill>
                <a:srgbClr val="C74B4B"/>
              </a:solidFill>
              <a:effectLst/>
            </c:spPr>
          </c:dPt>
          <c:cat>
            <c:multiLvlStrRef>
              <c:f>Sheet1!$A$2:$A$5</c:f>
              <c:multiLvlStrCache>
                <c:ptCount val="4"/>
                <c:lvl>
                  <c:pt idx="0">
                    <c:v>1 day</c:v>
                  </c:pt>
                  <c:pt idx="1">
                    <c:v>7 days</c:v>
                  </c:pt>
                  <c:pt idx="2">
                    <c:v>14 days</c:v>
                  </c:pt>
                  <c:pt idx="3">
                    <c:v>28 days</c:v>
                  </c:pt>
                </c:lvl>
              </c:multiLvlStrCache>
            </c:multiLvlStrRef>
          </c:cat>
          <c:val>
            <c:numRef>
              <c:f>Sheet1!$B$2:$B$5</c:f>
              <c:numCache>
                <c:formatCode>General</c:formatCode>
                <c:ptCount val="4"/>
                <c:pt idx="0">
                  <c:v>3.78</c:v>
                </c:pt>
                <c:pt idx="1">
                  <c:v>4.07</c:v>
                </c:pt>
                <c:pt idx="2">
                  <c:v>4.96</c:v>
                </c:pt>
                <c:pt idx="3">
                  <c:v>4.84</c:v>
                </c:pt>
              </c:numCache>
            </c:numRef>
          </c:val>
        </c:ser>
        <c:dLbls>
          <c:numFmt formatCode="0.00&quot;%&quot;" sourceLinked="0"/>
          <c:txPr>
            <a:bodyPr/>
            <a:lstStyle/>
            <a:p>
              <a:pPr>
                <a:defRPr b="0" i="0" strike="noStrike" sz="1300" u="none">
                  <a:solidFill>
                    <a:srgbClr val="0F2942"/>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F7183"/>
                    </a:solidFill>
                    <a:latin typeface="Arial"/>
                  </a:defRPr>
                </a:pPr>
                <a:r>
                  <a:rPr sz="1100" b="0" i="0" u="none" strike="noStrike">
                    <a:solidFill>
                      <a:srgbClr val="5F7183"/>
                    </a:solidFill>
                    <a:latin typeface="Arial"/>
                  </a:rPr>
                  <a:t>how far ahead the forecast was made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7183"/>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E8EDF2"/>
              </a:solidFill>
              <a:prstDash val="solid"/>
              <a:round/>
            </a:ln>
          </c:spPr>
        </c:majorGridlines>
        <c:title>
          <c:tx>
            <c:rich>
              <a:bodyPr/>
              <a:lstStyle/>
              <a:p>
                <a:pPr>
                  <a:defRPr sz="1100" b="0" i="0" u="none" strike="noStrike">
                    <a:solidFill>
                      <a:srgbClr val="5F7183"/>
                    </a:solidFill>
                    <a:latin typeface="Arial"/>
                  </a:defRPr>
                </a:pPr>
                <a:r>
                  <a:rPr sz="1100" b="0" i="0" u="none" strike="noStrike">
                    <a:solidFill>
                      <a:srgbClr val="5F7183"/>
                    </a:solidFill>
                    <a:latin typeface="Arial"/>
                  </a:rPr>
                  <a:t>average % miss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718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of days within 5%</c:v>
                </c:pt>
              </c:strCache>
            </c:strRef>
          </c:tx>
          <c:spPr>
            <a:solidFill>
              <a:srgbClr val="0F2942"/>
            </a:solidFill>
            <a:effectLst/>
          </c:spPr>
          <c:invertIfNegative val="0"/>
          <c:dLbls>
            <c:numFmt formatCode="0&quot;%&quot;" sourceLinked="0"/>
            <c:txPr>
              <a:bodyPr/>
              <a:lstStyle/>
              <a:p>
                <a:pPr>
                  <a:defRPr b="0" i="0" strike="noStrike" sz="1300" u="none">
                    <a:solidFill>
                      <a:srgbClr val="0F2942"/>
                    </a:solidFill>
                    <a:latin typeface="Arial"/>
                  </a:defRPr>
                </a:pPr>
              </a:p>
            </c:txPr>
            <c:showLegendKey val="0"/>
            <c:showVal val="1"/>
            <c:showCatName val="0"/>
            <c:showSerName val="0"/>
            <c:showPercent val="0"/>
            <c:showBubbleSize val="0"/>
            <c:showLeaderLines val="0"/>
          </c:dLbls>
          <c:cat>
            <c:multiLvlStrRef>
              <c:f>Sheet1!$A$2:$A$5</c:f>
              <c:multiLvlStrCache>
                <c:ptCount val="4"/>
                <c:lvl>
                  <c:pt idx="0">
                    <c:v>1 day</c:v>
                  </c:pt>
                  <c:pt idx="1">
                    <c:v>7 days</c:v>
                  </c:pt>
                  <c:pt idx="2">
                    <c:v>14 days</c:v>
                  </c:pt>
                  <c:pt idx="3">
                    <c:v>28 days</c:v>
                  </c:pt>
                </c:lvl>
              </c:multiLvlStrCache>
            </c:multiLvlStrRef>
          </c:cat>
          <c:val>
            <c:numRef>
              <c:f>Sheet1!$B$2:$B$5</c:f>
              <c:numCache>
                <c:formatCode>General</c:formatCode>
                <c:ptCount val="4"/>
                <c:pt idx="0">
                  <c:v>79.1</c:v>
                </c:pt>
                <c:pt idx="1">
                  <c:v>70.9</c:v>
                </c:pt>
                <c:pt idx="2">
                  <c:v>62.8</c:v>
                </c:pt>
                <c:pt idx="3">
                  <c:v>61.5</c:v>
                </c:pt>
              </c:numCache>
            </c:numRef>
          </c:val>
        </c:ser>
        <c:dLbls>
          <c:numFmt formatCode="0&quot;%&quot;" sourceLinked="0"/>
          <c:txPr>
            <a:bodyPr/>
            <a:lstStyle/>
            <a:p>
              <a:pPr>
                <a:defRPr b="0" i="0" strike="noStrike" sz="1300" u="none">
                  <a:solidFill>
                    <a:srgbClr val="0F2942"/>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F7183"/>
                    </a:solidFill>
                    <a:latin typeface="Arial"/>
                  </a:defRPr>
                </a:pPr>
                <a:r>
                  <a:rPr sz="1100" b="0" i="0" u="none" strike="noStrike">
                    <a:solidFill>
                      <a:srgbClr val="5F7183"/>
                    </a:solidFill>
                    <a:latin typeface="Arial"/>
                  </a:rPr>
                  <a:t>how far ahead the forecast was made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7183"/>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8EDF2"/>
              </a:solidFill>
              <a:prstDash val="solid"/>
              <a:round/>
            </a:ln>
          </c:spPr>
        </c:majorGridlines>
        <c:title>
          <c:tx>
            <c:rich>
              <a:bodyPr/>
              <a:lstStyle/>
              <a:p>
                <a:pPr>
                  <a:defRPr sz="1100" b="0" i="0" u="none" strike="noStrike">
                    <a:solidFill>
                      <a:srgbClr val="5F7183"/>
                    </a:solidFill>
                    <a:latin typeface="Arial"/>
                  </a:defRPr>
                </a:pPr>
                <a:r>
                  <a:rPr sz="1100" b="0" i="0" u="none" strike="noStrike">
                    <a:solidFill>
                      <a:srgbClr val="5F7183"/>
                    </a:solidFill>
                    <a:latin typeface="Arial"/>
                  </a:rPr>
                  <a:t>share of days within 5% of actual</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718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c:v>
                </c:pt>
              </c:strCache>
            </c:strRef>
          </c:tx>
          <c:spPr>
            <a:solidFill>
              <a:srgbClr val="0F2942"/>
            </a:solidFill>
            <a:ln w="30480" cap="flat">
              <a:solidFill>
                <a:srgbClr val="0F294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2942"/>
              </a:solidFill>
              <a:ln w="9525" cap="flat">
                <a:solidFill>
                  <a:srgbClr val="0F2942"/>
                </a:solidFill>
                <a:prstDash val="solid"/>
                <a:round/>
              </a:ln>
              <a:effectLst/>
            </c:spPr>
          </c:marker>
          <c:cat>
            <c:multiLvlStrRef>
              <c:f>Sheet1!$A$2:$A$149</c:f>
              <c:multiLvlStrCache>
                <c:ptCount val="148"/>
                <c:lvl>
                  <c:pt idx="0">
                    <c:v>01 Jan</c:v>
                  </c:pt>
                  <c:pt idx="1">
                    <c:v>02 Jan</c:v>
                  </c:pt>
                  <c:pt idx="2">
                    <c:v>03 Jan</c:v>
                  </c:pt>
                  <c:pt idx="3">
                    <c:v>04 Jan</c:v>
                  </c:pt>
                  <c:pt idx="4">
                    <c:v>05 Jan</c:v>
                  </c:pt>
                  <c:pt idx="5">
                    <c:v>06 Jan</c:v>
                  </c:pt>
                  <c:pt idx="6">
                    <c:v>07 Jan</c:v>
                  </c:pt>
                  <c:pt idx="7">
                    <c:v>08 Jan</c:v>
                  </c:pt>
                  <c:pt idx="8">
                    <c:v>09 Jan</c:v>
                  </c:pt>
                  <c:pt idx="9">
                    <c:v>10 Jan</c:v>
                  </c:pt>
                  <c:pt idx="10">
                    <c:v>11 Jan</c:v>
                  </c:pt>
                  <c:pt idx="11">
                    <c:v>12 Jan</c:v>
                  </c:pt>
                  <c:pt idx="12">
                    <c:v>13 Jan</c:v>
                  </c:pt>
                  <c:pt idx="13">
                    <c:v>14 Jan</c:v>
                  </c:pt>
                  <c:pt idx="14">
                    <c:v>15 Jan</c:v>
                  </c:pt>
                  <c:pt idx="15">
                    <c:v>16 Jan</c:v>
                  </c:pt>
                  <c:pt idx="16">
                    <c:v>17 Jan</c:v>
                  </c:pt>
                  <c:pt idx="17">
                    <c:v>18 Jan</c:v>
                  </c:pt>
                  <c:pt idx="18">
                    <c:v>19 Jan</c:v>
                  </c:pt>
                  <c:pt idx="19">
                    <c:v>20 Jan</c:v>
                  </c:pt>
                  <c:pt idx="20">
                    <c:v>21 Jan</c:v>
                  </c:pt>
                  <c:pt idx="21">
                    <c:v>22 Jan</c:v>
                  </c:pt>
                  <c:pt idx="22">
                    <c:v>23 Jan</c:v>
                  </c:pt>
                  <c:pt idx="23">
                    <c:v>24 Jan</c:v>
                  </c:pt>
                  <c:pt idx="24">
                    <c:v>25 Jan</c:v>
                  </c:pt>
                  <c:pt idx="25">
                    <c:v>26 Jan</c:v>
                  </c:pt>
                  <c:pt idx="26">
                    <c:v>27 Jan</c:v>
                  </c:pt>
                  <c:pt idx="27">
                    <c:v>28 Jan</c:v>
                  </c:pt>
                  <c:pt idx="28">
                    <c:v>29 Jan</c:v>
                  </c:pt>
                  <c:pt idx="29">
                    <c:v>30 Jan</c:v>
                  </c:pt>
                  <c:pt idx="30">
                    <c:v>31 Jan</c:v>
                  </c:pt>
                  <c:pt idx="31">
                    <c:v>01 Feb</c:v>
                  </c:pt>
                  <c:pt idx="32">
                    <c:v>02 Feb</c:v>
                  </c:pt>
                  <c:pt idx="33">
                    <c:v>03 Feb</c:v>
                  </c:pt>
                  <c:pt idx="34">
                    <c:v>04 Feb</c:v>
                  </c:pt>
                  <c:pt idx="35">
                    <c:v>05 Feb</c:v>
                  </c:pt>
                  <c:pt idx="36">
                    <c:v>06 Feb</c:v>
                  </c:pt>
                  <c:pt idx="37">
                    <c:v>07 Feb</c:v>
                  </c:pt>
                  <c:pt idx="38">
                    <c:v>08 Feb</c:v>
                  </c:pt>
                  <c:pt idx="39">
                    <c:v>09 Feb</c:v>
                  </c:pt>
                  <c:pt idx="40">
                    <c:v>10 Feb</c:v>
                  </c:pt>
                  <c:pt idx="41">
                    <c:v>11 Feb</c:v>
                  </c:pt>
                  <c:pt idx="42">
                    <c:v>12 Feb</c:v>
                  </c:pt>
                  <c:pt idx="43">
                    <c:v>13 Feb</c:v>
                  </c:pt>
                  <c:pt idx="44">
                    <c:v>14 Feb</c:v>
                  </c:pt>
                  <c:pt idx="45">
                    <c:v>15 Feb</c:v>
                  </c:pt>
                  <c:pt idx="46">
                    <c:v>16 Feb</c:v>
                  </c:pt>
                  <c:pt idx="47">
                    <c:v>17 Feb</c:v>
                  </c:pt>
                  <c:pt idx="48">
                    <c:v>18 Feb</c:v>
                  </c:pt>
                  <c:pt idx="49">
                    <c:v>19 Feb</c:v>
                  </c:pt>
                  <c:pt idx="50">
                    <c:v>20 Feb</c:v>
                  </c:pt>
                  <c:pt idx="51">
                    <c:v>21 Feb</c:v>
                  </c:pt>
                  <c:pt idx="52">
                    <c:v>22 Feb</c:v>
                  </c:pt>
                  <c:pt idx="53">
                    <c:v>23 Feb</c:v>
                  </c:pt>
                  <c:pt idx="54">
                    <c:v>24 Feb</c:v>
                  </c:pt>
                  <c:pt idx="55">
                    <c:v>25 Feb</c:v>
                  </c:pt>
                  <c:pt idx="56">
                    <c:v>26 Feb</c:v>
                  </c:pt>
                  <c:pt idx="57">
                    <c:v>27 Feb</c:v>
                  </c:pt>
                  <c:pt idx="58">
                    <c:v>28 Feb</c:v>
                  </c:pt>
                  <c:pt idx="59">
                    <c:v>01 Mar</c:v>
                  </c:pt>
                  <c:pt idx="60">
                    <c:v>02 Mar</c:v>
                  </c:pt>
                  <c:pt idx="61">
                    <c:v>03 Mar</c:v>
                  </c:pt>
                  <c:pt idx="62">
                    <c:v>04 Mar</c:v>
                  </c:pt>
                  <c:pt idx="63">
                    <c:v>05 Mar</c:v>
                  </c:pt>
                  <c:pt idx="64">
                    <c:v>06 Mar</c:v>
                  </c:pt>
                  <c:pt idx="65">
                    <c:v>07 Mar</c:v>
                  </c:pt>
                  <c:pt idx="66">
                    <c:v>08 Mar</c:v>
                  </c:pt>
                  <c:pt idx="67">
                    <c:v>09 Mar</c:v>
                  </c:pt>
                  <c:pt idx="68">
                    <c:v>10 Mar</c:v>
                  </c:pt>
                  <c:pt idx="69">
                    <c:v>11 Mar</c:v>
                  </c:pt>
                  <c:pt idx="70">
                    <c:v>12 Mar</c:v>
                  </c:pt>
                  <c:pt idx="71">
                    <c:v>13 Mar</c:v>
                  </c:pt>
                  <c:pt idx="72">
                    <c:v>14 Mar</c:v>
                  </c:pt>
                  <c:pt idx="73">
                    <c:v>15 Mar</c:v>
                  </c:pt>
                  <c:pt idx="74">
                    <c:v>16 Mar</c:v>
                  </c:pt>
                  <c:pt idx="75">
                    <c:v>17 Mar</c:v>
                  </c:pt>
                  <c:pt idx="76">
                    <c:v>18 Mar</c:v>
                  </c:pt>
                  <c:pt idx="77">
                    <c:v>19 Mar</c:v>
                  </c:pt>
                  <c:pt idx="78">
                    <c:v>20 Mar</c:v>
                  </c:pt>
                  <c:pt idx="79">
                    <c:v>21 Mar</c:v>
                  </c:pt>
                  <c:pt idx="80">
                    <c:v>22 Mar</c:v>
                  </c:pt>
                  <c:pt idx="81">
                    <c:v>23 Mar</c:v>
                  </c:pt>
                  <c:pt idx="82">
                    <c:v>24 Mar</c:v>
                  </c:pt>
                  <c:pt idx="83">
                    <c:v>25 Mar</c:v>
                  </c:pt>
                  <c:pt idx="84">
                    <c:v>26 Mar</c:v>
                  </c:pt>
                  <c:pt idx="85">
                    <c:v>27 Mar</c:v>
                  </c:pt>
                  <c:pt idx="86">
                    <c:v>28 Mar</c:v>
                  </c:pt>
                  <c:pt idx="87">
                    <c:v>29 Mar</c:v>
                  </c:pt>
                  <c:pt idx="88">
                    <c:v>30 Mar</c:v>
                  </c:pt>
                  <c:pt idx="89">
                    <c:v>31 Mar</c:v>
                  </c:pt>
                  <c:pt idx="90">
                    <c:v>01 Apr</c:v>
                  </c:pt>
                  <c:pt idx="91">
                    <c:v>02 Apr</c:v>
                  </c:pt>
                  <c:pt idx="92">
                    <c:v>03 Apr</c:v>
                  </c:pt>
                  <c:pt idx="93">
                    <c:v>04 Apr</c:v>
                  </c:pt>
                  <c:pt idx="94">
                    <c:v>05 Apr</c:v>
                  </c:pt>
                  <c:pt idx="95">
                    <c:v>06 Apr</c:v>
                  </c:pt>
                  <c:pt idx="96">
                    <c:v>07 Apr</c:v>
                  </c:pt>
                  <c:pt idx="97">
                    <c:v>08 Apr</c:v>
                  </c:pt>
                  <c:pt idx="98">
                    <c:v>09 Apr</c:v>
                  </c:pt>
                  <c:pt idx="99">
                    <c:v>10 Apr</c:v>
                  </c:pt>
                  <c:pt idx="100">
                    <c:v>11 Apr</c:v>
                  </c:pt>
                  <c:pt idx="101">
                    <c:v>12 Apr</c:v>
                  </c:pt>
                  <c:pt idx="102">
                    <c:v>13 Apr</c:v>
                  </c:pt>
                  <c:pt idx="103">
                    <c:v>14 Apr</c:v>
                  </c:pt>
                  <c:pt idx="104">
                    <c:v>15 Apr</c:v>
                  </c:pt>
                  <c:pt idx="105">
                    <c:v>16 Apr</c:v>
                  </c:pt>
                  <c:pt idx="106">
                    <c:v>17 Apr</c:v>
                  </c:pt>
                  <c:pt idx="107">
                    <c:v>18 Apr</c:v>
                  </c:pt>
                  <c:pt idx="108">
                    <c:v>19 Apr</c:v>
                  </c:pt>
                  <c:pt idx="109">
                    <c:v>20 Apr</c:v>
                  </c:pt>
                  <c:pt idx="110">
                    <c:v>21 Apr</c:v>
                  </c:pt>
                  <c:pt idx="111">
                    <c:v>22 Apr</c:v>
                  </c:pt>
                  <c:pt idx="112">
                    <c:v>23 Apr</c:v>
                  </c:pt>
                  <c:pt idx="113">
                    <c:v>24 Apr</c:v>
                  </c:pt>
                  <c:pt idx="114">
                    <c:v>25 Apr</c:v>
                  </c:pt>
                  <c:pt idx="115">
                    <c:v>26 Apr</c:v>
                  </c:pt>
                  <c:pt idx="116">
                    <c:v>27 Apr</c:v>
                  </c:pt>
                  <c:pt idx="117">
                    <c:v>28 Apr</c:v>
                  </c:pt>
                  <c:pt idx="118">
                    <c:v>29 Apr</c:v>
                  </c:pt>
                  <c:pt idx="119">
                    <c:v>30 Apr</c:v>
                  </c:pt>
                  <c:pt idx="120">
                    <c:v>01 May</c:v>
                  </c:pt>
                  <c:pt idx="121">
                    <c:v>02 May</c:v>
                  </c:pt>
                  <c:pt idx="122">
                    <c:v>03 May</c:v>
                  </c:pt>
                  <c:pt idx="123">
                    <c:v>04 May</c:v>
                  </c:pt>
                  <c:pt idx="124">
                    <c:v>05 May</c:v>
                  </c:pt>
                  <c:pt idx="125">
                    <c:v>06 May</c:v>
                  </c:pt>
                  <c:pt idx="126">
                    <c:v>07 May</c:v>
                  </c:pt>
                  <c:pt idx="127">
                    <c:v>08 May</c:v>
                  </c:pt>
                  <c:pt idx="128">
                    <c:v>09 May</c:v>
                  </c:pt>
                  <c:pt idx="129">
                    <c:v>10 May</c:v>
                  </c:pt>
                  <c:pt idx="130">
                    <c:v>11 May</c:v>
                  </c:pt>
                  <c:pt idx="131">
                    <c:v>12 May</c:v>
                  </c:pt>
                  <c:pt idx="132">
                    <c:v>13 May</c:v>
                  </c:pt>
                  <c:pt idx="133">
                    <c:v>14 May</c:v>
                  </c:pt>
                  <c:pt idx="134">
                    <c:v>15 May</c:v>
                  </c:pt>
                  <c:pt idx="135">
                    <c:v>16 May</c:v>
                  </c:pt>
                  <c:pt idx="136">
                    <c:v>17 May</c:v>
                  </c:pt>
                  <c:pt idx="137">
                    <c:v>18 May</c:v>
                  </c:pt>
                  <c:pt idx="138">
                    <c:v>19 May</c:v>
                  </c:pt>
                  <c:pt idx="139">
                    <c:v>20 May</c:v>
                  </c:pt>
                  <c:pt idx="140">
                    <c:v>21 May</c:v>
                  </c:pt>
                  <c:pt idx="141">
                    <c:v>22 May</c:v>
                  </c:pt>
                  <c:pt idx="142">
                    <c:v>23 May</c:v>
                  </c:pt>
                  <c:pt idx="143">
                    <c:v>24 May</c:v>
                  </c:pt>
                  <c:pt idx="144">
                    <c:v>25 May</c:v>
                  </c:pt>
                  <c:pt idx="145">
                    <c:v>26 May</c:v>
                  </c:pt>
                  <c:pt idx="146">
                    <c:v>27 May</c:v>
                  </c:pt>
                  <c:pt idx="147">
                    <c:v>28 May</c:v>
                  </c:pt>
                </c:lvl>
              </c:multiLvlStrCache>
            </c:multiLvlStrRef>
          </c:cat>
          <c:val>
            <c:numRef>
              <c:f>Sheet1!$B$2:$B$149</c:f>
              <c:numCache>
                <c:formatCode>General</c:formatCode>
                <c:ptCount val="148"/>
                <c:pt idx="0">
                  <c:v>8575</c:v>
                </c:pt>
                <c:pt idx="1">
                  <c:v>8139</c:v>
                </c:pt>
                <c:pt idx="2">
                  <c:v>7427</c:v>
                </c:pt>
                <c:pt idx="3">
                  <c:v>7185</c:v>
                </c:pt>
                <c:pt idx="4">
                  <c:v>6956</c:v>
                </c:pt>
                <c:pt idx="5">
                  <c:v>7450</c:v>
                </c:pt>
                <c:pt idx="6">
                  <c:v>7838</c:v>
                </c:pt>
                <c:pt idx="7">
                  <c:v>7573</c:v>
                </c:pt>
                <c:pt idx="8">
                  <c:v>7618</c:v>
                </c:pt>
                <c:pt idx="9">
                  <c:v>8129</c:v>
                </c:pt>
                <c:pt idx="10">
                  <c:v>7581</c:v>
                </c:pt>
                <c:pt idx="11">
                  <c:v>7155</c:v>
                </c:pt>
                <c:pt idx="12">
                  <c:v>7364</c:v>
                </c:pt>
                <c:pt idx="13">
                  <c:v>7456</c:v>
                </c:pt>
                <c:pt idx="14">
                  <c:v>7300</c:v>
                </c:pt>
                <c:pt idx="15">
                  <c:v>7527</c:v>
                </c:pt>
                <c:pt idx="16">
                  <c:v>7859</c:v>
                </c:pt>
                <c:pt idx="17">
                  <c:v>7561</c:v>
                </c:pt>
                <c:pt idx="18">
                  <c:v>6881</c:v>
                </c:pt>
                <c:pt idx="19">
                  <c:v>7234</c:v>
                </c:pt>
                <c:pt idx="20">
                  <c:v>7520</c:v>
                </c:pt>
                <c:pt idx="21">
                  <c:v>7494</c:v>
                </c:pt>
                <c:pt idx="22">
                  <c:v>7809</c:v>
                </c:pt>
                <c:pt idx="23">
                  <c:v>7915</c:v>
                </c:pt>
                <c:pt idx="24">
                  <c:v>7586</c:v>
                </c:pt>
                <c:pt idx="25">
                  <c:v>7011</c:v>
                </c:pt>
                <c:pt idx="26">
                  <c:v>7119</c:v>
                </c:pt>
                <c:pt idx="27">
                  <c:v>7444</c:v>
                </c:pt>
                <c:pt idx="28">
                  <c:v>7280</c:v>
                </c:pt>
                <c:pt idx="29">
                  <c:v>7433</c:v>
                </c:pt>
                <c:pt idx="30">
                  <c:v>8150</c:v>
                </c:pt>
                <c:pt idx="31">
                  <c:v>7599</c:v>
                </c:pt>
                <c:pt idx="32">
                  <c:v>6868</c:v>
                </c:pt>
                <c:pt idx="33">
                  <c:v>6784</c:v>
                </c:pt>
                <c:pt idx="34">
                  <c:v>7017</c:v>
                </c:pt>
                <c:pt idx="35">
                  <c:v>7140</c:v>
                </c:pt>
                <c:pt idx="36">
                  <c:v>7672</c:v>
                </c:pt>
                <c:pt idx="37">
                  <c:v>7962</c:v>
                </c:pt>
                <c:pt idx="38">
                  <c:v>7270</c:v>
                </c:pt>
                <c:pt idx="39">
                  <c:v>6335</c:v>
                </c:pt>
                <c:pt idx="40">
                  <c:v>6202</c:v>
                </c:pt>
                <c:pt idx="41">
                  <c:v>5613</c:v>
                </c:pt>
                <c:pt idx="42">
                  <c:v>5468</c:v>
                </c:pt>
                <c:pt idx="43">
                  <c:v>5134</c:v>
                </c:pt>
                <c:pt idx="44">
                  <c:v>4464</c:v>
                </c:pt>
                <c:pt idx="45">
                  <c:v>3936</c:v>
                </c:pt>
                <c:pt idx="46">
                  <c:v>3518</c:v>
                </c:pt>
                <c:pt idx="47">
                  <c:v>5271</c:v>
                </c:pt>
                <c:pt idx="48">
                  <c:v>6585</c:v>
                </c:pt>
                <c:pt idx="49">
                  <c:v>7980</c:v>
                </c:pt>
                <c:pt idx="50">
                  <c:v>7881</c:v>
                </c:pt>
                <c:pt idx="51">
                  <c:v>7988</c:v>
                </c:pt>
                <c:pt idx="52">
                  <c:v>7699</c:v>
                </c:pt>
                <c:pt idx="53">
                  <c:v>7073</c:v>
                </c:pt>
                <c:pt idx="54">
                  <c:v>6813</c:v>
                </c:pt>
                <c:pt idx="55">
                  <c:v>6644</c:v>
                </c:pt>
                <c:pt idx="56">
                  <c:v>7120</c:v>
                </c:pt>
                <c:pt idx="57">
                  <c:v>7451</c:v>
                </c:pt>
                <c:pt idx="58">
                  <c:v>7436</c:v>
                </c:pt>
                <c:pt idx="59">
                  <c:v>7091</c:v>
                </c:pt>
                <c:pt idx="60">
                  <c:v>6255</c:v>
                </c:pt>
                <c:pt idx="61">
                  <c:v>5836</c:v>
                </c:pt>
                <c:pt idx="62">
                  <c:v>5808</c:v>
                </c:pt>
                <c:pt idx="63">
                  <c:v>6099</c:v>
                </c:pt>
                <c:pt idx="64">
                  <c:v>6804</c:v>
                </c:pt>
                <c:pt idx="65">
                  <c:v>7626</c:v>
                </c:pt>
                <c:pt idx="66">
                  <c:v>7092</c:v>
                </c:pt>
                <c:pt idx="67">
                  <c:v>6789</c:v>
                </c:pt>
                <c:pt idx="68">
                  <c:v>6851</c:v>
                </c:pt>
                <c:pt idx="69">
                  <c:v>6909</c:v>
                </c:pt>
                <c:pt idx="70">
                  <c:v>6995</c:v>
                </c:pt>
                <c:pt idx="71">
                  <c:v>7478</c:v>
                </c:pt>
                <c:pt idx="72">
                  <c:v>8041</c:v>
                </c:pt>
                <c:pt idx="73">
                  <c:v>7248</c:v>
                </c:pt>
                <c:pt idx="74">
                  <c:v>6605</c:v>
                </c:pt>
                <c:pt idx="75">
                  <c:v>7018</c:v>
                </c:pt>
                <c:pt idx="76">
                  <c:v>7236</c:v>
                </c:pt>
                <c:pt idx="77">
                  <c:v>7244</c:v>
                </c:pt>
                <c:pt idx="78">
                  <c:v>7336</c:v>
                </c:pt>
                <c:pt idx="79">
                  <c:v>7576</c:v>
                </c:pt>
                <c:pt idx="80">
                  <c:v>6941</c:v>
                </c:pt>
                <c:pt idx="81">
                  <c:v>6779</c:v>
                </c:pt>
                <c:pt idx="82">
                  <c:v>6916</c:v>
                </c:pt>
                <c:pt idx="83">
                  <c:v>6997</c:v>
                </c:pt>
                <c:pt idx="84">
                  <c:v>6924</c:v>
                </c:pt>
                <c:pt idx="85">
                  <c:v>6814</c:v>
                </c:pt>
                <c:pt idx="86">
                  <c:v>7429</c:v>
                </c:pt>
                <c:pt idx="87">
                  <c:v>7101</c:v>
                </c:pt>
                <c:pt idx="88">
                  <c:v>6459</c:v>
                </c:pt>
                <c:pt idx="89">
                  <c:v>6022</c:v>
                </c:pt>
                <c:pt idx="90">
                  <c:v>6286</c:v>
                </c:pt>
                <c:pt idx="91">
                  <c:v>6375</c:v>
                </c:pt>
                <c:pt idx="92">
                  <c:v>6704</c:v>
                </c:pt>
                <c:pt idx="93">
                  <c:v>6754</c:v>
                </c:pt>
                <c:pt idx="94">
                  <c:v>7075</c:v>
                </c:pt>
                <c:pt idx="95">
                  <c:v>6349</c:v>
                </c:pt>
                <c:pt idx="96">
                  <c:v>6310</c:v>
                </c:pt>
                <c:pt idx="97">
                  <c:v>6629</c:v>
                </c:pt>
                <c:pt idx="98">
                  <c:v>6709</c:v>
                </c:pt>
                <c:pt idx="99">
                  <c:v>7046</c:v>
                </c:pt>
                <c:pt idx="100">
                  <c:v>7719</c:v>
                </c:pt>
                <c:pt idx="101">
                  <c:v>7188</c:v>
                </c:pt>
                <c:pt idx="102">
                  <c:v>6645</c:v>
                </c:pt>
                <c:pt idx="103">
                  <c:v>7135</c:v>
                </c:pt>
                <c:pt idx="104">
                  <c:v>7167</c:v>
                </c:pt>
                <c:pt idx="105">
                  <c:v>7122</c:v>
                </c:pt>
                <c:pt idx="106">
                  <c:v>7299</c:v>
                </c:pt>
                <c:pt idx="107">
                  <c:v>7958</c:v>
                </c:pt>
                <c:pt idx="108">
                  <c:v>7374</c:v>
                </c:pt>
                <c:pt idx="109">
                  <c:v>6813</c:v>
                </c:pt>
                <c:pt idx="110">
                  <c:v>7027</c:v>
                </c:pt>
                <c:pt idx="111">
                  <c:v>7141</c:v>
                </c:pt>
                <c:pt idx="112">
                  <c:v>7310</c:v>
                </c:pt>
                <c:pt idx="113">
                  <c:v>7058</c:v>
                </c:pt>
                <c:pt idx="114">
                  <c:v>7699</c:v>
                </c:pt>
                <c:pt idx="115">
                  <c:v>6881</c:v>
                </c:pt>
                <c:pt idx="116">
                  <c:v>6179</c:v>
                </c:pt>
                <c:pt idx="117">
                  <c:v>6576</c:v>
                </c:pt>
                <c:pt idx="118">
                  <c:v>6408</c:v>
                </c:pt>
                <c:pt idx="119">
                  <c:v>7108</c:v>
                </c:pt>
                <c:pt idx="120">
                  <c:v>8653</c:v>
                </c:pt>
                <c:pt idx="121">
                  <c:v>8249</c:v>
                </c:pt>
                <c:pt idx="122">
                  <c:v>7780</c:v>
                </c:pt>
                <c:pt idx="123">
                  <c:v>7153</c:v>
                </c:pt>
                <c:pt idx="124">
                  <c:v>6694</c:v>
                </c:pt>
                <c:pt idx="125">
                  <c:v>6063</c:v>
                </c:pt>
                <c:pt idx="126">
                  <c:v>6236</c:v>
                </c:pt>
                <c:pt idx="127">
                  <c:v>6738</c:v>
                </c:pt>
                <c:pt idx="128">
                  <c:v>7120</c:v>
                </c:pt>
                <c:pt idx="129">
                  <c:v>6714</c:v>
                </c:pt>
                <c:pt idx="130">
                  <c:v>6780</c:v>
                </c:pt>
                <c:pt idx="131">
                  <c:v>6903</c:v>
                </c:pt>
                <c:pt idx="132">
                  <c:v>6671</c:v>
                </c:pt>
                <c:pt idx="133">
                  <c:v>6955</c:v>
                </c:pt>
                <c:pt idx="134">
                  <c:v>6995</c:v>
                </c:pt>
                <c:pt idx="135">
                  <c:v>7815</c:v>
                </c:pt>
                <c:pt idx="136">
                  <c:v>7158</c:v>
                </c:pt>
                <c:pt idx="137">
                  <c:v>6839</c:v>
                </c:pt>
                <c:pt idx="138">
                  <c:v>6924</c:v>
                </c:pt>
                <c:pt idx="139">
                  <c:v>6769</c:v>
                </c:pt>
                <c:pt idx="140">
                  <c:v>6588</c:v>
                </c:pt>
                <c:pt idx="141">
                  <c:v>6874</c:v>
                </c:pt>
                <c:pt idx="142">
                  <c:v>7710</c:v>
                </c:pt>
                <c:pt idx="143">
                  <c:v>7045</c:v>
                </c:pt>
                <c:pt idx="144">
                  <c:v>6625</c:v>
                </c:pt>
                <c:pt idx="145">
                  <c:v>6877</c:v>
                </c:pt>
                <c:pt idx="146">
                  <c:v>7120</c:v>
                </c:pt>
                <c:pt idx="147">
                  <c:v>6993</c:v>
                </c:pt>
              </c:numCache>
            </c:numRef>
          </c:val>
          <c:smooth val="1"/>
        </c:ser>
        <c:ser>
          <c:idx val="1"/>
          <c:order val="1"/>
          <c:tx>
            <c:strRef>
              <c:f>Sheet1!$C$1</c:f>
              <c:strCache>
                <c:ptCount val="1"/>
                <c:pt idx="0">
                  <c:v>long-history model (11 years)</c:v>
                </c:pt>
              </c:strCache>
            </c:strRef>
          </c:tx>
          <c:spPr>
            <a:solidFill>
              <a:srgbClr val="2E8BA8"/>
            </a:solidFill>
            <a:ln w="30480" cap="flat">
              <a:solidFill>
                <a:srgbClr val="2E8B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8BA8"/>
              </a:solidFill>
              <a:ln w="9525" cap="flat">
                <a:solidFill>
                  <a:srgbClr val="2E8BA8"/>
                </a:solidFill>
                <a:prstDash val="solid"/>
                <a:round/>
              </a:ln>
              <a:effectLst/>
            </c:spPr>
          </c:marker>
          <c:cat>
            <c:multiLvlStrRef>
              <c:f>Sheet1!$A$2:$A$149</c:f>
              <c:multiLvlStrCache>
                <c:ptCount val="148"/>
                <c:lvl>
                  <c:pt idx="0">
                    <c:v>01 Jan</c:v>
                  </c:pt>
                  <c:pt idx="1">
                    <c:v>02 Jan</c:v>
                  </c:pt>
                  <c:pt idx="2">
                    <c:v>03 Jan</c:v>
                  </c:pt>
                  <c:pt idx="3">
                    <c:v>04 Jan</c:v>
                  </c:pt>
                  <c:pt idx="4">
                    <c:v>05 Jan</c:v>
                  </c:pt>
                  <c:pt idx="5">
                    <c:v>06 Jan</c:v>
                  </c:pt>
                  <c:pt idx="6">
                    <c:v>07 Jan</c:v>
                  </c:pt>
                  <c:pt idx="7">
                    <c:v>08 Jan</c:v>
                  </c:pt>
                  <c:pt idx="8">
                    <c:v>09 Jan</c:v>
                  </c:pt>
                  <c:pt idx="9">
                    <c:v>10 Jan</c:v>
                  </c:pt>
                  <c:pt idx="10">
                    <c:v>11 Jan</c:v>
                  </c:pt>
                  <c:pt idx="11">
                    <c:v>12 Jan</c:v>
                  </c:pt>
                  <c:pt idx="12">
                    <c:v>13 Jan</c:v>
                  </c:pt>
                  <c:pt idx="13">
                    <c:v>14 Jan</c:v>
                  </c:pt>
                  <c:pt idx="14">
                    <c:v>15 Jan</c:v>
                  </c:pt>
                  <c:pt idx="15">
                    <c:v>16 Jan</c:v>
                  </c:pt>
                  <c:pt idx="16">
                    <c:v>17 Jan</c:v>
                  </c:pt>
                  <c:pt idx="17">
                    <c:v>18 Jan</c:v>
                  </c:pt>
                  <c:pt idx="18">
                    <c:v>19 Jan</c:v>
                  </c:pt>
                  <c:pt idx="19">
                    <c:v>20 Jan</c:v>
                  </c:pt>
                  <c:pt idx="20">
                    <c:v>21 Jan</c:v>
                  </c:pt>
                  <c:pt idx="21">
                    <c:v>22 Jan</c:v>
                  </c:pt>
                  <c:pt idx="22">
                    <c:v>23 Jan</c:v>
                  </c:pt>
                  <c:pt idx="23">
                    <c:v>24 Jan</c:v>
                  </c:pt>
                  <c:pt idx="24">
                    <c:v>25 Jan</c:v>
                  </c:pt>
                  <c:pt idx="25">
                    <c:v>26 Jan</c:v>
                  </c:pt>
                  <c:pt idx="26">
                    <c:v>27 Jan</c:v>
                  </c:pt>
                  <c:pt idx="27">
                    <c:v>28 Jan</c:v>
                  </c:pt>
                  <c:pt idx="28">
                    <c:v>29 Jan</c:v>
                  </c:pt>
                  <c:pt idx="29">
                    <c:v>30 Jan</c:v>
                  </c:pt>
                  <c:pt idx="30">
                    <c:v>31 Jan</c:v>
                  </c:pt>
                  <c:pt idx="31">
                    <c:v>01 Feb</c:v>
                  </c:pt>
                  <c:pt idx="32">
                    <c:v>02 Feb</c:v>
                  </c:pt>
                  <c:pt idx="33">
                    <c:v>03 Feb</c:v>
                  </c:pt>
                  <c:pt idx="34">
                    <c:v>04 Feb</c:v>
                  </c:pt>
                  <c:pt idx="35">
                    <c:v>05 Feb</c:v>
                  </c:pt>
                  <c:pt idx="36">
                    <c:v>06 Feb</c:v>
                  </c:pt>
                  <c:pt idx="37">
                    <c:v>07 Feb</c:v>
                  </c:pt>
                  <c:pt idx="38">
                    <c:v>08 Feb</c:v>
                  </c:pt>
                  <c:pt idx="39">
                    <c:v>09 Feb</c:v>
                  </c:pt>
                  <c:pt idx="40">
                    <c:v>10 Feb</c:v>
                  </c:pt>
                  <c:pt idx="41">
                    <c:v>11 Feb</c:v>
                  </c:pt>
                  <c:pt idx="42">
                    <c:v>12 Feb</c:v>
                  </c:pt>
                  <c:pt idx="43">
                    <c:v>13 Feb</c:v>
                  </c:pt>
                  <c:pt idx="44">
                    <c:v>14 Feb</c:v>
                  </c:pt>
                  <c:pt idx="45">
                    <c:v>15 Feb</c:v>
                  </c:pt>
                  <c:pt idx="46">
                    <c:v>16 Feb</c:v>
                  </c:pt>
                  <c:pt idx="47">
                    <c:v>17 Feb</c:v>
                  </c:pt>
                  <c:pt idx="48">
                    <c:v>18 Feb</c:v>
                  </c:pt>
                  <c:pt idx="49">
                    <c:v>19 Feb</c:v>
                  </c:pt>
                  <c:pt idx="50">
                    <c:v>20 Feb</c:v>
                  </c:pt>
                  <c:pt idx="51">
                    <c:v>21 Feb</c:v>
                  </c:pt>
                  <c:pt idx="52">
                    <c:v>22 Feb</c:v>
                  </c:pt>
                  <c:pt idx="53">
                    <c:v>23 Feb</c:v>
                  </c:pt>
                  <c:pt idx="54">
                    <c:v>24 Feb</c:v>
                  </c:pt>
                  <c:pt idx="55">
                    <c:v>25 Feb</c:v>
                  </c:pt>
                  <c:pt idx="56">
                    <c:v>26 Feb</c:v>
                  </c:pt>
                  <c:pt idx="57">
                    <c:v>27 Feb</c:v>
                  </c:pt>
                  <c:pt idx="58">
                    <c:v>28 Feb</c:v>
                  </c:pt>
                  <c:pt idx="59">
                    <c:v>01 Mar</c:v>
                  </c:pt>
                  <c:pt idx="60">
                    <c:v>02 Mar</c:v>
                  </c:pt>
                  <c:pt idx="61">
                    <c:v>03 Mar</c:v>
                  </c:pt>
                  <c:pt idx="62">
                    <c:v>04 Mar</c:v>
                  </c:pt>
                  <c:pt idx="63">
                    <c:v>05 Mar</c:v>
                  </c:pt>
                  <c:pt idx="64">
                    <c:v>06 Mar</c:v>
                  </c:pt>
                  <c:pt idx="65">
                    <c:v>07 Mar</c:v>
                  </c:pt>
                  <c:pt idx="66">
                    <c:v>08 Mar</c:v>
                  </c:pt>
                  <c:pt idx="67">
                    <c:v>09 Mar</c:v>
                  </c:pt>
                  <c:pt idx="68">
                    <c:v>10 Mar</c:v>
                  </c:pt>
                  <c:pt idx="69">
                    <c:v>11 Mar</c:v>
                  </c:pt>
                  <c:pt idx="70">
                    <c:v>12 Mar</c:v>
                  </c:pt>
                  <c:pt idx="71">
                    <c:v>13 Mar</c:v>
                  </c:pt>
                  <c:pt idx="72">
                    <c:v>14 Mar</c:v>
                  </c:pt>
                  <c:pt idx="73">
                    <c:v>15 Mar</c:v>
                  </c:pt>
                  <c:pt idx="74">
                    <c:v>16 Mar</c:v>
                  </c:pt>
                  <c:pt idx="75">
                    <c:v>17 Mar</c:v>
                  </c:pt>
                  <c:pt idx="76">
                    <c:v>18 Mar</c:v>
                  </c:pt>
                  <c:pt idx="77">
                    <c:v>19 Mar</c:v>
                  </c:pt>
                  <c:pt idx="78">
                    <c:v>20 Mar</c:v>
                  </c:pt>
                  <c:pt idx="79">
                    <c:v>21 Mar</c:v>
                  </c:pt>
                  <c:pt idx="80">
                    <c:v>22 Mar</c:v>
                  </c:pt>
                  <c:pt idx="81">
                    <c:v>23 Mar</c:v>
                  </c:pt>
                  <c:pt idx="82">
                    <c:v>24 Mar</c:v>
                  </c:pt>
                  <c:pt idx="83">
                    <c:v>25 Mar</c:v>
                  </c:pt>
                  <c:pt idx="84">
                    <c:v>26 Mar</c:v>
                  </c:pt>
                  <c:pt idx="85">
                    <c:v>27 Mar</c:v>
                  </c:pt>
                  <c:pt idx="86">
                    <c:v>28 Mar</c:v>
                  </c:pt>
                  <c:pt idx="87">
                    <c:v>29 Mar</c:v>
                  </c:pt>
                  <c:pt idx="88">
                    <c:v>30 Mar</c:v>
                  </c:pt>
                  <c:pt idx="89">
                    <c:v>31 Mar</c:v>
                  </c:pt>
                  <c:pt idx="90">
                    <c:v>01 Apr</c:v>
                  </c:pt>
                  <c:pt idx="91">
                    <c:v>02 Apr</c:v>
                  </c:pt>
                  <c:pt idx="92">
                    <c:v>03 Apr</c:v>
                  </c:pt>
                  <c:pt idx="93">
                    <c:v>04 Apr</c:v>
                  </c:pt>
                  <c:pt idx="94">
                    <c:v>05 Apr</c:v>
                  </c:pt>
                  <c:pt idx="95">
                    <c:v>06 Apr</c:v>
                  </c:pt>
                  <c:pt idx="96">
                    <c:v>07 Apr</c:v>
                  </c:pt>
                  <c:pt idx="97">
                    <c:v>08 Apr</c:v>
                  </c:pt>
                  <c:pt idx="98">
                    <c:v>09 Apr</c:v>
                  </c:pt>
                  <c:pt idx="99">
                    <c:v>10 Apr</c:v>
                  </c:pt>
                  <c:pt idx="100">
                    <c:v>11 Apr</c:v>
                  </c:pt>
                  <c:pt idx="101">
                    <c:v>12 Apr</c:v>
                  </c:pt>
                  <c:pt idx="102">
                    <c:v>13 Apr</c:v>
                  </c:pt>
                  <c:pt idx="103">
                    <c:v>14 Apr</c:v>
                  </c:pt>
                  <c:pt idx="104">
                    <c:v>15 Apr</c:v>
                  </c:pt>
                  <c:pt idx="105">
                    <c:v>16 Apr</c:v>
                  </c:pt>
                  <c:pt idx="106">
                    <c:v>17 Apr</c:v>
                  </c:pt>
                  <c:pt idx="107">
                    <c:v>18 Apr</c:v>
                  </c:pt>
                  <c:pt idx="108">
                    <c:v>19 Apr</c:v>
                  </c:pt>
                  <c:pt idx="109">
                    <c:v>20 Apr</c:v>
                  </c:pt>
                  <c:pt idx="110">
                    <c:v>21 Apr</c:v>
                  </c:pt>
                  <c:pt idx="111">
                    <c:v>22 Apr</c:v>
                  </c:pt>
                  <c:pt idx="112">
                    <c:v>23 Apr</c:v>
                  </c:pt>
                  <c:pt idx="113">
                    <c:v>24 Apr</c:v>
                  </c:pt>
                  <c:pt idx="114">
                    <c:v>25 Apr</c:v>
                  </c:pt>
                  <c:pt idx="115">
                    <c:v>26 Apr</c:v>
                  </c:pt>
                  <c:pt idx="116">
                    <c:v>27 Apr</c:v>
                  </c:pt>
                  <c:pt idx="117">
                    <c:v>28 Apr</c:v>
                  </c:pt>
                  <c:pt idx="118">
                    <c:v>29 Apr</c:v>
                  </c:pt>
                  <c:pt idx="119">
                    <c:v>30 Apr</c:v>
                  </c:pt>
                  <c:pt idx="120">
                    <c:v>01 May</c:v>
                  </c:pt>
                  <c:pt idx="121">
                    <c:v>02 May</c:v>
                  </c:pt>
                  <c:pt idx="122">
                    <c:v>03 May</c:v>
                  </c:pt>
                  <c:pt idx="123">
                    <c:v>04 May</c:v>
                  </c:pt>
                  <c:pt idx="124">
                    <c:v>05 May</c:v>
                  </c:pt>
                  <c:pt idx="125">
                    <c:v>06 May</c:v>
                  </c:pt>
                  <c:pt idx="126">
                    <c:v>07 May</c:v>
                  </c:pt>
                  <c:pt idx="127">
                    <c:v>08 May</c:v>
                  </c:pt>
                  <c:pt idx="128">
                    <c:v>09 May</c:v>
                  </c:pt>
                  <c:pt idx="129">
                    <c:v>10 May</c:v>
                  </c:pt>
                  <c:pt idx="130">
                    <c:v>11 May</c:v>
                  </c:pt>
                  <c:pt idx="131">
                    <c:v>12 May</c:v>
                  </c:pt>
                  <c:pt idx="132">
                    <c:v>13 May</c:v>
                  </c:pt>
                  <c:pt idx="133">
                    <c:v>14 May</c:v>
                  </c:pt>
                  <c:pt idx="134">
                    <c:v>15 May</c:v>
                  </c:pt>
                  <c:pt idx="135">
                    <c:v>16 May</c:v>
                  </c:pt>
                  <c:pt idx="136">
                    <c:v>17 May</c:v>
                  </c:pt>
                  <c:pt idx="137">
                    <c:v>18 May</c:v>
                  </c:pt>
                  <c:pt idx="138">
                    <c:v>19 May</c:v>
                  </c:pt>
                  <c:pt idx="139">
                    <c:v>20 May</c:v>
                  </c:pt>
                  <c:pt idx="140">
                    <c:v>21 May</c:v>
                  </c:pt>
                  <c:pt idx="141">
                    <c:v>22 May</c:v>
                  </c:pt>
                  <c:pt idx="142">
                    <c:v>23 May</c:v>
                  </c:pt>
                  <c:pt idx="143">
                    <c:v>24 May</c:v>
                  </c:pt>
                  <c:pt idx="144">
                    <c:v>25 May</c:v>
                  </c:pt>
                  <c:pt idx="145">
                    <c:v>26 May</c:v>
                  </c:pt>
                  <c:pt idx="146">
                    <c:v>27 May</c:v>
                  </c:pt>
                  <c:pt idx="147">
                    <c:v>28 May</c:v>
                  </c:pt>
                </c:lvl>
              </c:multiLvlStrCache>
            </c:multiLvlStrRef>
          </c:cat>
          <c:val>
            <c:numRef>
              <c:f>Sheet1!$C$2:$C$149</c:f>
              <c:numCache>
                <c:formatCode>General</c:formatCode>
                <c:ptCount val="148"/>
                <c:pt idx="0">
                  <c:v>7343</c:v>
                </c:pt>
                <c:pt idx="1">
                  <c:v>7350</c:v>
                </c:pt>
                <c:pt idx="2">
                  <c:v>7271</c:v>
                </c:pt>
                <c:pt idx="3">
                  <c:v>7039</c:v>
                </c:pt>
                <c:pt idx="4">
                  <c:v>6772</c:v>
                </c:pt>
                <c:pt idx="5">
                  <c:v>6671</c:v>
                </c:pt>
                <c:pt idx="6">
                  <c:v>7214</c:v>
                </c:pt>
                <c:pt idx="7">
                  <c:v>7522</c:v>
                </c:pt>
                <c:pt idx="8">
                  <c:v>7485</c:v>
                </c:pt>
                <c:pt idx="9">
                  <c:v>7914</c:v>
                </c:pt>
                <c:pt idx="10">
                  <c:v>7399</c:v>
                </c:pt>
                <c:pt idx="11">
                  <c:v>7116</c:v>
                </c:pt>
                <c:pt idx="12">
                  <c:v>7196</c:v>
                </c:pt>
                <c:pt idx="13">
                  <c:v>7385</c:v>
                </c:pt>
                <c:pt idx="14">
                  <c:v>7207</c:v>
                </c:pt>
                <c:pt idx="15">
                  <c:v>7237</c:v>
                </c:pt>
                <c:pt idx="16">
                  <c:v>7552</c:v>
                </c:pt>
                <c:pt idx="17">
                  <c:v>7214</c:v>
                </c:pt>
                <c:pt idx="18">
                  <c:v>6638</c:v>
                </c:pt>
                <c:pt idx="19">
                  <c:v>6911</c:v>
                </c:pt>
                <c:pt idx="20">
                  <c:v>6998</c:v>
                </c:pt>
                <c:pt idx="21">
                  <c:v>7344</c:v>
                </c:pt>
                <c:pt idx="22">
                  <c:v>7397</c:v>
                </c:pt>
                <c:pt idx="23">
                  <c:v>7670</c:v>
                </c:pt>
                <c:pt idx="24">
                  <c:v>7071</c:v>
                </c:pt>
                <c:pt idx="25">
                  <c:v>6737</c:v>
                </c:pt>
                <c:pt idx="26">
                  <c:v>6717</c:v>
                </c:pt>
                <c:pt idx="27">
                  <c:v>7046</c:v>
                </c:pt>
                <c:pt idx="28">
                  <c:v>7162</c:v>
                </c:pt>
                <c:pt idx="29">
                  <c:v>7370</c:v>
                </c:pt>
                <c:pt idx="30">
                  <c:v>7689</c:v>
                </c:pt>
                <c:pt idx="31">
                  <c:v>7363</c:v>
                </c:pt>
                <c:pt idx="32">
                  <c:v>6840</c:v>
                </c:pt>
                <c:pt idx="33">
                  <c:v>6959</c:v>
                </c:pt>
                <c:pt idx="34">
                  <c:v>7345</c:v>
                </c:pt>
                <c:pt idx="35">
                  <c:v>7156</c:v>
                </c:pt>
                <c:pt idx="36">
                  <c:v>7178</c:v>
                </c:pt>
                <c:pt idx="37">
                  <c:v>7540</c:v>
                </c:pt>
                <c:pt idx="38">
                  <c:v>7308</c:v>
                </c:pt>
                <c:pt idx="39">
                  <c:v>7054</c:v>
                </c:pt>
                <c:pt idx="40">
                  <c:v>6004</c:v>
                </c:pt>
                <c:pt idx="41">
                  <c:v>6679</c:v>
                </c:pt>
                <c:pt idx="42">
                  <c:v>6064</c:v>
                </c:pt>
                <c:pt idx="43">
                  <c:v>5640</c:v>
                </c:pt>
                <c:pt idx="44">
                  <c:v>5280</c:v>
                </c:pt>
                <c:pt idx="45">
                  <c:v>4420</c:v>
                </c:pt>
                <c:pt idx="46">
                  <c:v>3550</c:v>
                </c:pt>
                <c:pt idx="47">
                  <c:v>5452</c:v>
                </c:pt>
                <c:pt idx="48">
                  <c:v>6596</c:v>
                </c:pt>
                <c:pt idx="49">
                  <c:v>7336</c:v>
                </c:pt>
                <c:pt idx="50">
                  <c:v>7740</c:v>
                </c:pt>
                <c:pt idx="51">
                  <c:v>8450</c:v>
                </c:pt>
                <c:pt idx="52">
                  <c:v>8353</c:v>
                </c:pt>
                <c:pt idx="53">
                  <c:v>7497</c:v>
                </c:pt>
                <c:pt idx="54">
                  <c:v>7038</c:v>
                </c:pt>
                <c:pt idx="55">
                  <c:v>7281</c:v>
                </c:pt>
                <c:pt idx="56">
                  <c:v>7362</c:v>
                </c:pt>
                <c:pt idx="57">
                  <c:v>7335</c:v>
                </c:pt>
                <c:pt idx="58">
                  <c:v>7197</c:v>
                </c:pt>
                <c:pt idx="59">
                  <c:v>7190</c:v>
                </c:pt>
                <c:pt idx="60">
                  <c:v>6765</c:v>
                </c:pt>
                <c:pt idx="61">
                  <c:v>6754</c:v>
                </c:pt>
                <c:pt idx="62">
                  <c:v>6736</c:v>
                </c:pt>
                <c:pt idx="63">
                  <c:v>6455</c:v>
                </c:pt>
                <c:pt idx="64">
                  <c:v>6831</c:v>
                </c:pt>
                <c:pt idx="65">
                  <c:v>7675</c:v>
                </c:pt>
                <c:pt idx="66">
                  <c:v>7137</c:v>
                </c:pt>
                <c:pt idx="67">
                  <c:v>6750</c:v>
                </c:pt>
                <c:pt idx="68">
                  <c:v>6844</c:v>
                </c:pt>
                <c:pt idx="69">
                  <c:v>6773</c:v>
                </c:pt>
                <c:pt idx="70">
                  <c:v>7258</c:v>
                </c:pt>
                <c:pt idx="71">
                  <c:v>7372</c:v>
                </c:pt>
                <c:pt idx="72">
                  <c:v>7869</c:v>
                </c:pt>
                <c:pt idx="73">
                  <c:v>7377</c:v>
                </c:pt>
                <c:pt idx="74">
                  <c:v>6843</c:v>
                </c:pt>
                <c:pt idx="75">
                  <c:v>6832</c:v>
                </c:pt>
                <c:pt idx="76">
                  <c:v>6772</c:v>
                </c:pt>
                <c:pt idx="77">
                  <c:v>7188</c:v>
                </c:pt>
                <c:pt idx="78">
                  <c:v>7476</c:v>
                </c:pt>
                <c:pt idx="79">
                  <c:v>7853</c:v>
                </c:pt>
                <c:pt idx="80">
                  <c:v>7266</c:v>
                </c:pt>
                <c:pt idx="81">
                  <c:v>6714</c:v>
                </c:pt>
                <c:pt idx="82">
                  <c:v>6722</c:v>
                </c:pt>
                <c:pt idx="83">
                  <c:v>6723</c:v>
                </c:pt>
                <c:pt idx="84">
                  <c:v>7130</c:v>
                </c:pt>
                <c:pt idx="85">
                  <c:v>7305</c:v>
                </c:pt>
                <c:pt idx="86">
                  <c:v>7651</c:v>
                </c:pt>
                <c:pt idx="87">
                  <c:v>6978</c:v>
                </c:pt>
                <c:pt idx="88">
                  <c:v>6240</c:v>
                </c:pt>
                <c:pt idx="89">
                  <c:v>6405</c:v>
                </c:pt>
                <c:pt idx="90">
                  <c:v>6491</c:v>
                </c:pt>
                <c:pt idx="91">
                  <c:v>6188</c:v>
                </c:pt>
                <c:pt idx="92">
                  <c:v>6694</c:v>
                </c:pt>
                <c:pt idx="93">
                  <c:v>7648</c:v>
                </c:pt>
                <c:pt idx="94">
                  <c:v>7119</c:v>
                </c:pt>
                <c:pt idx="95">
                  <c:v>6155</c:v>
                </c:pt>
                <c:pt idx="96">
                  <c:v>6079</c:v>
                </c:pt>
                <c:pt idx="97">
                  <c:v>6457</c:v>
                </c:pt>
                <c:pt idx="98">
                  <c:v>6555</c:v>
                </c:pt>
                <c:pt idx="99">
                  <c:v>6881</c:v>
                </c:pt>
                <c:pt idx="100">
                  <c:v>7444</c:v>
                </c:pt>
                <c:pt idx="101">
                  <c:v>7019</c:v>
                </c:pt>
                <c:pt idx="102">
                  <c:v>6557</c:v>
                </c:pt>
                <c:pt idx="103">
                  <c:v>6657</c:v>
                </c:pt>
                <c:pt idx="104">
                  <c:v>6804</c:v>
                </c:pt>
                <c:pt idx="105">
                  <c:v>7245</c:v>
                </c:pt>
                <c:pt idx="106">
                  <c:v>7268</c:v>
                </c:pt>
                <c:pt idx="107">
                  <c:v>7949</c:v>
                </c:pt>
                <c:pt idx="108">
                  <c:v>7424</c:v>
                </c:pt>
                <c:pt idx="109">
                  <c:v>6609</c:v>
                </c:pt>
                <c:pt idx="110">
                  <c:v>6652</c:v>
                </c:pt>
                <c:pt idx="111">
                  <c:v>6841</c:v>
                </c:pt>
                <c:pt idx="112">
                  <c:v>6966</c:v>
                </c:pt>
                <c:pt idx="113">
                  <c:v>7294</c:v>
                </c:pt>
                <c:pt idx="114">
                  <c:v>7804</c:v>
                </c:pt>
                <c:pt idx="115">
                  <c:v>7134</c:v>
                </c:pt>
                <c:pt idx="116">
                  <c:v>6661</c:v>
                </c:pt>
                <c:pt idx="117">
                  <c:v>6770</c:v>
                </c:pt>
                <c:pt idx="118">
                  <c:v>6752</c:v>
                </c:pt>
                <c:pt idx="119">
                  <c:v>6805</c:v>
                </c:pt>
                <c:pt idx="120">
                  <c:v>8112</c:v>
                </c:pt>
                <c:pt idx="121">
                  <c:v>8165</c:v>
                </c:pt>
                <c:pt idx="122">
                  <c:v>7507</c:v>
                </c:pt>
                <c:pt idx="123">
                  <c:v>7258</c:v>
                </c:pt>
                <c:pt idx="124">
                  <c:v>6788</c:v>
                </c:pt>
                <c:pt idx="125">
                  <c:v>6620</c:v>
                </c:pt>
                <c:pt idx="126">
                  <c:v>6749</c:v>
                </c:pt>
                <c:pt idx="127">
                  <c:v>6906</c:v>
                </c:pt>
                <c:pt idx="128">
                  <c:v>7018</c:v>
                </c:pt>
                <c:pt idx="129">
                  <c:v>7131</c:v>
                </c:pt>
                <c:pt idx="130">
                  <c:v>6547</c:v>
                </c:pt>
                <c:pt idx="131">
                  <c:v>6561</c:v>
                </c:pt>
                <c:pt idx="132">
                  <c:v>6787</c:v>
                </c:pt>
                <c:pt idx="133">
                  <c:v>7036</c:v>
                </c:pt>
                <c:pt idx="134">
                  <c:v>7192</c:v>
                </c:pt>
                <c:pt idx="135">
                  <c:v>7779</c:v>
                </c:pt>
                <c:pt idx="136">
                  <c:v>7197</c:v>
                </c:pt>
                <c:pt idx="137">
                  <c:v>6634</c:v>
                </c:pt>
                <c:pt idx="138">
                  <c:v>6638</c:v>
                </c:pt>
                <c:pt idx="139">
                  <c:v>6741</c:v>
                </c:pt>
                <c:pt idx="140">
                  <c:v>7054</c:v>
                </c:pt>
                <c:pt idx="141">
                  <c:v>7229</c:v>
                </c:pt>
                <c:pt idx="142">
                  <c:v>7788</c:v>
                </c:pt>
                <c:pt idx="143">
                  <c:v>7145</c:v>
                </c:pt>
                <c:pt idx="144">
                  <c:v>6685</c:v>
                </c:pt>
                <c:pt idx="145">
                  <c:v>6667</c:v>
                </c:pt>
                <c:pt idx="146">
                  <c:v>6616</c:v>
                </c:pt>
                <c:pt idx="147">
                  <c:v>6952</c:v>
                </c:pt>
              </c:numCache>
            </c:numRef>
          </c:val>
          <c:smooth val="1"/>
        </c:ser>
        <c:ser>
          <c:idx val="2"/>
          <c:order val="2"/>
          <c:tx>
            <c:strRef>
              <c:f>Sheet1!$D$1</c:f>
              <c:strCache>
                <c:ptCount val="1"/>
                <c:pt idx="0">
                  <c:v>short-memory model (2 years)</c:v>
                </c:pt>
              </c:strCache>
            </c:strRef>
          </c:tx>
          <c:spPr>
            <a:solidFill>
              <a:srgbClr val="C74B4B"/>
            </a:solidFill>
            <a:ln w="30480" cap="flat">
              <a:solidFill>
                <a:srgbClr val="C74B4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74B4B"/>
              </a:solidFill>
              <a:ln w="9525" cap="flat">
                <a:solidFill>
                  <a:srgbClr val="C74B4B"/>
                </a:solidFill>
                <a:prstDash val="solid"/>
                <a:round/>
              </a:ln>
              <a:effectLst/>
            </c:spPr>
          </c:marker>
          <c:cat>
            <c:multiLvlStrRef>
              <c:f>Sheet1!$A$2:$A$149</c:f>
              <c:multiLvlStrCache>
                <c:ptCount val="148"/>
                <c:lvl>
                  <c:pt idx="0">
                    <c:v>01 Jan</c:v>
                  </c:pt>
                  <c:pt idx="1">
                    <c:v>02 Jan</c:v>
                  </c:pt>
                  <c:pt idx="2">
                    <c:v>03 Jan</c:v>
                  </c:pt>
                  <c:pt idx="3">
                    <c:v>04 Jan</c:v>
                  </c:pt>
                  <c:pt idx="4">
                    <c:v>05 Jan</c:v>
                  </c:pt>
                  <c:pt idx="5">
                    <c:v>06 Jan</c:v>
                  </c:pt>
                  <c:pt idx="6">
                    <c:v>07 Jan</c:v>
                  </c:pt>
                  <c:pt idx="7">
                    <c:v>08 Jan</c:v>
                  </c:pt>
                  <c:pt idx="8">
                    <c:v>09 Jan</c:v>
                  </c:pt>
                  <c:pt idx="9">
                    <c:v>10 Jan</c:v>
                  </c:pt>
                  <c:pt idx="10">
                    <c:v>11 Jan</c:v>
                  </c:pt>
                  <c:pt idx="11">
                    <c:v>12 Jan</c:v>
                  </c:pt>
                  <c:pt idx="12">
                    <c:v>13 Jan</c:v>
                  </c:pt>
                  <c:pt idx="13">
                    <c:v>14 Jan</c:v>
                  </c:pt>
                  <c:pt idx="14">
                    <c:v>15 Jan</c:v>
                  </c:pt>
                  <c:pt idx="15">
                    <c:v>16 Jan</c:v>
                  </c:pt>
                  <c:pt idx="16">
                    <c:v>17 Jan</c:v>
                  </c:pt>
                  <c:pt idx="17">
                    <c:v>18 Jan</c:v>
                  </c:pt>
                  <c:pt idx="18">
                    <c:v>19 Jan</c:v>
                  </c:pt>
                  <c:pt idx="19">
                    <c:v>20 Jan</c:v>
                  </c:pt>
                  <c:pt idx="20">
                    <c:v>21 Jan</c:v>
                  </c:pt>
                  <c:pt idx="21">
                    <c:v>22 Jan</c:v>
                  </c:pt>
                  <c:pt idx="22">
                    <c:v>23 Jan</c:v>
                  </c:pt>
                  <c:pt idx="23">
                    <c:v>24 Jan</c:v>
                  </c:pt>
                  <c:pt idx="24">
                    <c:v>25 Jan</c:v>
                  </c:pt>
                  <c:pt idx="25">
                    <c:v>26 Jan</c:v>
                  </c:pt>
                  <c:pt idx="26">
                    <c:v>27 Jan</c:v>
                  </c:pt>
                  <c:pt idx="27">
                    <c:v>28 Jan</c:v>
                  </c:pt>
                  <c:pt idx="28">
                    <c:v>29 Jan</c:v>
                  </c:pt>
                  <c:pt idx="29">
                    <c:v>30 Jan</c:v>
                  </c:pt>
                  <c:pt idx="30">
                    <c:v>31 Jan</c:v>
                  </c:pt>
                  <c:pt idx="31">
                    <c:v>01 Feb</c:v>
                  </c:pt>
                  <c:pt idx="32">
                    <c:v>02 Feb</c:v>
                  </c:pt>
                  <c:pt idx="33">
                    <c:v>03 Feb</c:v>
                  </c:pt>
                  <c:pt idx="34">
                    <c:v>04 Feb</c:v>
                  </c:pt>
                  <c:pt idx="35">
                    <c:v>05 Feb</c:v>
                  </c:pt>
                  <c:pt idx="36">
                    <c:v>06 Feb</c:v>
                  </c:pt>
                  <c:pt idx="37">
                    <c:v>07 Feb</c:v>
                  </c:pt>
                  <c:pt idx="38">
                    <c:v>08 Feb</c:v>
                  </c:pt>
                  <c:pt idx="39">
                    <c:v>09 Feb</c:v>
                  </c:pt>
                  <c:pt idx="40">
                    <c:v>10 Feb</c:v>
                  </c:pt>
                  <c:pt idx="41">
                    <c:v>11 Feb</c:v>
                  </c:pt>
                  <c:pt idx="42">
                    <c:v>12 Feb</c:v>
                  </c:pt>
                  <c:pt idx="43">
                    <c:v>13 Feb</c:v>
                  </c:pt>
                  <c:pt idx="44">
                    <c:v>14 Feb</c:v>
                  </c:pt>
                  <c:pt idx="45">
                    <c:v>15 Feb</c:v>
                  </c:pt>
                  <c:pt idx="46">
                    <c:v>16 Feb</c:v>
                  </c:pt>
                  <c:pt idx="47">
                    <c:v>17 Feb</c:v>
                  </c:pt>
                  <c:pt idx="48">
                    <c:v>18 Feb</c:v>
                  </c:pt>
                  <c:pt idx="49">
                    <c:v>19 Feb</c:v>
                  </c:pt>
                  <c:pt idx="50">
                    <c:v>20 Feb</c:v>
                  </c:pt>
                  <c:pt idx="51">
                    <c:v>21 Feb</c:v>
                  </c:pt>
                  <c:pt idx="52">
                    <c:v>22 Feb</c:v>
                  </c:pt>
                  <c:pt idx="53">
                    <c:v>23 Feb</c:v>
                  </c:pt>
                  <c:pt idx="54">
                    <c:v>24 Feb</c:v>
                  </c:pt>
                  <c:pt idx="55">
                    <c:v>25 Feb</c:v>
                  </c:pt>
                  <c:pt idx="56">
                    <c:v>26 Feb</c:v>
                  </c:pt>
                  <c:pt idx="57">
                    <c:v>27 Feb</c:v>
                  </c:pt>
                  <c:pt idx="58">
                    <c:v>28 Feb</c:v>
                  </c:pt>
                  <c:pt idx="59">
                    <c:v>01 Mar</c:v>
                  </c:pt>
                  <c:pt idx="60">
                    <c:v>02 Mar</c:v>
                  </c:pt>
                  <c:pt idx="61">
                    <c:v>03 Mar</c:v>
                  </c:pt>
                  <c:pt idx="62">
                    <c:v>04 Mar</c:v>
                  </c:pt>
                  <c:pt idx="63">
                    <c:v>05 Mar</c:v>
                  </c:pt>
                  <c:pt idx="64">
                    <c:v>06 Mar</c:v>
                  </c:pt>
                  <c:pt idx="65">
                    <c:v>07 Mar</c:v>
                  </c:pt>
                  <c:pt idx="66">
                    <c:v>08 Mar</c:v>
                  </c:pt>
                  <c:pt idx="67">
                    <c:v>09 Mar</c:v>
                  </c:pt>
                  <c:pt idx="68">
                    <c:v>10 Mar</c:v>
                  </c:pt>
                  <c:pt idx="69">
                    <c:v>11 Mar</c:v>
                  </c:pt>
                  <c:pt idx="70">
                    <c:v>12 Mar</c:v>
                  </c:pt>
                  <c:pt idx="71">
                    <c:v>13 Mar</c:v>
                  </c:pt>
                  <c:pt idx="72">
                    <c:v>14 Mar</c:v>
                  </c:pt>
                  <c:pt idx="73">
                    <c:v>15 Mar</c:v>
                  </c:pt>
                  <c:pt idx="74">
                    <c:v>16 Mar</c:v>
                  </c:pt>
                  <c:pt idx="75">
                    <c:v>17 Mar</c:v>
                  </c:pt>
                  <c:pt idx="76">
                    <c:v>18 Mar</c:v>
                  </c:pt>
                  <c:pt idx="77">
                    <c:v>19 Mar</c:v>
                  </c:pt>
                  <c:pt idx="78">
                    <c:v>20 Mar</c:v>
                  </c:pt>
                  <c:pt idx="79">
                    <c:v>21 Mar</c:v>
                  </c:pt>
                  <c:pt idx="80">
                    <c:v>22 Mar</c:v>
                  </c:pt>
                  <c:pt idx="81">
                    <c:v>23 Mar</c:v>
                  </c:pt>
                  <c:pt idx="82">
                    <c:v>24 Mar</c:v>
                  </c:pt>
                  <c:pt idx="83">
                    <c:v>25 Mar</c:v>
                  </c:pt>
                  <c:pt idx="84">
                    <c:v>26 Mar</c:v>
                  </c:pt>
                  <c:pt idx="85">
                    <c:v>27 Mar</c:v>
                  </c:pt>
                  <c:pt idx="86">
                    <c:v>28 Mar</c:v>
                  </c:pt>
                  <c:pt idx="87">
                    <c:v>29 Mar</c:v>
                  </c:pt>
                  <c:pt idx="88">
                    <c:v>30 Mar</c:v>
                  </c:pt>
                  <c:pt idx="89">
                    <c:v>31 Mar</c:v>
                  </c:pt>
                  <c:pt idx="90">
                    <c:v>01 Apr</c:v>
                  </c:pt>
                  <c:pt idx="91">
                    <c:v>02 Apr</c:v>
                  </c:pt>
                  <c:pt idx="92">
                    <c:v>03 Apr</c:v>
                  </c:pt>
                  <c:pt idx="93">
                    <c:v>04 Apr</c:v>
                  </c:pt>
                  <c:pt idx="94">
                    <c:v>05 Apr</c:v>
                  </c:pt>
                  <c:pt idx="95">
                    <c:v>06 Apr</c:v>
                  </c:pt>
                  <c:pt idx="96">
                    <c:v>07 Apr</c:v>
                  </c:pt>
                  <c:pt idx="97">
                    <c:v>08 Apr</c:v>
                  </c:pt>
                  <c:pt idx="98">
                    <c:v>09 Apr</c:v>
                  </c:pt>
                  <c:pt idx="99">
                    <c:v>10 Apr</c:v>
                  </c:pt>
                  <c:pt idx="100">
                    <c:v>11 Apr</c:v>
                  </c:pt>
                  <c:pt idx="101">
                    <c:v>12 Apr</c:v>
                  </c:pt>
                  <c:pt idx="102">
                    <c:v>13 Apr</c:v>
                  </c:pt>
                  <c:pt idx="103">
                    <c:v>14 Apr</c:v>
                  </c:pt>
                  <c:pt idx="104">
                    <c:v>15 Apr</c:v>
                  </c:pt>
                  <c:pt idx="105">
                    <c:v>16 Apr</c:v>
                  </c:pt>
                  <c:pt idx="106">
                    <c:v>17 Apr</c:v>
                  </c:pt>
                  <c:pt idx="107">
                    <c:v>18 Apr</c:v>
                  </c:pt>
                  <c:pt idx="108">
                    <c:v>19 Apr</c:v>
                  </c:pt>
                  <c:pt idx="109">
                    <c:v>20 Apr</c:v>
                  </c:pt>
                  <c:pt idx="110">
                    <c:v>21 Apr</c:v>
                  </c:pt>
                  <c:pt idx="111">
                    <c:v>22 Apr</c:v>
                  </c:pt>
                  <c:pt idx="112">
                    <c:v>23 Apr</c:v>
                  </c:pt>
                  <c:pt idx="113">
                    <c:v>24 Apr</c:v>
                  </c:pt>
                  <c:pt idx="114">
                    <c:v>25 Apr</c:v>
                  </c:pt>
                  <c:pt idx="115">
                    <c:v>26 Apr</c:v>
                  </c:pt>
                  <c:pt idx="116">
                    <c:v>27 Apr</c:v>
                  </c:pt>
                  <c:pt idx="117">
                    <c:v>28 Apr</c:v>
                  </c:pt>
                  <c:pt idx="118">
                    <c:v>29 Apr</c:v>
                  </c:pt>
                  <c:pt idx="119">
                    <c:v>30 Apr</c:v>
                  </c:pt>
                  <c:pt idx="120">
                    <c:v>01 May</c:v>
                  </c:pt>
                  <c:pt idx="121">
                    <c:v>02 May</c:v>
                  </c:pt>
                  <c:pt idx="122">
                    <c:v>03 May</c:v>
                  </c:pt>
                  <c:pt idx="123">
                    <c:v>04 May</c:v>
                  </c:pt>
                  <c:pt idx="124">
                    <c:v>05 May</c:v>
                  </c:pt>
                  <c:pt idx="125">
                    <c:v>06 May</c:v>
                  </c:pt>
                  <c:pt idx="126">
                    <c:v>07 May</c:v>
                  </c:pt>
                  <c:pt idx="127">
                    <c:v>08 May</c:v>
                  </c:pt>
                  <c:pt idx="128">
                    <c:v>09 May</c:v>
                  </c:pt>
                  <c:pt idx="129">
                    <c:v>10 May</c:v>
                  </c:pt>
                  <c:pt idx="130">
                    <c:v>11 May</c:v>
                  </c:pt>
                  <c:pt idx="131">
                    <c:v>12 May</c:v>
                  </c:pt>
                  <c:pt idx="132">
                    <c:v>13 May</c:v>
                  </c:pt>
                  <c:pt idx="133">
                    <c:v>14 May</c:v>
                  </c:pt>
                  <c:pt idx="134">
                    <c:v>15 May</c:v>
                  </c:pt>
                  <c:pt idx="135">
                    <c:v>16 May</c:v>
                  </c:pt>
                  <c:pt idx="136">
                    <c:v>17 May</c:v>
                  </c:pt>
                  <c:pt idx="137">
                    <c:v>18 May</c:v>
                  </c:pt>
                  <c:pt idx="138">
                    <c:v>19 May</c:v>
                  </c:pt>
                  <c:pt idx="139">
                    <c:v>20 May</c:v>
                  </c:pt>
                  <c:pt idx="140">
                    <c:v>21 May</c:v>
                  </c:pt>
                  <c:pt idx="141">
                    <c:v>22 May</c:v>
                  </c:pt>
                  <c:pt idx="142">
                    <c:v>23 May</c:v>
                  </c:pt>
                  <c:pt idx="143">
                    <c:v>24 May</c:v>
                  </c:pt>
                  <c:pt idx="144">
                    <c:v>25 May</c:v>
                  </c:pt>
                  <c:pt idx="145">
                    <c:v>26 May</c:v>
                  </c:pt>
                  <c:pt idx="146">
                    <c:v>27 May</c:v>
                  </c:pt>
                  <c:pt idx="147">
                    <c:v>28 May</c:v>
                  </c:pt>
                </c:lvl>
              </c:multiLvlStrCache>
            </c:multiLvlStrRef>
          </c:cat>
          <c:val>
            <c:numRef>
              <c:f>Sheet1!$D$2:$D$149</c:f>
              <c:numCache>
                <c:formatCode>General</c:formatCode>
                <c:ptCount val="148"/>
                <c:pt idx="0">
                  <c:v>7407</c:v>
                </c:pt>
                <c:pt idx="1">
                  <c:v>7390</c:v>
                </c:pt>
                <c:pt idx="2">
                  <c:v>7307</c:v>
                </c:pt>
                <c:pt idx="3">
                  <c:v>7163</c:v>
                </c:pt>
                <c:pt idx="4">
                  <c:v>6755</c:v>
                </c:pt>
                <c:pt idx="5">
                  <c:v>6758</c:v>
                </c:pt>
                <c:pt idx="6">
                  <c:v>7236</c:v>
                </c:pt>
                <c:pt idx="7">
                  <c:v>7444</c:v>
                </c:pt>
                <c:pt idx="8">
                  <c:v>7539</c:v>
                </c:pt>
                <c:pt idx="9">
                  <c:v>7863</c:v>
                </c:pt>
                <c:pt idx="10">
                  <c:v>7172</c:v>
                </c:pt>
                <c:pt idx="11">
                  <c:v>7101</c:v>
                </c:pt>
                <c:pt idx="12">
                  <c:v>7064</c:v>
                </c:pt>
                <c:pt idx="13">
                  <c:v>7359</c:v>
                </c:pt>
                <c:pt idx="14">
                  <c:v>7337</c:v>
                </c:pt>
                <c:pt idx="15">
                  <c:v>7352</c:v>
                </c:pt>
                <c:pt idx="16">
                  <c:v>7542</c:v>
                </c:pt>
                <c:pt idx="17">
                  <c:v>7247</c:v>
                </c:pt>
                <c:pt idx="18">
                  <c:v>6761</c:v>
                </c:pt>
                <c:pt idx="19">
                  <c:v>6851</c:v>
                </c:pt>
                <c:pt idx="20">
                  <c:v>7194</c:v>
                </c:pt>
                <c:pt idx="21">
                  <c:v>7420</c:v>
                </c:pt>
                <c:pt idx="22">
                  <c:v>7369</c:v>
                </c:pt>
                <c:pt idx="23">
                  <c:v>7652</c:v>
                </c:pt>
                <c:pt idx="24">
                  <c:v>7262</c:v>
                </c:pt>
                <c:pt idx="25">
                  <c:v>6721</c:v>
                </c:pt>
                <c:pt idx="26">
                  <c:v>7032</c:v>
                </c:pt>
                <c:pt idx="27">
                  <c:v>7138</c:v>
                </c:pt>
                <c:pt idx="28">
                  <c:v>7307</c:v>
                </c:pt>
                <c:pt idx="29">
                  <c:v>7467</c:v>
                </c:pt>
                <c:pt idx="30">
                  <c:v>7645</c:v>
                </c:pt>
                <c:pt idx="31">
                  <c:v>6796</c:v>
                </c:pt>
                <c:pt idx="32">
                  <c:v>4964</c:v>
                </c:pt>
                <c:pt idx="33">
                  <c:v>6764</c:v>
                </c:pt>
                <c:pt idx="34">
                  <c:v>7207</c:v>
                </c:pt>
                <c:pt idx="35">
                  <c:v>7272</c:v>
                </c:pt>
                <c:pt idx="36">
                  <c:v>7289</c:v>
                </c:pt>
                <c:pt idx="37">
                  <c:v>7723</c:v>
                </c:pt>
                <c:pt idx="38">
                  <c:v>7323</c:v>
                </c:pt>
                <c:pt idx="39">
                  <c:v>6861</c:v>
                </c:pt>
                <c:pt idx="40">
                  <c:v>5920</c:v>
                </c:pt>
                <c:pt idx="41">
                  <c:v>5891</c:v>
                </c:pt>
                <c:pt idx="42">
                  <c:v>6020</c:v>
                </c:pt>
                <c:pt idx="43">
                  <c:v>6201</c:v>
                </c:pt>
                <c:pt idx="44">
                  <c:v>6037</c:v>
                </c:pt>
                <c:pt idx="45">
                  <c:v>6312</c:v>
                </c:pt>
                <c:pt idx="46">
                  <c:v>5414</c:v>
                </c:pt>
                <c:pt idx="47">
                  <c:v>6143</c:v>
                </c:pt>
                <c:pt idx="48">
                  <c:v>6242</c:v>
                </c:pt>
                <c:pt idx="49">
                  <c:v>6732</c:v>
                </c:pt>
                <c:pt idx="50">
                  <c:v>7470</c:v>
                </c:pt>
                <c:pt idx="51">
                  <c:v>7810</c:v>
                </c:pt>
                <c:pt idx="52">
                  <c:v>7517</c:v>
                </c:pt>
                <c:pt idx="53">
                  <c:v>7219</c:v>
                </c:pt>
                <c:pt idx="54">
                  <c:v>6637</c:v>
                </c:pt>
                <c:pt idx="55">
                  <c:v>7102</c:v>
                </c:pt>
                <c:pt idx="56">
                  <c:v>6999</c:v>
                </c:pt>
                <c:pt idx="57">
                  <c:v>7108</c:v>
                </c:pt>
                <c:pt idx="58">
                  <c:v>7097</c:v>
                </c:pt>
                <c:pt idx="59">
                  <c:v>7244</c:v>
                </c:pt>
                <c:pt idx="60">
                  <c:v>6881</c:v>
                </c:pt>
                <c:pt idx="61">
                  <c:v>6749</c:v>
                </c:pt>
                <c:pt idx="62">
                  <c:v>6290</c:v>
                </c:pt>
                <c:pt idx="63">
                  <c:v>6261</c:v>
                </c:pt>
                <c:pt idx="64">
                  <c:v>6971</c:v>
                </c:pt>
                <c:pt idx="65">
                  <c:v>7667</c:v>
                </c:pt>
                <c:pt idx="66">
                  <c:v>7248</c:v>
                </c:pt>
                <c:pt idx="67">
                  <c:v>6706</c:v>
                </c:pt>
                <c:pt idx="68">
                  <c:v>6663</c:v>
                </c:pt>
                <c:pt idx="69">
                  <c:v>6844</c:v>
                </c:pt>
                <c:pt idx="70">
                  <c:v>7300</c:v>
                </c:pt>
                <c:pt idx="71">
                  <c:v>7499</c:v>
                </c:pt>
                <c:pt idx="72">
                  <c:v>8139</c:v>
                </c:pt>
                <c:pt idx="73">
                  <c:v>7312</c:v>
                </c:pt>
                <c:pt idx="74">
                  <c:v>7034</c:v>
                </c:pt>
                <c:pt idx="75">
                  <c:v>6905</c:v>
                </c:pt>
                <c:pt idx="76">
                  <c:v>6790</c:v>
                </c:pt>
                <c:pt idx="77">
                  <c:v>7029</c:v>
                </c:pt>
                <c:pt idx="78">
                  <c:v>7510</c:v>
                </c:pt>
                <c:pt idx="79">
                  <c:v>7970</c:v>
                </c:pt>
                <c:pt idx="80">
                  <c:v>7336</c:v>
                </c:pt>
                <c:pt idx="81">
                  <c:v>6440</c:v>
                </c:pt>
                <c:pt idx="82">
                  <c:v>6732</c:v>
                </c:pt>
                <c:pt idx="83">
                  <c:v>6877</c:v>
                </c:pt>
                <c:pt idx="84">
                  <c:v>7065</c:v>
                </c:pt>
                <c:pt idx="85">
                  <c:v>7264</c:v>
                </c:pt>
                <c:pt idx="86">
                  <c:v>7765</c:v>
                </c:pt>
                <c:pt idx="87">
                  <c:v>6986</c:v>
                </c:pt>
                <c:pt idx="88">
                  <c:v>6569</c:v>
                </c:pt>
                <c:pt idx="89">
                  <c:v>6707</c:v>
                </c:pt>
                <c:pt idx="90">
                  <c:v>6577</c:v>
                </c:pt>
                <c:pt idx="91">
                  <c:v>6190</c:v>
                </c:pt>
                <c:pt idx="92">
                  <c:v>6512</c:v>
                </c:pt>
                <c:pt idx="93">
                  <c:v>7310</c:v>
                </c:pt>
                <c:pt idx="94">
                  <c:v>6966</c:v>
                </c:pt>
                <c:pt idx="95">
                  <c:v>6085</c:v>
                </c:pt>
                <c:pt idx="96">
                  <c:v>6139</c:v>
                </c:pt>
                <c:pt idx="97">
                  <c:v>6762</c:v>
                </c:pt>
                <c:pt idx="98">
                  <c:v>6589</c:v>
                </c:pt>
                <c:pt idx="99">
                  <c:v>6744</c:v>
                </c:pt>
                <c:pt idx="100">
                  <c:v>7566</c:v>
                </c:pt>
                <c:pt idx="101">
                  <c:v>6930</c:v>
                </c:pt>
                <c:pt idx="102">
                  <c:v>6607</c:v>
                </c:pt>
                <c:pt idx="103">
                  <c:v>6700</c:v>
                </c:pt>
                <c:pt idx="104">
                  <c:v>6790</c:v>
                </c:pt>
                <c:pt idx="105">
                  <c:v>7314</c:v>
                </c:pt>
                <c:pt idx="106">
                  <c:v>7367</c:v>
                </c:pt>
                <c:pt idx="107">
                  <c:v>7849</c:v>
                </c:pt>
                <c:pt idx="108">
                  <c:v>7333</c:v>
                </c:pt>
                <c:pt idx="109">
                  <c:v>6810</c:v>
                </c:pt>
                <c:pt idx="110">
                  <c:v>6640</c:v>
                </c:pt>
                <c:pt idx="111">
                  <c:v>6415</c:v>
                </c:pt>
                <c:pt idx="112">
                  <c:v>6946</c:v>
                </c:pt>
                <c:pt idx="113">
                  <c:v>7258</c:v>
                </c:pt>
                <c:pt idx="114">
                  <c:v>7726</c:v>
                </c:pt>
                <c:pt idx="115">
                  <c:v>7132</c:v>
                </c:pt>
                <c:pt idx="116">
                  <c:v>6607</c:v>
                </c:pt>
                <c:pt idx="117">
                  <c:v>6672</c:v>
                </c:pt>
                <c:pt idx="118">
                  <c:v>6606</c:v>
                </c:pt>
                <c:pt idx="119">
                  <c:v>6796</c:v>
                </c:pt>
                <c:pt idx="120">
                  <c:v>7788</c:v>
                </c:pt>
                <c:pt idx="121">
                  <c:v>7783</c:v>
                </c:pt>
                <c:pt idx="122">
                  <c:v>7426</c:v>
                </c:pt>
                <c:pt idx="123">
                  <c:v>6761</c:v>
                </c:pt>
                <c:pt idx="124">
                  <c:v>6702</c:v>
                </c:pt>
                <c:pt idx="125">
                  <c:v>6602</c:v>
                </c:pt>
                <c:pt idx="126">
                  <c:v>6554</c:v>
                </c:pt>
                <c:pt idx="127">
                  <c:v>6802</c:v>
                </c:pt>
                <c:pt idx="128">
                  <c:v>7064</c:v>
                </c:pt>
                <c:pt idx="129">
                  <c:v>7191</c:v>
                </c:pt>
                <c:pt idx="130">
                  <c:v>6578</c:v>
                </c:pt>
                <c:pt idx="131">
                  <c:v>6601</c:v>
                </c:pt>
                <c:pt idx="132">
                  <c:v>6783</c:v>
                </c:pt>
                <c:pt idx="133">
                  <c:v>6970</c:v>
                </c:pt>
                <c:pt idx="134">
                  <c:v>7204</c:v>
                </c:pt>
                <c:pt idx="135">
                  <c:v>7817</c:v>
                </c:pt>
                <c:pt idx="136">
                  <c:v>7245</c:v>
                </c:pt>
                <c:pt idx="137">
                  <c:v>6703</c:v>
                </c:pt>
                <c:pt idx="138">
                  <c:v>6669</c:v>
                </c:pt>
                <c:pt idx="139">
                  <c:v>6845</c:v>
                </c:pt>
                <c:pt idx="140">
                  <c:v>6995</c:v>
                </c:pt>
                <c:pt idx="141">
                  <c:v>7118</c:v>
                </c:pt>
                <c:pt idx="142">
                  <c:v>7846</c:v>
                </c:pt>
                <c:pt idx="143">
                  <c:v>7107</c:v>
                </c:pt>
                <c:pt idx="144">
                  <c:v>6727</c:v>
                </c:pt>
                <c:pt idx="145">
                  <c:v>6788</c:v>
                </c:pt>
                <c:pt idx="146">
                  <c:v>6706</c:v>
                </c:pt>
                <c:pt idx="147">
                  <c:v>6841</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900" b="0" i="0" u="none" strike="noStrike">
                <a:solidFill>
                  <a:srgbClr val="5F7183"/>
                </a:solidFill>
                <a:latin typeface="Calibri"/>
              </a:defRPr>
            </a:pPr>
            <a:endParaRPr lang="en-US"/>
          </a:p>
        </c:txPr>
        <c:crossAx val="2094734552"/>
        <c:crosses val="autoZero"/>
        <c:auto val="1"/>
        <c:lblAlgn val="ctr"/>
        <c:noMultiLvlLbl val="1"/>
        <c:tickLblSkip val="12"/>
      </c:catAx>
      <c:valAx>
        <c:axId val="2094734552"/>
        <c:scaling>
          <c:orientation val="minMax"/>
          <c:min val="0"/>
        </c:scaling>
        <c:delete val="0"/>
        <c:axPos val="l"/>
        <c:majorGridlines>
          <c:spPr>
            <a:ln w="1270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7183"/>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c:v>
                </c:pt>
              </c:strCache>
            </c:strRef>
          </c:tx>
          <c:spPr>
            <a:solidFill>
              <a:srgbClr val="0F2942"/>
            </a:solidFill>
            <a:ln w="25400" cap="flat">
              <a:solidFill>
                <a:srgbClr val="0F294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2942"/>
              </a:solidFill>
              <a:ln w="9525" cap="flat">
                <a:solidFill>
                  <a:srgbClr val="0F2942"/>
                </a:solidFill>
                <a:prstDash val="solid"/>
                <a:round/>
              </a:ln>
              <a:effectLst/>
            </c:spPr>
          </c:marker>
          <c:cat>
            <c:multiLvlStrRef>
              <c:f>Sheet1!$A$2:$A$366</c:f>
              <c:multiLvlStrCache>
                <c:ptCount val="365"/>
                <c:lvl>
                  <c:pt idx="0">
                    <c:v>01 Jan</c:v>
                  </c:pt>
                  <c:pt idx="1">
                    <c:v>02 Jan</c:v>
                  </c:pt>
                  <c:pt idx="2">
                    <c:v>03 Jan</c:v>
                  </c:pt>
                  <c:pt idx="3">
                    <c:v>04 Jan</c:v>
                  </c:pt>
                  <c:pt idx="4">
                    <c:v>05 Jan</c:v>
                  </c:pt>
                  <c:pt idx="5">
                    <c:v>06 Jan</c:v>
                  </c:pt>
                  <c:pt idx="6">
                    <c:v>07 Jan</c:v>
                  </c:pt>
                  <c:pt idx="7">
                    <c:v>08 Jan</c:v>
                  </c:pt>
                  <c:pt idx="8">
                    <c:v>09 Jan</c:v>
                  </c:pt>
                  <c:pt idx="9">
                    <c:v>10 Jan</c:v>
                  </c:pt>
                  <c:pt idx="10">
                    <c:v>11 Jan</c:v>
                  </c:pt>
                  <c:pt idx="11">
                    <c:v>12 Jan</c:v>
                  </c:pt>
                  <c:pt idx="12">
                    <c:v>13 Jan</c:v>
                  </c:pt>
                  <c:pt idx="13">
                    <c:v>14 Jan</c:v>
                  </c:pt>
                  <c:pt idx="14">
                    <c:v>15 Jan</c:v>
                  </c:pt>
                  <c:pt idx="15">
                    <c:v>16 Jan</c:v>
                  </c:pt>
                  <c:pt idx="16">
                    <c:v>17 Jan</c:v>
                  </c:pt>
                  <c:pt idx="17">
                    <c:v>18 Jan</c:v>
                  </c:pt>
                  <c:pt idx="18">
                    <c:v>19 Jan</c:v>
                  </c:pt>
                  <c:pt idx="19">
                    <c:v>20 Jan</c:v>
                  </c:pt>
                  <c:pt idx="20">
                    <c:v>21 Jan</c:v>
                  </c:pt>
                  <c:pt idx="21">
                    <c:v>22 Jan</c:v>
                  </c:pt>
                  <c:pt idx="22">
                    <c:v>23 Jan</c:v>
                  </c:pt>
                  <c:pt idx="23">
                    <c:v>24 Jan</c:v>
                  </c:pt>
                  <c:pt idx="24">
                    <c:v>25 Jan</c:v>
                  </c:pt>
                  <c:pt idx="25">
                    <c:v>26 Jan</c:v>
                  </c:pt>
                  <c:pt idx="26">
                    <c:v>27 Jan</c:v>
                  </c:pt>
                  <c:pt idx="27">
                    <c:v>28 Jan</c:v>
                  </c:pt>
                  <c:pt idx="28">
                    <c:v>29 Jan</c:v>
                  </c:pt>
                  <c:pt idx="29">
                    <c:v>30 Jan</c:v>
                  </c:pt>
                  <c:pt idx="30">
                    <c:v>31 Jan</c:v>
                  </c:pt>
                  <c:pt idx="31">
                    <c:v>01 Feb</c:v>
                  </c:pt>
                  <c:pt idx="32">
                    <c:v>02 Feb</c:v>
                  </c:pt>
                  <c:pt idx="33">
                    <c:v>03 Feb</c:v>
                  </c:pt>
                  <c:pt idx="34">
                    <c:v>04 Feb</c:v>
                  </c:pt>
                  <c:pt idx="35">
                    <c:v>05 Feb</c:v>
                  </c:pt>
                  <c:pt idx="36">
                    <c:v>06 Feb</c:v>
                  </c:pt>
                  <c:pt idx="37">
                    <c:v>07 Feb</c:v>
                  </c:pt>
                  <c:pt idx="38">
                    <c:v>08 Feb</c:v>
                  </c:pt>
                  <c:pt idx="39">
                    <c:v>09 Feb</c:v>
                  </c:pt>
                  <c:pt idx="40">
                    <c:v>10 Feb</c:v>
                  </c:pt>
                  <c:pt idx="41">
                    <c:v>11 Feb</c:v>
                  </c:pt>
                  <c:pt idx="42">
                    <c:v>12 Feb</c:v>
                  </c:pt>
                  <c:pt idx="43">
                    <c:v>13 Feb</c:v>
                  </c:pt>
                  <c:pt idx="44">
                    <c:v>14 Feb</c:v>
                  </c:pt>
                  <c:pt idx="45">
                    <c:v>15 Feb</c:v>
                  </c:pt>
                  <c:pt idx="46">
                    <c:v>16 Feb</c:v>
                  </c:pt>
                  <c:pt idx="47">
                    <c:v>17 Feb</c:v>
                  </c:pt>
                  <c:pt idx="48">
                    <c:v>18 Feb</c:v>
                  </c:pt>
                  <c:pt idx="49">
                    <c:v>19 Feb</c:v>
                  </c:pt>
                  <c:pt idx="50">
                    <c:v>20 Feb</c:v>
                  </c:pt>
                  <c:pt idx="51">
                    <c:v>21 Feb</c:v>
                  </c:pt>
                  <c:pt idx="52">
                    <c:v>22 Feb</c:v>
                  </c:pt>
                  <c:pt idx="53">
                    <c:v>23 Feb</c:v>
                  </c:pt>
                  <c:pt idx="54">
                    <c:v>24 Feb</c:v>
                  </c:pt>
                  <c:pt idx="55">
                    <c:v>25 Feb</c:v>
                  </c:pt>
                  <c:pt idx="56">
                    <c:v>26 Feb</c:v>
                  </c:pt>
                  <c:pt idx="57">
                    <c:v>27 Feb</c:v>
                  </c:pt>
                  <c:pt idx="58">
                    <c:v>28 Feb</c:v>
                  </c:pt>
                  <c:pt idx="59">
                    <c:v>01 Mar</c:v>
                  </c:pt>
                  <c:pt idx="60">
                    <c:v>02 Mar</c:v>
                  </c:pt>
                  <c:pt idx="61">
                    <c:v>03 Mar</c:v>
                  </c:pt>
                  <c:pt idx="62">
                    <c:v>04 Mar</c:v>
                  </c:pt>
                  <c:pt idx="63">
                    <c:v>05 Mar</c:v>
                  </c:pt>
                  <c:pt idx="64">
                    <c:v>06 Mar</c:v>
                  </c:pt>
                  <c:pt idx="65">
                    <c:v>07 Mar</c:v>
                  </c:pt>
                  <c:pt idx="66">
                    <c:v>08 Mar</c:v>
                  </c:pt>
                  <c:pt idx="67">
                    <c:v>09 Mar</c:v>
                  </c:pt>
                  <c:pt idx="68">
                    <c:v>10 Mar</c:v>
                  </c:pt>
                  <c:pt idx="69">
                    <c:v>11 Mar</c:v>
                  </c:pt>
                  <c:pt idx="70">
                    <c:v>12 Mar</c:v>
                  </c:pt>
                  <c:pt idx="71">
                    <c:v>13 Mar</c:v>
                  </c:pt>
                  <c:pt idx="72">
                    <c:v>14 Mar</c:v>
                  </c:pt>
                  <c:pt idx="73">
                    <c:v>15 Mar</c:v>
                  </c:pt>
                  <c:pt idx="74">
                    <c:v>16 Mar</c:v>
                  </c:pt>
                  <c:pt idx="75">
                    <c:v>17 Mar</c:v>
                  </c:pt>
                  <c:pt idx="76">
                    <c:v>18 Mar</c:v>
                  </c:pt>
                  <c:pt idx="77">
                    <c:v>19 Mar</c:v>
                  </c:pt>
                  <c:pt idx="78">
                    <c:v>20 Mar</c:v>
                  </c:pt>
                  <c:pt idx="79">
                    <c:v>21 Mar</c:v>
                  </c:pt>
                  <c:pt idx="80">
                    <c:v>22 Mar</c:v>
                  </c:pt>
                  <c:pt idx="81">
                    <c:v>23 Mar</c:v>
                  </c:pt>
                  <c:pt idx="82">
                    <c:v>24 Mar</c:v>
                  </c:pt>
                  <c:pt idx="83">
                    <c:v>25 Mar</c:v>
                  </c:pt>
                  <c:pt idx="84">
                    <c:v>26 Mar</c:v>
                  </c:pt>
                  <c:pt idx="85">
                    <c:v>27 Mar</c:v>
                  </c:pt>
                  <c:pt idx="86">
                    <c:v>28 Mar</c:v>
                  </c:pt>
                  <c:pt idx="87">
                    <c:v>29 Mar</c:v>
                  </c:pt>
                  <c:pt idx="88">
                    <c:v>30 Mar</c:v>
                  </c:pt>
                  <c:pt idx="89">
                    <c:v>31 Mar</c:v>
                  </c:pt>
                  <c:pt idx="90">
                    <c:v>01 Apr</c:v>
                  </c:pt>
                  <c:pt idx="91">
                    <c:v>02 Apr</c:v>
                  </c:pt>
                  <c:pt idx="92">
                    <c:v>03 Apr</c:v>
                  </c:pt>
                  <c:pt idx="93">
                    <c:v>04 Apr</c:v>
                  </c:pt>
                  <c:pt idx="94">
                    <c:v>05 Apr</c:v>
                  </c:pt>
                  <c:pt idx="95">
                    <c:v>06 Apr</c:v>
                  </c:pt>
                  <c:pt idx="96">
                    <c:v>07 Apr</c:v>
                  </c:pt>
                  <c:pt idx="97">
                    <c:v>08 Apr</c:v>
                  </c:pt>
                  <c:pt idx="98">
                    <c:v>09 Apr</c:v>
                  </c:pt>
                  <c:pt idx="99">
                    <c:v>10 Apr</c:v>
                  </c:pt>
                  <c:pt idx="100">
                    <c:v>11 Apr</c:v>
                  </c:pt>
                  <c:pt idx="101">
                    <c:v>12 Apr</c:v>
                  </c:pt>
                  <c:pt idx="102">
                    <c:v>13 Apr</c:v>
                  </c:pt>
                  <c:pt idx="103">
                    <c:v>14 Apr</c:v>
                  </c:pt>
                  <c:pt idx="104">
                    <c:v>15 Apr</c:v>
                  </c:pt>
                  <c:pt idx="105">
                    <c:v>16 Apr</c:v>
                  </c:pt>
                  <c:pt idx="106">
                    <c:v>17 Apr</c:v>
                  </c:pt>
                  <c:pt idx="107">
                    <c:v>18 Apr</c:v>
                  </c:pt>
                  <c:pt idx="108">
                    <c:v>19 Apr</c:v>
                  </c:pt>
                  <c:pt idx="109">
                    <c:v>20 Apr</c:v>
                  </c:pt>
                  <c:pt idx="110">
                    <c:v>21 Apr</c:v>
                  </c:pt>
                  <c:pt idx="111">
                    <c:v>22 Apr</c:v>
                  </c:pt>
                  <c:pt idx="112">
                    <c:v>23 Apr</c:v>
                  </c:pt>
                  <c:pt idx="113">
                    <c:v>24 Apr</c:v>
                  </c:pt>
                  <c:pt idx="114">
                    <c:v>25 Apr</c:v>
                  </c:pt>
                  <c:pt idx="115">
                    <c:v>26 Apr</c:v>
                  </c:pt>
                  <c:pt idx="116">
                    <c:v>27 Apr</c:v>
                  </c:pt>
                  <c:pt idx="117">
                    <c:v>28 Apr</c:v>
                  </c:pt>
                  <c:pt idx="118">
                    <c:v>29 Apr</c:v>
                  </c:pt>
                  <c:pt idx="119">
                    <c:v>30 Apr</c:v>
                  </c:pt>
                  <c:pt idx="120">
                    <c:v>01 May</c:v>
                  </c:pt>
                  <c:pt idx="121">
                    <c:v>02 May</c:v>
                  </c:pt>
                  <c:pt idx="122">
                    <c:v>03 May</c:v>
                  </c:pt>
                  <c:pt idx="123">
                    <c:v>04 May</c:v>
                  </c:pt>
                  <c:pt idx="124">
                    <c:v>05 May</c:v>
                  </c:pt>
                  <c:pt idx="125">
                    <c:v>06 May</c:v>
                  </c:pt>
                  <c:pt idx="126">
                    <c:v>07 May</c:v>
                  </c:pt>
                  <c:pt idx="127">
                    <c:v>08 May</c:v>
                  </c:pt>
                  <c:pt idx="128">
                    <c:v>09 May</c:v>
                  </c:pt>
                  <c:pt idx="129">
                    <c:v>10 May</c:v>
                  </c:pt>
                  <c:pt idx="130">
                    <c:v>11 May</c:v>
                  </c:pt>
                  <c:pt idx="131">
                    <c:v>12 May</c:v>
                  </c:pt>
                  <c:pt idx="132">
                    <c:v>13 May</c:v>
                  </c:pt>
                  <c:pt idx="133">
                    <c:v>14 May</c:v>
                  </c:pt>
                  <c:pt idx="134">
                    <c:v>15 May</c:v>
                  </c:pt>
                  <c:pt idx="135">
                    <c:v>16 May</c:v>
                  </c:pt>
                  <c:pt idx="136">
                    <c:v>17 May</c:v>
                  </c:pt>
                  <c:pt idx="137">
                    <c:v>18 May</c:v>
                  </c:pt>
                  <c:pt idx="138">
                    <c:v>19 May</c:v>
                  </c:pt>
                  <c:pt idx="139">
                    <c:v>20 May</c:v>
                  </c:pt>
                  <c:pt idx="140">
                    <c:v>21 May</c:v>
                  </c:pt>
                  <c:pt idx="141">
                    <c:v>22 May</c:v>
                  </c:pt>
                  <c:pt idx="142">
                    <c:v>23 May</c:v>
                  </c:pt>
                  <c:pt idx="143">
                    <c:v>24 May</c:v>
                  </c:pt>
                  <c:pt idx="144">
                    <c:v>25 May</c:v>
                  </c:pt>
                  <c:pt idx="145">
                    <c:v>26 May</c:v>
                  </c:pt>
                  <c:pt idx="146">
                    <c:v>27 May</c:v>
                  </c:pt>
                  <c:pt idx="147">
                    <c:v>28 May</c:v>
                  </c:pt>
                  <c:pt idx="148">
                    <c:v>29 May</c:v>
                  </c:pt>
                  <c:pt idx="149">
                    <c:v>30 May</c:v>
                  </c:pt>
                  <c:pt idx="150">
                    <c:v>31 May</c:v>
                  </c:pt>
                  <c:pt idx="151">
                    <c:v>01 Jun</c:v>
                  </c:pt>
                  <c:pt idx="152">
                    <c:v>02 Jun</c:v>
                  </c:pt>
                  <c:pt idx="153">
                    <c:v>03 Jun</c:v>
                  </c:pt>
                  <c:pt idx="154">
                    <c:v>04 Jun</c:v>
                  </c:pt>
                  <c:pt idx="155">
                    <c:v>05 Jun</c:v>
                  </c:pt>
                  <c:pt idx="156">
                    <c:v>06 Jun</c:v>
                  </c:pt>
                  <c:pt idx="157">
                    <c:v>07 Jun</c:v>
                  </c:pt>
                  <c:pt idx="158">
                    <c:v>08 Jun</c:v>
                  </c:pt>
                  <c:pt idx="159">
                    <c:v>09 Jun</c:v>
                  </c:pt>
                  <c:pt idx="160">
                    <c:v>10 Jun</c:v>
                  </c:pt>
                  <c:pt idx="161">
                    <c:v>11 Jun</c:v>
                  </c:pt>
                  <c:pt idx="162">
                    <c:v>12 Jun</c:v>
                  </c:pt>
                  <c:pt idx="163">
                    <c:v>13 Jun</c:v>
                  </c:pt>
                  <c:pt idx="164">
                    <c:v>14 Jun</c:v>
                  </c:pt>
                  <c:pt idx="165">
                    <c:v>15 Jun</c:v>
                  </c:pt>
                  <c:pt idx="166">
                    <c:v>16 Jun</c:v>
                  </c:pt>
                  <c:pt idx="167">
                    <c:v>17 Jun</c:v>
                  </c:pt>
                  <c:pt idx="168">
                    <c:v>18 Jun</c:v>
                  </c:pt>
                  <c:pt idx="169">
                    <c:v>19 Jun</c:v>
                  </c:pt>
                  <c:pt idx="170">
                    <c:v>20 Jun</c:v>
                  </c:pt>
                  <c:pt idx="171">
                    <c:v>21 Jun</c:v>
                  </c:pt>
                  <c:pt idx="172">
                    <c:v>22 Jun</c:v>
                  </c:pt>
                  <c:pt idx="173">
                    <c:v>23 Jun</c:v>
                  </c:pt>
                  <c:pt idx="174">
                    <c:v>24 Jun</c:v>
                  </c:pt>
                  <c:pt idx="175">
                    <c:v>25 Jun</c:v>
                  </c:pt>
                  <c:pt idx="176">
                    <c:v>26 Jun</c:v>
                  </c:pt>
                  <c:pt idx="177">
                    <c:v>27 Jun</c:v>
                  </c:pt>
                  <c:pt idx="178">
                    <c:v>28 Jun</c:v>
                  </c:pt>
                  <c:pt idx="179">
                    <c:v>29 Jun</c:v>
                  </c:pt>
                  <c:pt idx="180">
                    <c:v>30 Jun</c:v>
                  </c:pt>
                  <c:pt idx="181">
                    <c:v>01 Jul</c:v>
                  </c:pt>
                  <c:pt idx="182">
                    <c:v>02 Jul</c:v>
                  </c:pt>
                  <c:pt idx="183">
                    <c:v>03 Jul</c:v>
                  </c:pt>
                  <c:pt idx="184">
                    <c:v>04 Jul</c:v>
                  </c:pt>
                  <c:pt idx="185">
                    <c:v>05 Jul</c:v>
                  </c:pt>
                  <c:pt idx="186">
                    <c:v>06 Jul</c:v>
                  </c:pt>
                  <c:pt idx="187">
                    <c:v>07 Jul</c:v>
                  </c:pt>
                  <c:pt idx="188">
                    <c:v>08 Jul</c:v>
                  </c:pt>
                  <c:pt idx="189">
                    <c:v>09 Jul</c:v>
                  </c:pt>
                  <c:pt idx="190">
                    <c:v>10 Jul</c:v>
                  </c:pt>
                  <c:pt idx="191">
                    <c:v>11 Jul</c:v>
                  </c:pt>
                  <c:pt idx="192">
                    <c:v>12 Jul</c:v>
                  </c:pt>
                  <c:pt idx="193">
                    <c:v>13 Jul</c:v>
                  </c:pt>
                  <c:pt idx="194">
                    <c:v>14 Jul</c:v>
                  </c:pt>
                  <c:pt idx="195">
                    <c:v>15 Jul</c:v>
                  </c:pt>
                  <c:pt idx="196">
                    <c:v>16 Jul</c:v>
                  </c:pt>
                  <c:pt idx="197">
                    <c:v>17 Jul</c:v>
                  </c:pt>
                  <c:pt idx="198">
                    <c:v>18 Jul</c:v>
                  </c:pt>
                  <c:pt idx="199">
                    <c:v>19 Jul</c:v>
                  </c:pt>
                  <c:pt idx="200">
                    <c:v>20 Jul</c:v>
                  </c:pt>
                  <c:pt idx="201">
                    <c:v>21 Jul</c:v>
                  </c:pt>
                  <c:pt idx="202">
                    <c:v>22 Jul</c:v>
                  </c:pt>
                  <c:pt idx="203">
                    <c:v>23 Jul</c:v>
                  </c:pt>
                  <c:pt idx="204">
                    <c:v>24 Jul</c:v>
                  </c:pt>
                  <c:pt idx="205">
                    <c:v>25 Jul</c:v>
                  </c:pt>
                  <c:pt idx="206">
                    <c:v>26 Jul</c:v>
                  </c:pt>
                  <c:pt idx="207">
                    <c:v>27 Jul</c:v>
                  </c:pt>
                  <c:pt idx="208">
                    <c:v>28 Jul</c:v>
                  </c:pt>
                  <c:pt idx="209">
                    <c:v>29 Jul</c:v>
                  </c:pt>
                  <c:pt idx="210">
                    <c:v>30 Jul</c:v>
                  </c:pt>
                  <c:pt idx="211">
                    <c:v>31 Jul</c:v>
                  </c:pt>
                  <c:pt idx="212">
                    <c:v>01 Aug</c:v>
                  </c:pt>
                  <c:pt idx="213">
                    <c:v>02 Aug</c:v>
                  </c:pt>
                  <c:pt idx="214">
                    <c:v>03 Aug</c:v>
                  </c:pt>
                  <c:pt idx="215">
                    <c:v>04 Aug</c:v>
                  </c:pt>
                  <c:pt idx="216">
                    <c:v>05 Aug</c:v>
                  </c:pt>
                  <c:pt idx="217">
                    <c:v>06 Aug</c:v>
                  </c:pt>
                  <c:pt idx="218">
                    <c:v>07 Aug</c:v>
                  </c:pt>
                  <c:pt idx="219">
                    <c:v>08 Aug</c:v>
                  </c:pt>
                  <c:pt idx="220">
                    <c:v>09 Aug</c:v>
                  </c:pt>
                  <c:pt idx="221">
                    <c:v>10 Aug</c:v>
                  </c:pt>
                  <c:pt idx="222">
                    <c:v>11 Aug</c:v>
                  </c:pt>
                  <c:pt idx="223">
                    <c:v>12 Aug</c:v>
                  </c:pt>
                  <c:pt idx="224">
                    <c:v>13 Aug</c:v>
                  </c:pt>
                  <c:pt idx="225">
                    <c:v>14 Aug</c:v>
                  </c:pt>
                  <c:pt idx="226">
                    <c:v>15 Aug</c:v>
                  </c:pt>
                  <c:pt idx="227">
                    <c:v>16 Aug</c:v>
                  </c:pt>
                  <c:pt idx="228">
                    <c:v>17 Aug</c:v>
                  </c:pt>
                  <c:pt idx="229">
                    <c:v>18 Aug</c:v>
                  </c:pt>
                  <c:pt idx="230">
                    <c:v>19 Aug</c:v>
                  </c:pt>
                  <c:pt idx="231">
                    <c:v>20 Aug</c:v>
                  </c:pt>
                  <c:pt idx="232">
                    <c:v>21 Aug</c:v>
                  </c:pt>
                  <c:pt idx="233">
                    <c:v>22 Aug</c:v>
                  </c:pt>
                  <c:pt idx="234">
                    <c:v>23 Aug</c:v>
                  </c:pt>
                  <c:pt idx="235">
                    <c:v>24 Aug</c:v>
                  </c:pt>
                  <c:pt idx="236">
                    <c:v>25 Aug</c:v>
                  </c:pt>
                  <c:pt idx="237">
                    <c:v>26 Aug</c:v>
                  </c:pt>
                  <c:pt idx="238">
                    <c:v>27 Aug</c:v>
                  </c:pt>
                  <c:pt idx="239">
                    <c:v>28 Aug</c:v>
                  </c:pt>
                  <c:pt idx="240">
                    <c:v>29 Aug</c:v>
                  </c:pt>
                  <c:pt idx="241">
                    <c:v>30 Aug</c:v>
                  </c:pt>
                  <c:pt idx="242">
                    <c:v>31 Aug</c:v>
                  </c:pt>
                  <c:pt idx="243">
                    <c:v>01 Sep</c:v>
                  </c:pt>
                  <c:pt idx="244">
                    <c:v>02 Sep</c:v>
                  </c:pt>
                  <c:pt idx="245">
                    <c:v>03 Sep</c:v>
                  </c:pt>
                  <c:pt idx="246">
                    <c:v>04 Sep</c:v>
                  </c:pt>
                  <c:pt idx="247">
                    <c:v>05 Sep</c:v>
                  </c:pt>
                  <c:pt idx="248">
                    <c:v>06 Sep</c:v>
                  </c:pt>
                  <c:pt idx="249">
                    <c:v>07 Sep</c:v>
                  </c:pt>
                  <c:pt idx="250">
                    <c:v>08 Sep</c:v>
                  </c:pt>
                  <c:pt idx="251">
                    <c:v>09 Sep</c:v>
                  </c:pt>
                  <c:pt idx="252">
                    <c:v>10 Sep</c:v>
                  </c:pt>
                  <c:pt idx="253">
                    <c:v>11 Sep</c:v>
                  </c:pt>
                  <c:pt idx="254">
                    <c:v>12 Sep</c:v>
                  </c:pt>
                  <c:pt idx="255">
                    <c:v>13 Sep</c:v>
                  </c:pt>
                  <c:pt idx="256">
                    <c:v>14 Sep</c:v>
                  </c:pt>
                  <c:pt idx="257">
                    <c:v>15 Sep</c:v>
                  </c:pt>
                  <c:pt idx="258">
                    <c:v>16 Sep</c:v>
                  </c:pt>
                  <c:pt idx="259">
                    <c:v>17 Sep</c:v>
                  </c:pt>
                  <c:pt idx="260">
                    <c:v>18 Sep</c:v>
                  </c:pt>
                  <c:pt idx="261">
                    <c:v>19 Sep</c:v>
                  </c:pt>
                  <c:pt idx="262">
                    <c:v>20 Sep</c:v>
                  </c:pt>
                  <c:pt idx="263">
                    <c:v>21 Sep</c:v>
                  </c:pt>
                  <c:pt idx="264">
                    <c:v>22 Sep</c:v>
                  </c:pt>
                  <c:pt idx="265">
                    <c:v>23 Sep</c:v>
                  </c:pt>
                  <c:pt idx="266">
                    <c:v>24 Sep</c:v>
                  </c:pt>
                  <c:pt idx="267">
                    <c:v>25 Sep</c:v>
                  </c:pt>
                  <c:pt idx="268">
                    <c:v>26 Sep</c:v>
                  </c:pt>
                  <c:pt idx="269">
                    <c:v>27 Sep</c:v>
                  </c:pt>
                  <c:pt idx="270">
                    <c:v>28 Sep</c:v>
                  </c:pt>
                  <c:pt idx="271">
                    <c:v>29 Sep</c:v>
                  </c:pt>
                  <c:pt idx="272">
                    <c:v>30 Sep</c:v>
                  </c:pt>
                  <c:pt idx="273">
                    <c:v>01 Oct</c:v>
                  </c:pt>
                  <c:pt idx="274">
                    <c:v>02 Oct</c:v>
                  </c:pt>
                  <c:pt idx="275">
                    <c:v>03 Oct</c:v>
                  </c:pt>
                  <c:pt idx="276">
                    <c:v>04 Oct</c:v>
                  </c:pt>
                  <c:pt idx="277">
                    <c:v>05 Oct</c:v>
                  </c:pt>
                  <c:pt idx="278">
                    <c:v>06 Oct</c:v>
                  </c:pt>
                  <c:pt idx="279">
                    <c:v>07 Oct</c:v>
                  </c:pt>
                  <c:pt idx="280">
                    <c:v>08 Oct</c:v>
                  </c:pt>
                  <c:pt idx="281">
                    <c:v>09 Oct</c:v>
                  </c:pt>
                  <c:pt idx="282">
                    <c:v>10 Oct</c:v>
                  </c:pt>
                  <c:pt idx="283">
                    <c:v>11 Oct</c:v>
                  </c:pt>
                  <c:pt idx="284">
                    <c:v>12 Oct</c:v>
                  </c:pt>
                  <c:pt idx="285">
                    <c:v>13 Oct</c:v>
                  </c:pt>
                  <c:pt idx="286">
                    <c:v>14 Oct</c:v>
                  </c:pt>
                  <c:pt idx="287">
                    <c:v>15 Oct</c:v>
                  </c:pt>
                  <c:pt idx="288">
                    <c:v>16 Oct</c:v>
                  </c:pt>
                  <c:pt idx="289">
                    <c:v>17 Oct</c:v>
                  </c:pt>
                  <c:pt idx="290">
                    <c:v>18 Oct</c:v>
                  </c:pt>
                  <c:pt idx="291">
                    <c:v>19 Oct</c:v>
                  </c:pt>
                  <c:pt idx="292">
                    <c:v>20 Oct</c:v>
                  </c:pt>
                  <c:pt idx="293">
                    <c:v>21 Oct</c:v>
                  </c:pt>
                  <c:pt idx="294">
                    <c:v>22 Oct</c:v>
                  </c:pt>
                  <c:pt idx="295">
                    <c:v>23 Oct</c:v>
                  </c:pt>
                  <c:pt idx="296">
                    <c:v>24 Oct</c:v>
                  </c:pt>
                  <c:pt idx="297">
                    <c:v>25 Oct</c:v>
                  </c:pt>
                  <c:pt idx="298">
                    <c:v>26 Oct</c:v>
                  </c:pt>
                  <c:pt idx="299">
                    <c:v>27 Oct</c:v>
                  </c:pt>
                  <c:pt idx="300">
                    <c:v>28 Oct</c:v>
                  </c:pt>
                  <c:pt idx="301">
                    <c:v>29 Oct</c:v>
                  </c:pt>
                  <c:pt idx="302">
                    <c:v>30 Oct</c:v>
                  </c:pt>
                  <c:pt idx="303">
                    <c:v>31 Oct</c:v>
                  </c:pt>
                  <c:pt idx="304">
                    <c:v>01 Nov</c:v>
                  </c:pt>
                  <c:pt idx="305">
                    <c:v>02 Nov</c:v>
                  </c:pt>
                  <c:pt idx="306">
                    <c:v>03 Nov</c:v>
                  </c:pt>
                  <c:pt idx="307">
                    <c:v>04 Nov</c:v>
                  </c:pt>
                  <c:pt idx="308">
                    <c:v>05 Nov</c:v>
                  </c:pt>
                  <c:pt idx="309">
                    <c:v>06 Nov</c:v>
                  </c:pt>
                  <c:pt idx="310">
                    <c:v>07 Nov</c:v>
                  </c:pt>
                  <c:pt idx="311">
                    <c:v>08 Nov</c:v>
                  </c:pt>
                  <c:pt idx="312">
                    <c:v>09 Nov</c:v>
                  </c:pt>
                  <c:pt idx="313">
                    <c:v>10 Nov</c:v>
                  </c:pt>
                  <c:pt idx="314">
                    <c:v>11 Nov</c:v>
                  </c:pt>
                  <c:pt idx="315">
                    <c:v>12 Nov</c:v>
                  </c:pt>
                  <c:pt idx="316">
                    <c:v>13 Nov</c:v>
                  </c:pt>
                  <c:pt idx="317">
                    <c:v>14 Nov</c:v>
                  </c:pt>
                  <c:pt idx="318">
                    <c:v>15 Nov</c:v>
                  </c:pt>
                  <c:pt idx="319">
                    <c:v>16 Nov</c:v>
                  </c:pt>
                  <c:pt idx="320">
                    <c:v>17 Nov</c:v>
                  </c:pt>
                  <c:pt idx="321">
                    <c:v>18 Nov</c:v>
                  </c:pt>
                  <c:pt idx="322">
                    <c:v>19 Nov</c:v>
                  </c:pt>
                  <c:pt idx="323">
                    <c:v>20 Nov</c:v>
                  </c:pt>
                  <c:pt idx="324">
                    <c:v>21 Nov</c:v>
                  </c:pt>
                  <c:pt idx="325">
                    <c:v>22 Nov</c:v>
                  </c:pt>
                  <c:pt idx="326">
                    <c:v>23 Nov</c:v>
                  </c:pt>
                  <c:pt idx="327">
                    <c:v>24 Nov</c:v>
                  </c:pt>
                  <c:pt idx="328">
                    <c:v>25 Nov</c:v>
                  </c:pt>
                  <c:pt idx="329">
                    <c:v>26 Nov</c:v>
                  </c:pt>
                  <c:pt idx="330">
                    <c:v>27 Nov</c:v>
                  </c:pt>
                  <c:pt idx="331">
                    <c:v>28 Nov</c:v>
                  </c:pt>
                  <c:pt idx="332">
                    <c:v>29 Nov</c:v>
                  </c:pt>
                  <c:pt idx="333">
                    <c:v>30 Nov</c:v>
                  </c:pt>
                  <c:pt idx="334">
                    <c:v>01 Dec</c:v>
                  </c:pt>
                  <c:pt idx="335">
                    <c:v>02 Dec</c:v>
                  </c:pt>
                  <c:pt idx="336">
                    <c:v>03 Dec</c:v>
                  </c:pt>
                  <c:pt idx="337">
                    <c:v>04 Dec</c:v>
                  </c:pt>
                  <c:pt idx="338">
                    <c:v>05 Dec</c:v>
                  </c:pt>
                  <c:pt idx="339">
                    <c:v>06 Dec</c:v>
                  </c:pt>
                  <c:pt idx="340">
                    <c:v>07 Dec</c:v>
                  </c:pt>
                  <c:pt idx="341">
                    <c:v>08 Dec</c:v>
                  </c:pt>
                  <c:pt idx="342">
                    <c:v>09 Dec</c:v>
                  </c:pt>
                  <c:pt idx="343">
                    <c:v>10 Dec</c:v>
                  </c:pt>
                  <c:pt idx="344">
                    <c:v>11 Dec</c:v>
                  </c:pt>
                  <c:pt idx="345">
                    <c:v>12 Dec</c:v>
                  </c:pt>
                  <c:pt idx="346">
                    <c:v>13 Dec</c:v>
                  </c:pt>
                  <c:pt idx="347">
                    <c:v>14 Dec</c:v>
                  </c:pt>
                  <c:pt idx="348">
                    <c:v>15 Dec</c:v>
                  </c:pt>
                  <c:pt idx="349">
                    <c:v>16 Dec</c:v>
                  </c:pt>
                  <c:pt idx="350">
                    <c:v>17 Dec</c:v>
                  </c:pt>
                  <c:pt idx="351">
                    <c:v>18 Dec</c:v>
                  </c:pt>
                  <c:pt idx="352">
                    <c:v>19 Dec</c:v>
                  </c:pt>
                  <c:pt idx="353">
                    <c:v>20 Dec</c:v>
                  </c:pt>
                  <c:pt idx="354">
                    <c:v>21 Dec</c:v>
                  </c:pt>
                  <c:pt idx="355">
                    <c:v>22 Dec</c:v>
                  </c:pt>
                  <c:pt idx="356">
                    <c:v>23 Dec</c:v>
                  </c:pt>
                  <c:pt idx="357">
                    <c:v>24 Dec</c:v>
                  </c:pt>
                  <c:pt idx="358">
                    <c:v>25 Dec</c:v>
                  </c:pt>
                  <c:pt idx="359">
                    <c:v>26 Dec</c:v>
                  </c:pt>
                  <c:pt idx="360">
                    <c:v>27 Dec</c:v>
                  </c:pt>
                  <c:pt idx="361">
                    <c:v>28 Dec</c:v>
                  </c:pt>
                  <c:pt idx="362">
                    <c:v>29 Dec</c:v>
                  </c:pt>
                  <c:pt idx="363">
                    <c:v>30 Dec</c:v>
                  </c:pt>
                  <c:pt idx="364">
                    <c:v>31 Dec</c:v>
                  </c:pt>
                </c:lvl>
              </c:multiLvlStrCache>
            </c:multiLvlStrRef>
          </c:cat>
          <c:val>
            <c:numRef>
              <c:f>Sheet1!$B$2:$B$366</c:f>
              <c:numCache>
                <c:formatCode>General</c:formatCode>
                <c:ptCount val="365"/>
                <c:pt idx="0">
                  <c:v>7464</c:v>
                </c:pt>
                <c:pt idx="1">
                  <c:v>6686</c:v>
                </c:pt>
                <c:pt idx="2">
                  <c:v>6999</c:v>
                </c:pt>
                <c:pt idx="3">
                  <c:v>8150</c:v>
                </c:pt>
                <c:pt idx="4">
                  <c:v>7555</c:v>
                </c:pt>
                <c:pt idx="5">
                  <c:v>7501</c:v>
                </c:pt>
                <c:pt idx="6">
                  <c:v>7766</c:v>
                </c:pt>
                <c:pt idx="7">
                  <c:v>7363</c:v>
                </c:pt>
                <c:pt idx="8">
                  <c:v>7244</c:v>
                </c:pt>
                <c:pt idx="9">
                  <c:v>7362</c:v>
                </c:pt>
                <c:pt idx="10">
                  <c:v>8310</c:v>
                </c:pt>
                <c:pt idx="11">
                  <c:v>7507</c:v>
                </c:pt>
                <c:pt idx="12">
                  <c:v>6842</c:v>
                </c:pt>
                <c:pt idx="13">
                  <c:v>7028</c:v>
                </c:pt>
                <c:pt idx="14">
                  <c:v>7065</c:v>
                </c:pt>
                <c:pt idx="15">
                  <c:v>6883</c:v>
                </c:pt>
                <c:pt idx="16">
                  <c:v>7450</c:v>
                </c:pt>
                <c:pt idx="17">
                  <c:v>7652</c:v>
                </c:pt>
                <c:pt idx="18">
                  <c:v>6955</c:v>
                </c:pt>
                <c:pt idx="19">
                  <c:v>6102</c:v>
                </c:pt>
                <c:pt idx="20">
                  <c:v>6130</c:v>
                </c:pt>
                <c:pt idx="21">
                  <c:v>5976</c:v>
                </c:pt>
                <c:pt idx="22">
                  <c:v>6206</c:v>
                </c:pt>
                <c:pt idx="23">
                  <c:v>5946</c:v>
                </c:pt>
                <c:pt idx="24">
                  <c:v>5480</c:v>
                </c:pt>
                <c:pt idx="25">
                  <c:v>4576</c:v>
                </c:pt>
                <c:pt idx="26">
                  <c:v>3619</c:v>
                </c:pt>
                <c:pt idx="27">
                  <c:v>3331</c:v>
                </c:pt>
                <c:pt idx="28">
                  <c:v>5335</c:v>
                </c:pt>
                <c:pt idx="29">
                  <c:v>6264</c:v>
                </c:pt>
                <c:pt idx="30">
                  <c:v>7252</c:v>
                </c:pt>
                <c:pt idx="31">
                  <c:v>7756</c:v>
                </c:pt>
                <c:pt idx="32">
                  <c:v>7727</c:v>
                </c:pt>
                <c:pt idx="33">
                  <c:v>7545</c:v>
                </c:pt>
                <c:pt idx="34">
                  <c:v>7642</c:v>
                </c:pt>
                <c:pt idx="35">
                  <c:v>7150</c:v>
                </c:pt>
                <c:pt idx="36">
                  <c:v>6869</c:v>
                </c:pt>
                <c:pt idx="37">
                  <c:v>7305</c:v>
                </c:pt>
                <c:pt idx="38">
                  <c:v>7294</c:v>
                </c:pt>
                <c:pt idx="39">
                  <c:v>6525</c:v>
                </c:pt>
                <c:pt idx="40">
                  <c:v>6163</c:v>
                </c:pt>
                <c:pt idx="41">
                  <c:v>6140</c:v>
                </c:pt>
                <c:pt idx="42">
                  <c:v>5747</c:v>
                </c:pt>
                <c:pt idx="43">
                  <c:v>5995</c:v>
                </c:pt>
                <c:pt idx="44">
                  <c:v>6622</c:v>
                </c:pt>
                <c:pt idx="45">
                  <c:v>7363</c:v>
                </c:pt>
                <c:pt idx="46">
                  <c:v>7109</c:v>
                </c:pt>
                <c:pt idx="47">
                  <c:v>6926</c:v>
                </c:pt>
                <c:pt idx="48">
                  <c:v>6924</c:v>
                </c:pt>
                <c:pt idx="49">
                  <c:v>7607</c:v>
                </c:pt>
                <c:pt idx="50">
                  <c:v>7133</c:v>
                </c:pt>
                <c:pt idx="51">
                  <c:v>7662</c:v>
                </c:pt>
                <c:pt idx="52">
                  <c:v>8234</c:v>
                </c:pt>
                <c:pt idx="53">
                  <c:v>7736</c:v>
                </c:pt>
                <c:pt idx="54">
                  <c:v>6807</c:v>
                </c:pt>
                <c:pt idx="55">
                  <c:v>6847</c:v>
                </c:pt>
                <c:pt idx="56">
                  <c:v>7477</c:v>
                </c:pt>
                <c:pt idx="57">
                  <c:v>7481</c:v>
                </c:pt>
                <c:pt idx="58">
                  <c:v>7283</c:v>
                </c:pt>
                <c:pt idx="59">
                  <c:v>7870</c:v>
                </c:pt>
                <c:pt idx="60">
                  <c:v>7022</c:v>
                </c:pt>
                <c:pt idx="61">
                  <c:v>7295</c:v>
                </c:pt>
                <c:pt idx="62">
                  <c:v>7199</c:v>
                </c:pt>
                <c:pt idx="63">
                  <c:v>7107</c:v>
                </c:pt>
                <c:pt idx="64">
                  <c:v>6898</c:v>
                </c:pt>
                <c:pt idx="65">
                  <c:v>7746</c:v>
                </c:pt>
                <c:pt idx="66">
                  <c:v>7849</c:v>
                </c:pt>
                <c:pt idx="67">
                  <c:v>7348</c:v>
                </c:pt>
                <c:pt idx="68">
                  <c:v>7111</c:v>
                </c:pt>
                <c:pt idx="69">
                  <c:v>7133</c:v>
                </c:pt>
                <c:pt idx="70">
                  <c:v>7565</c:v>
                </c:pt>
                <c:pt idx="71">
                  <c:v>7111</c:v>
                </c:pt>
                <c:pt idx="72">
                  <c:v>6638</c:v>
                </c:pt>
                <c:pt idx="73">
                  <c:v>7262</c:v>
                </c:pt>
                <c:pt idx="74">
                  <c:v>7107</c:v>
                </c:pt>
                <c:pt idx="75">
                  <c:v>6507</c:v>
                </c:pt>
                <c:pt idx="76">
                  <c:v>7211</c:v>
                </c:pt>
                <c:pt idx="77">
                  <c:v>7791</c:v>
                </c:pt>
                <c:pt idx="78">
                  <c:v>7607</c:v>
                </c:pt>
                <c:pt idx="79">
                  <c:v>7612</c:v>
                </c:pt>
                <c:pt idx="80">
                  <c:v>7978</c:v>
                </c:pt>
                <c:pt idx="81">
                  <c:v>6837</c:v>
                </c:pt>
                <c:pt idx="82">
                  <c:v>6832</c:v>
                </c:pt>
                <c:pt idx="83">
                  <c:v>7046</c:v>
                </c:pt>
                <c:pt idx="84">
                  <c:v>7312</c:v>
                </c:pt>
                <c:pt idx="85">
                  <c:v>6936</c:v>
                </c:pt>
                <c:pt idx="86">
                  <c:v>7674</c:v>
                </c:pt>
                <c:pt idx="87">
                  <c:v>7756</c:v>
                </c:pt>
                <c:pt idx="88">
                  <c:v>6660</c:v>
                </c:pt>
                <c:pt idx="89">
                  <c:v>5971</c:v>
                </c:pt>
                <c:pt idx="90">
                  <c:v>6047</c:v>
                </c:pt>
                <c:pt idx="91">
                  <c:v>6218</c:v>
                </c:pt>
                <c:pt idx="92">
                  <c:v>6169</c:v>
                </c:pt>
                <c:pt idx="93">
                  <c:v>6909</c:v>
                </c:pt>
                <c:pt idx="94">
                  <c:v>7175</c:v>
                </c:pt>
                <c:pt idx="95">
                  <c:v>5644</c:v>
                </c:pt>
                <c:pt idx="96">
                  <c:v>5625</c:v>
                </c:pt>
                <c:pt idx="97">
                  <c:v>6425</c:v>
                </c:pt>
                <c:pt idx="98">
                  <c:v>6391</c:v>
                </c:pt>
                <c:pt idx="99">
                  <c:v>6538</c:v>
                </c:pt>
                <c:pt idx="100">
                  <c:v>7218</c:v>
                </c:pt>
                <c:pt idx="101">
                  <c:v>7765</c:v>
                </c:pt>
                <c:pt idx="102">
                  <c:v>7177</c:v>
                </c:pt>
                <c:pt idx="103">
                  <c:v>6528</c:v>
                </c:pt>
                <c:pt idx="104">
                  <c:v>6804</c:v>
                </c:pt>
                <c:pt idx="105">
                  <c:v>7242</c:v>
                </c:pt>
                <c:pt idx="106">
                  <c:v>6806</c:v>
                </c:pt>
                <c:pt idx="107">
                  <c:v>7631</c:v>
                </c:pt>
                <c:pt idx="108">
                  <c:v>8675</c:v>
                </c:pt>
                <c:pt idx="109">
                  <c:v>7872</c:v>
                </c:pt>
                <c:pt idx="110">
                  <c:v>6681</c:v>
                </c:pt>
                <c:pt idx="111">
                  <c:v>6165</c:v>
                </c:pt>
                <c:pt idx="112">
                  <c:v>6246</c:v>
                </c:pt>
                <c:pt idx="113">
                  <c:v>6607</c:v>
                </c:pt>
                <c:pt idx="114">
                  <c:v>7243</c:v>
                </c:pt>
                <c:pt idx="115">
                  <c:v>7590</c:v>
                </c:pt>
                <c:pt idx="116">
                  <c:v>7028</c:v>
                </c:pt>
                <c:pt idx="117">
                  <c:v>6282</c:v>
                </c:pt>
                <c:pt idx="118">
                  <c:v>5969</c:v>
                </c:pt>
                <c:pt idx="119">
                  <c:v>6614</c:v>
                </c:pt>
                <c:pt idx="120">
                  <c:v>8349</c:v>
                </c:pt>
                <c:pt idx="121">
                  <c:v>8293</c:v>
                </c:pt>
                <c:pt idx="122">
                  <c:v>8042</c:v>
                </c:pt>
                <c:pt idx="123">
                  <c:v>7302</c:v>
                </c:pt>
                <c:pt idx="124">
                  <c:v>6521</c:v>
                </c:pt>
                <c:pt idx="125">
                  <c:v>5434</c:v>
                </c:pt>
                <c:pt idx="126">
                  <c:v>5558</c:v>
                </c:pt>
                <c:pt idx="127">
                  <c:v>5714</c:v>
                </c:pt>
                <c:pt idx="128">
                  <c:v>6367</c:v>
                </c:pt>
                <c:pt idx="129">
                  <c:v>7017</c:v>
                </c:pt>
                <c:pt idx="130">
                  <c:v>6694</c:v>
                </c:pt>
                <c:pt idx="131">
                  <c:v>6179</c:v>
                </c:pt>
                <c:pt idx="132">
                  <c:v>6607</c:v>
                </c:pt>
                <c:pt idx="133">
                  <c:v>6881</c:v>
                </c:pt>
                <c:pt idx="134">
                  <c:v>6513</c:v>
                </c:pt>
                <c:pt idx="135">
                  <c:v>7172</c:v>
                </c:pt>
                <c:pt idx="136">
                  <c:v>7825</c:v>
                </c:pt>
                <c:pt idx="137">
                  <c:v>7222</c:v>
                </c:pt>
                <c:pt idx="138">
                  <c:v>6469</c:v>
                </c:pt>
                <c:pt idx="139">
                  <c:v>6681</c:v>
                </c:pt>
                <c:pt idx="140">
                  <c:v>6789</c:v>
                </c:pt>
                <c:pt idx="141">
                  <c:v>6774</c:v>
                </c:pt>
                <c:pt idx="142">
                  <c:v>7253</c:v>
                </c:pt>
                <c:pt idx="143">
                  <c:v>7557</c:v>
                </c:pt>
                <c:pt idx="144">
                  <c:v>7089</c:v>
                </c:pt>
                <c:pt idx="145">
                  <c:v>6557</c:v>
                </c:pt>
                <c:pt idx="146">
                  <c:v>6787</c:v>
                </c:pt>
                <c:pt idx="147">
                  <c:v>6669</c:v>
                </c:pt>
                <c:pt idx="148">
                  <c:v>6215</c:v>
                </c:pt>
                <c:pt idx="149">
                  <c:v>6602</c:v>
                </c:pt>
                <c:pt idx="150">
                  <c:v>7579</c:v>
                </c:pt>
                <c:pt idx="151">
                  <c:v>7311</c:v>
                </c:pt>
                <c:pt idx="152">
                  <c:v>6179</c:v>
                </c:pt>
                <c:pt idx="153">
                  <c:v>5962</c:v>
                </c:pt>
                <c:pt idx="154">
                  <c:v>6239</c:v>
                </c:pt>
                <c:pt idx="155">
                  <c:v>6454</c:v>
                </c:pt>
                <c:pt idx="156">
                  <c:v>6630</c:v>
                </c:pt>
                <c:pt idx="157">
                  <c:v>7547</c:v>
                </c:pt>
                <c:pt idx="158">
                  <c:v>7052</c:v>
                </c:pt>
                <c:pt idx="159">
                  <c:v>6508</c:v>
                </c:pt>
                <c:pt idx="160">
                  <c:v>6443</c:v>
                </c:pt>
                <c:pt idx="161">
                  <c:v>6588</c:v>
                </c:pt>
                <c:pt idx="162">
                  <c:v>6807</c:v>
                </c:pt>
                <c:pt idx="163">
                  <c:v>7028</c:v>
                </c:pt>
                <c:pt idx="164">
                  <c:v>7499</c:v>
                </c:pt>
                <c:pt idx="165">
                  <c:v>6851</c:v>
                </c:pt>
                <c:pt idx="166">
                  <c:v>6444</c:v>
                </c:pt>
                <c:pt idx="167">
                  <c:v>6698</c:v>
                </c:pt>
                <c:pt idx="168">
                  <c:v>6946</c:v>
                </c:pt>
                <c:pt idx="169">
                  <c:v>6497</c:v>
                </c:pt>
                <c:pt idx="170">
                  <c:v>6630</c:v>
                </c:pt>
                <c:pt idx="171">
                  <c:v>7400</c:v>
                </c:pt>
                <c:pt idx="172">
                  <c:v>7287</c:v>
                </c:pt>
                <c:pt idx="173">
                  <c:v>6410</c:v>
                </c:pt>
                <c:pt idx="174">
                  <c:v>6436</c:v>
                </c:pt>
                <c:pt idx="175">
                  <c:v>6509</c:v>
                </c:pt>
                <c:pt idx="176">
                  <c:v>6667</c:v>
                </c:pt>
                <c:pt idx="177">
                  <c:v>7119</c:v>
                </c:pt>
                <c:pt idx="178">
                  <c:v>7862</c:v>
                </c:pt>
                <c:pt idx="179">
                  <c:v>7202</c:v>
                </c:pt>
                <c:pt idx="180">
                  <c:v>6761</c:v>
                </c:pt>
                <c:pt idx="181">
                  <c:v>6493</c:v>
                </c:pt>
                <c:pt idx="182">
                  <c:v>6673</c:v>
                </c:pt>
                <c:pt idx="183">
                  <c:v>6522</c:v>
                </c:pt>
                <c:pt idx="184">
                  <c:v>6802</c:v>
                </c:pt>
                <c:pt idx="185">
                  <c:v>7452</c:v>
                </c:pt>
                <c:pt idx="186">
                  <c:v>7041</c:v>
                </c:pt>
                <c:pt idx="187">
                  <c:v>6516</c:v>
                </c:pt>
                <c:pt idx="188">
                  <c:v>6536</c:v>
                </c:pt>
                <c:pt idx="189">
                  <c:v>6707</c:v>
                </c:pt>
                <c:pt idx="190">
                  <c:v>6697</c:v>
                </c:pt>
                <c:pt idx="191">
                  <c:v>7179</c:v>
                </c:pt>
                <c:pt idx="192">
                  <c:v>7632</c:v>
                </c:pt>
                <c:pt idx="193">
                  <c:v>7413</c:v>
                </c:pt>
                <c:pt idx="194">
                  <c:v>7003</c:v>
                </c:pt>
                <c:pt idx="195">
                  <c:v>6638</c:v>
                </c:pt>
                <c:pt idx="196">
                  <c:v>6986</c:v>
                </c:pt>
                <c:pt idx="197">
                  <c:v>7021</c:v>
                </c:pt>
                <c:pt idx="198">
                  <c:v>7688</c:v>
                </c:pt>
                <c:pt idx="199">
                  <c:v>7706</c:v>
                </c:pt>
                <c:pt idx="200">
                  <c:v>5777</c:v>
                </c:pt>
                <c:pt idx="201">
                  <c:v>6705</c:v>
                </c:pt>
                <c:pt idx="202">
                  <c:v>6848</c:v>
                </c:pt>
                <c:pt idx="203">
                  <c:v>7041</c:v>
                </c:pt>
                <c:pt idx="204">
                  <c:v>6968</c:v>
                </c:pt>
                <c:pt idx="205">
                  <c:v>7392</c:v>
                </c:pt>
                <c:pt idx="206">
                  <c:v>8423</c:v>
                </c:pt>
                <c:pt idx="207">
                  <c:v>8012</c:v>
                </c:pt>
                <c:pt idx="208">
                  <c:v>7079</c:v>
                </c:pt>
                <c:pt idx="209">
                  <c:v>7034</c:v>
                </c:pt>
                <c:pt idx="210">
                  <c:v>6818</c:v>
                </c:pt>
                <c:pt idx="211">
                  <c:v>6907</c:v>
                </c:pt>
                <c:pt idx="212">
                  <c:v>7296</c:v>
                </c:pt>
                <c:pt idx="213">
                  <c:v>8031</c:v>
                </c:pt>
                <c:pt idx="214">
                  <c:v>7391</c:v>
                </c:pt>
                <c:pt idx="215">
                  <c:v>6778</c:v>
                </c:pt>
                <c:pt idx="216">
                  <c:v>6484</c:v>
                </c:pt>
                <c:pt idx="217">
                  <c:v>6975</c:v>
                </c:pt>
                <c:pt idx="218">
                  <c:v>7287</c:v>
                </c:pt>
                <c:pt idx="219">
                  <c:v>7482</c:v>
                </c:pt>
                <c:pt idx="220">
                  <c:v>8151</c:v>
                </c:pt>
                <c:pt idx="221">
                  <c:v>7803</c:v>
                </c:pt>
                <c:pt idx="222">
                  <c:v>7130</c:v>
                </c:pt>
                <c:pt idx="223">
                  <c:v>7381</c:v>
                </c:pt>
                <c:pt idx="224">
                  <c:v>7410</c:v>
                </c:pt>
                <c:pt idx="225">
                  <c:v>7249</c:v>
                </c:pt>
                <c:pt idx="226">
                  <c:v>7678</c:v>
                </c:pt>
                <c:pt idx="227">
                  <c:v>8141</c:v>
                </c:pt>
                <c:pt idx="228">
                  <c:v>7464</c:v>
                </c:pt>
                <c:pt idx="229">
                  <c:v>6647</c:v>
                </c:pt>
                <c:pt idx="230">
                  <c:v>6685</c:v>
                </c:pt>
                <c:pt idx="231">
                  <c:v>7170</c:v>
                </c:pt>
                <c:pt idx="232">
                  <c:v>7049</c:v>
                </c:pt>
                <c:pt idx="233">
                  <c:v>7273</c:v>
                </c:pt>
                <c:pt idx="234">
                  <c:v>7919</c:v>
                </c:pt>
                <c:pt idx="235">
                  <c:v>7245</c:v>
                </c:pt>
                <c:pt idx="236">
                  <c:v>6606</c:v>
                </c:pt>
                <c:pt idx="237">
                  <c:v>6928</c:v>
                </c:pt>
                <c:pt idx="238">
                  <c:v>7040</c:v>
                </c:pt>
                <c:pt idx="239">
                  <c:v>6880</c:v>
                </c:pt>
                <c:pt idx="240">
                  <c:v>7041</c:v>
                </c:pt>
                <c:pt idx="241">
                  <c:v>7428</c:v>
                </c:pt>
                <c:pt idx="242">
                  <c:v>6751</c:v>
                </c:pt>
                <c:pt idx="243">
                  <c:v>6235</c:v>
                </c:pt>
                <c:pt idx="244">
                  <c:v>6438</c:v>
                </c:pt>
                <c:pt idx="245">
                  <c:v>6099</c:v>
                </c:pt>
                <c:pt idx="246">
                  <c:v>6381</c:v>
                </c:pt>
                <c:pt idx="247">
                  <c:v>6805</c:v>
                </c:pt>
                <c:pt idx="248">
                  <c:v>6992</c:v>
                </c:pt>
                <c:pt idx="249">
                  <c:v>6196</c:v>
                </c:pt>
                <c:pt idx="250">
                  <c:v>5837</c:v>
                </c:pt>
                <c:pt idx="251">
                  <c:v>6930</c:v>
                </c:pt>
                <c:pt idx="252">
                  <c:v>7497</c:v>
                </c:pt>
                <c:pt idx="253">
                  <c:v>6968</c:v>
                </c:pt>
                <c:pt idx="254">
                  <c:v>7327</c:v>
                </c:pt>
                <c:pt idx="255">
                  <c:v>7658</c:v>
                </c:pt>
                <c:pt idx="256">
                  <c:v>6503</c:v>
                </c:pt>
                <c:pt idx="257">
                  <c:v>6667</c:v>
                </c:pt>
                <c:pt idx="258">
                  <c:v>6834</c:v>
                </c:pt>
                <c:pt idx="259">
                  <c:v>7028</c:v>
                </c:pt>
                <c:pt idx="260">
                  <c:v>7349</c:v>
                </c:pt>
                <c:pt idx="261">
                  <c:v>7520</c:v>
                </c:pt>
                <c:pt idx="262">
                  <c:v>8087</c:v>
                </c:pt>
                <c:pt idx="263">
                  <c:v>7094</c:v>
                </c:pt>
                <c:pt idx="264">
                  <c:v>6292</c:v>
                </c:pt>
                <c:pt idx="265">
                  <c:v>1295</c:v>
                </c:pt>
                <c:pt idx="266">
                  <c:v>879</c:v>
                </c:pt>
                <c:pt idx="267">
                  <c:v>6184</c:v>
                </c:pt>
                <c:pt idx="268">
                  <c:v>6833</c:v>
                </c:pt>
                <c:pt idx="269">
                  <c:v>7721</c:v>
                </c:pt>
                <c:pt idx="270">
                  <c:v>6911</c:v>
                </c:pt>
                <c:pt idx="271">
                  <c:v>6653</c:v>
                </c:pt>
                <c:pt idx="272">
                  <c:v>7176</c:v>
                </c:pt>
                <c:pt idx="273">
                  <c:v>8165</c:v>
                </c:pt>
                <c:pt idx="274">
                  <c:v>8537</c:v>
                </c:pt>
                <c:pt idx="275">
                  <c:v>8428</c:v>
                </c:pt>
                <c:pt idx="276">
                  <c:v>7964</c:v>
                </c:pt>
                <c:pt idx="277">
                  <c:v>7425</c:v>
                </c:pt>
                <c:pt idx="278">
                  <c:v>6625</c:v>
                </c:pt>
                <c:pt idx="279">
                  <c:v>6786</c:v>
                </c:pt>
                <c:pt idx="280">
                  <c:v>6012</c:v>
                </c:pt>
                <c:pt idx="281">
                  <c:v>6156</c:v>
                </c:pt>
                <c:pt idx="282">
                  <c:v>6655</c:v>
                </c:pt>
                <c:pt idx="283">
                  <c:v>7427</c:v>
                </c:pt>
                <c:pt idx="284">
                  <c:v>7363</c:v>
                </c:pt>
                <c:pt idx="285">
                  <c:v>7299</c:v>
                </c:pt>
                <c:pt idx="286">
                  <c:v>7279</c:v>
                </c:pt>
                <c:pt idx="287">
                  <c:v>7258</c:v>
                </c:pt>
                <c:pt idx="288">
                  <c:v>7640</c:v>
                </c:pt>
                <c:pt idx="289">
                  <c:v>7867</c:v>
                </c:pt>
                <c:pt idx="290">
                  <c:v>8454</c:v>
                </c:pt>
                <c:pt idx="291">
                  <c:v>7329</c:v>
                </c:pt>
                <c:pt idx="292">
                  <c:v>6662</c:v>
                </c:pt>
                <c:pt idx="293">
                  <c:v>7106</c:v>
                </c:pt>
                <c:pt idx="294">
                  <c:v>7095</c:v>
                </c:pt>
                <c:pt idx="295">
                  <c:v>6697</c:v>
                </c:pt>
                <c:pt idx="296">
                  <c:v>7163</c:v>
                </c:pt>
                <c:pt idx="297">
                  <c:v>7740</c:v>
                </c:pt>
                <c:pt idx="298">
                  <c:v>7128</c:v>
                </c:pt>
                <c:pt idx="299">
                  <c:v>6818</c:v>
                </c:pt>
                <c:pt idx="300">
                  <c:v>7071</c:v>
                </c:pt>
                <c:pt idx="301">
                  <c:v>6900</c:v>
                </c:pt>
                <c:pt idx="302">
                  <c:v>7076</c:v>
                </c:pt>
                <c:pt idx="303">
                  <c:v>7184</c:v>
                </c:pt>
                <c:pt idx="304">
                  <c:v>7676</c:v>
                </c:pt>
                <c:pt idx="305">
                  <c:v>6696</c:v>
                </c:pt>
                <c:pt idx="306">
                  <c:v>6228</c:v>
                </c:pt>
                <c:pt idx="307">
                  <c:v>6604</c:v>
                </c:pt>
                <c:pt idx="308">
                  <c:v>6712</c:v>
                </c:pt>
                <c:pt idx="309">
                  <c:v>6794</c:v>
                </c:pt>
                <c:pt idx="310">
                  <c:v>7061</c:v>
                </c:pt>
                <c:pt idx="311">
                  <c:v>7605</c:v>
                </c:pt>
                <c:pt idx="312">
                  <c:v>7098</c:v>
                </c:pt>
                <c:pt idx="313">
                  <c:v>6327</c:v>
                </c:pt>
                <c:pt idx="314">
                  <c:v>6542</c:v>
                </c:pt>
                <c:pt idx="315">
                  <c:v>6917</c:v>
                </c:pt>
                <c:pt idx="316">
                  <c:v>6881</c:v>
                </c:pt>
                <c:pt idx="317">
                  <c:v>6987</c:v>
                </c:pt>
                <c:pt idx="318">
                  <c:v>7561</c:v>
                </c:pt>
                <c:pt idx="319">
                  <c:v>7269</c:v>
                </c:pt>
                <c:pt idx="320">
                  <c:v>6707</c:v>
                </c:pt>
                <c:pt idx="321">
                  <c:v>7043</c:v>
                </c:pt>
                <c:pt idx="322">
                  <c:v>7422</c:v>
                </c:pt>
                <c:pt idx="323">
                  <c:v>6973</c:v>
                </c:pt>
                <c:pt idx="324">
                  <c:v>7296</c:v>
                </c:pt>
                <c:pt idx="325">
                  <c:v>8102</c:v>
                </c:pt>
                <c:pt idx="326">
                  <c:v>7434</c:v>
                </c:pt>
                <c:pt idx="327">
                  <c:v>6539</c:v>
                </c:pt>
                <c:pt idx="328">
                  <c:v>6577</c:v>
                </c:pt>
                <c:pt idx="329">
                  <c:v>6675</c:v>
                </c:pt>
                <c:pt idx="330">
                  <c:v>7067</c:v>
                </c:pt>
                <c:pt idx="331">
                  <c:v>6911</c:v>
                </c:pt>
                <c:pt idx="332">
                  <c:v>7115</c:v>
                </c:pt>
                <c:pt idx="333">
                  <c:v>6783</c:v>
                </c:pt>
                <c:pt idx="334">
                  <c:v>6588</c:v>
                </c:pt>
                <c:pt idx="335">
                  <c:v>6941</c:v>
                </c:pt>
                <c:pt idx="336">
                  <c:v>6929</c:v>
                </c:pt>
                <c:pt idx="337">
                  <c:v>6780</c:v>
                </c:pt>
                <c:pt idx="338">
                  <c:v>7334</c:v>
                </c:pt>
                <c:pt idx="339">
                  <c:v>7769</c:v>
                </c:pt>
                <c:pt idx="340">
                  <c:v>7446</c:v>
                </c:pt>
                <c:pt idx="341">
                  <c:v>6872</c:v>
                </c:pt>
                <c:pt idx="342">
                  <c:v>6976</c:v>
                </c:pt>
                <c:pt idx="343">
                  <c:v>7355</c:v>
                </c:pt>
                <c:pt idx="344">
                  <c:v>7217</c:v>
                </c:pt>
                <c:pt idx="345">
                  <c:v>7575</c:v>
                </c:pt>
                <c:pt idx="346">
                  <c:v>7851</c:v>
                </c:pt>
                <c:pt idx="347">
                  <c:v>7355</c:v>
                </c:pt>
                <c:pt idx="348">
                  <c:v>6645</c:v>
                </c:pt>
                <c:pt idx="349">
                  <c:v>6883</c:v>
                </c:pt>
                <c:pt idx="350">
                  <c:v>7241</c:v>
                </c:pt>
                <c:pt idx="351">
                  <c:v>7367</c:v>
                </c:pt>
                <c:pt idx="352">
                  <c:v>7404</c:v>
                </c:pt>
                <c:pt idx="353">
                  <c:v>7812</c:v>
                </c:pt>
                <c:pt idx="354">
                  <c:v>7315</c:v>
                </c:pt>
                <c:pt idx="355">
                  <c:v>7093</c:v>
                </c:pt>
                <c:pt idx="356">
                  <c:v>7555</c:v>
                </c:pt>
                <c:pt idx="357">
                  <c:v>7797</c:v>
                </c:pt>
                <c:pt idx="358">
                  <c:v>7698</c:v>
                </c:pt>
                <c:pt idx="359">
                  <c:v>7525</c:v>
                </c:pt>
                <c:pt idx="360">
                  <c:v>7422</c:v>
                </c:pt>
                <c:pt idx="361">
                  <c:v>6980</c:v>
                </c:pt>
                <c:pt idx="362">
                  <c:v>6611</c:v>
                </c:pt>
                <c:pt idx="363">
                  <c:v>6646</c:v>
                </c:pt>
                <c:pt idx="364">
                  <c:v>7274</c:v>
                </c:pt>
              </c:numCache>
            </c:numRef>
          </c:val>
          <c:smooth val="1"/>
        </c:ser>
        <c:ser>
          <c:idx val="1"/>
          <c:order val="1"/>
          <c:tx>
            <c:strRef>
              <c:f>Sheet1!$C$1</c:f>
              <c:strCache>
                <c:ptCount val="1"/>
                <c:pt idx="0">
                  <c:v>forecast</c:v>
                </c:pt>
              </c:strCache>
            </c:strRef>
          </c:tx>
          <c:spPr>
            <a:solidFill>
              <a:srgbClr val="2E8BA8"/>
            </a:solidFill>
            <a:ln w="25400" cap="flat">
              <a:solidFill>
                <a:srgbClr val="2E8B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8BA8"/>
              </a:solidFill>
              <a:ln w="9525" cap="flat">
                <a:solidFill>
                  <a:srgbClr val="2E8BA8"/>
                </a:solidFill>
                <a:prstDash val="solid"/>
                <a:round/>
              </a:ln>
              <a:effectLst/>
            </c:spPr>
          </c:marker>
          <c:cat>
            <c:multiLvlStrRef>
              <c:f>Sheet1!$A$2:$A$366</c:f>
              <c:multiLvlStrCache>
                <c:ptCount val="365"/>
                <c:lvl>
                  <c:pt idx="0">
                    <c:v>01 Jan</c:v>
                  </c:pt>
                  <c:pt idx="1">
                    <c:v>02 Jan</c:v>
                  </c:pt>
                  <c:pt idx="2">
                    <c:v>03 Jan</c:v>
                  </c:pt>
                  <c:pt idx="3">
                    <c:v>04 Jan</c:v>
                  </c:pt>
                  <c:pt idx="4">
                    <c:v>05 Jan</c:v>
                  </c:pt>
                  <c:pt idx="5">
                    <c:v>06 Jan</c:v>
                  </c:pt>
                  <c:pt idx="6">
                    <c:v>07 Jan</c:v>
                  </c:pt>
                  <c:pt idx="7">
                    <c:v>08 Jan</c:v>
                  </c:pt>
                  <c:pt idx="8">
                    <c:v>09 Jan</c:v>
                  </c:pt>
                  <c:pt idx="9">
                    <c:v>10 Jan</c:v>
                  </c:pt>
                  <c:pt idx="10">
                    <c:v>11 Jan</c:v>
                  </c:pt>
                  <c:pt idx="11">
                    <c:v>12 Jan</c:v>
                  </c:pt>
                  <c:pt idx="12">
                    <c:v>13 Jan</c:v>
                  </c:pt>
                  <c:pt idx="13">
                    <c:v>14 Jan</c:v>
                  </c:pt>
                  <c:pt idx="14">
                    <c:v>15 Jan</c:v>
                  </c:pt>
                  <c:pt idx="15">
                    <c:v>16 Jan</c:v>
                  </c:pt>
                  <c:pt idx="16">
                    <c:v>17 Jan</c:v>
                  </c:pt>
                  <c:pt idx="17">
                    <c:v>18 Jan</c:v>
                  </c:pt>
                  <c:pt idx="18">
                    <c:v>19 Jan</c:v>
                  </c:pt>
                  <c:pt idx="19">
                    <c:v>20 Jan</c:v>
                  </c:pt>
                  <c:pt idx="20">
                    <c:v>21 Jan</c:v>
                  </c:pt>
                  <c:pt idx="21">
                    <c:v>22 Jan</c:v>
                  </c:pt>
                  <c:pt idx="22">
                    <c:v>23 Jan</c:v>
                  </c:pt>
                  <c:pt idx="23">
                    <c:v>24 Jan</c:v>
                  </c:pt>
                  <c:pt idx="24">
                    <c:v>25 Jan</c:v>
                  </c:pt>
                  <c:pt idx="25">
                    <c:v>26 Jan</c:v>
                  </c:pt>
                  <c:pt idx="26">
                    <c:v>27 Jan</c:v>
                  </c:pt>
                  <c:pt idx="27">
                    <c:v>28 Jan</c:v>
                  </c:pt>
                  <c:pt idx="28">
                    <c:v>29 Jan</c:v>
                  </c:pt>
                  <c:pt idx="29">
                    <c:v>30 Jan</c:v>
                  </c:pt>
                  <c:pt idx="30">
                    <c:v>31 Jan</c:v>
                  </c:pt>
                  <c:pt idx="31">
                    <c:v>01 Feb</c:v>
                  </c:pt>
                  <c:pt idx="32">
                    <c:v>02 Feb</c:v>
                  </c:pt>
                  <c:pt idx="33">
                    <c:v>03 Feb</c:v>
                  </c:pt>
                  <c:pt idx="34">
                    <c:v>04 Feb</c:v>
                  </c:pt>
                  <c:pt idx="35">
                    <c:v>05 Feb</c:v>
                  </c:pt>
                  <c:pt idx="36">
                    <c:v>06 Feb</c:v>
                  </c:pt>
                  <c:pt idx="37">
                    <c:v>07 Feb</c:v>
                  </c:pt>
                  <c:pt idx="38">
                    <c:v>08 Feb</c:v>
                  </c:pt>
                  <c:pt idx="39">
                    <c:v>09 Feb</c:v>
                  </c:pt>
                  <c:pt idx="40">
                    <c:v>10 Feb</c:v>
                  </c:pt>
                  <c:pt idx="41">
                    <c:v>11 Feb</c:v>
                  </c:pt>
                  <c:pt idx="42">
                    <c:v>12 Feb</c:v>
                  </c:pt>
                  <c:pt idx="43">
                    <c:v>13 Feb</c:v>
                  </c:pt>
                  <c:pt idx="44">
                    <c:v>14 Feb</c:v>
                  </c:pt>
                  <c:pt idx="45">
                    <c:v>15 Feb</c:v>
                  </c:pt>
                  <c:pt idx="46">
                    <c:v>16 Feb</c:v>
                  </c:pt>
                  <c:pt idx="47">
                    <c:v>17 Feb</c:v>
                  </c:pt>
                  <c:pt idx="48">
                    <c:v>18 Feb</c:v>
                  </c:pt>
                  <c:pt idx="49">
                    <c:v>19 Feb</c:v>
                  </c:pt>
                  <c:pt idx="50">
                    <c:v>20 Feb</c:v>
                  </c:pt>
                  <c:pt idx="51">
                    <c:v>21 Feb</c:v>
                  </c:pt>
                  <c:pt idx="52">
                    <c:v>22 Feb</c:v>
                  </c:pt>
                  <c:pt idx="53">
                    <c:v>23 Feb</c:v>
                  </c:pt>
                  <c:pt idx="54">
                    <c:v>24 Feb</c:v>
                  </c:pt>
                  <c:pt idx="55">
                    <c:v>25 Feb</c:v>
                  </c:pt>
                  <c:pt idx="56">
                    <c:v>26 Feb</c:v>
                  </c:pt>
                  <c:pt idx="57">
                    <c:v>27 Feb</c:v>
                  </c:pt>
                  <c:pt idx="58">
                    <c:v>28 Feb</c:v>
                  </c:pt>
                  <c:pt idx="59">
                    <c:v>01 Mar</c:v>
                  </c:pt>
                  <c:pt idx="60">
                    <c:v>02 Mar</c:v>
                  </c:pt>
                  <c:pt idx="61">
                    <c:v>03 Mar</c:v>
                  </c:pt>
                  <c:pt idx="62">
                    <c:v>04 Mar</c:v>
                  </c:pt>
                  <c:pt idx="63">
                    <c:v>05 Mar</c:v>
                  </c:pt>
                  <c:pt idx="64">
                    <c:v>06 Mar</c:v>
                  </c:pt>
                  <c:pt idx="65">
                    <c:v>07 Mar</c:v>
                  </c:pt>
                  <c:pt idx="66">
                    <c:v>08 Mar</c:v>
                  </c:pt>
                  <c:pt idx="67">
                    <c:v>09 Mar</c:v>
                  </c:pt>
                  <c:pt idx="68">
                    <c:v>10 Mar</c:v>
                  </c:pt>
                  <c:pt idx="69">
                    <c:v>11 Mar</c:v>
                  </c:pt>
                  <c:pt idx="70">
                    <c:v>12 Mar</c:v>
                  </c:pt>
                  <c:pt idx="71">
                    <c:v>13 Mar</c:v>
                  </c:pt>
                  <c:pt idx="72">
                    <c:v>14 Mar</c:v>
                  </c:pt>
                  <c:pt idx="73">
                    <c:v>15 Mar</c:v>
                  </c:pt>
                  <c:pt idx="74">
                    <c:v>16 Mar</c:v>
                  </c:pt>
                  <c:pt idx="75">
                    <c:v>17 Mar</c:v>
                  </c:pt>
                  <c:pt idx="76">
                    <c:v>18 Mar</c:v>
                  </c:pt>
                  <c:pt idx="77">
                    <c:v>19 Mar</c:v>
                  </c:pt>
                  <c:pt idx="78">
                    <c:v>20 Mar</c:v>
                  </c:pt>
                  <c:pt idx="79">
                    <c:v>21 Mar</c:v>
                  </c:pt>
                  <c:pt idx="80">
                    <c:v>22 Mar</c:v>
                  </c:pt>
                  <c:pt idx="81">
                    <c:v>23 Mar</c:v>
                  </c:pt>
                  <c:pt idx="82">
                    <c:v>24 Mar</c:v>
                  </c:pt>
                  <c:pt idx="83">
                    <c:v>25 Mar</c:v>
                  </c:pt>
                  <c:pt idx="84">
                    <c:v>26 Mar</c:v>
                  </c:pt>
                  <c:pt idx="85">
                    <c:v>27 Mar</c:v>
                  </c:pt>
                  <c:pt idx="86">
                    <c:v>28 Mar</c:v>
                  </c:pt>
                  <c:pt idx="87">
                    <c:v>29 Mar</c:v>
                  </c:pt>
                  <c:pt idx="88">
                    <c:v>30 Mar</c:v>
                  </c:pt>
                  <c:pt idx="89">
                    <c:v>31 Mar</c:v>
                  </c:pt>
                  <c:pt idx="90">
                    <c:v>01 Apr</c:v>
                  </c:pt>
                  <c:pt idx="91">
                    <c:v>02 Apr</c:v>
                  </c:pt>
                  <c:pt idx="92">
                    <c:v>03 Apr</c:v>
                  </c:pt>
                  <c:pt idx="93">
                    <c:v>04 Apr</c:v>
                  </c:pt>
                  <c:pt idx="94">
                    <c:v>05 Apr</c:v>
                  </c:pt>
                  <c:pt idx="95">
                    <c:v>06 Apr</c:v>
                  </c:pt>
                  <c:pt idx="96">
                    <c:v>07 Apr</c:v>
                  </c:pt>
                  <c:pt idx="97">
                    <c:v>08 Apr</c:v>
                  </c:pt>
                  <c:pt idx="98">
                    <c:v>09 Apr</c:v>
                  </c:pt>
                  <c:pt idx="99">
                    <c:v>10 Apr</c:v>
                  </c:pt>
                  <c:pt idx="100">
                    <c:v>11 Apr</c:v>
                  </c:pt>
                  <c:pt idx="101">
                    <c:v>12 Apr</c:v>
                  </c:pt>
                  <c:pt idx="102">
                    <c:v>13 Apr</c:v>
                  </c:pt>
                  <c:pt idx="103">
                    <c:v>14 Apr</c:v>
                  </c:pt>
                  <c:pt idx="104">
                    <c:v>15 Apr</c:v>
                  </c:pt>
                  <c:pt idx="105">
                    <c:v>16 Apr</c:v>
                  </c:pt>
                  <c:pt idx="106">
                    <c:v>17 Apr</c:v>
                  </c:pt>
                  <c:pt idx="107">
                    <c:v>18 Apr</c:v>
                  </c:pt>
                  <c:pt idx="108">
                    <c:v>19 Apr</c:v>
                  </c:pt>
                  <c:pt idx="109">
                    <c:v>20 Apr</c:v>
                  </c:pt>
                  <c:pt idx="110">
                    <c:v>21 Apr</c:v>
                  </c:pt>
                  <c:pt idx="111">
                    <c:v>22 Apr</c:v>
                  </c:pt>
                  <c:pt idx="112">
                    <c:v>23 Apr</c:v>
                  </c:pt>
                  <c:pt idx="113">
                    <c:v>24 Apr</c:v>
                  </c:pt>
                  <c:pt idx="114">
                    <c:v>25 Apr</c:v>
                  </c:pt>
                  <c:pt idx="115">
                    <c:v>26 Apr</c:v>
                  </c:pt>
                  <c:pt idx="116">
                    <c:v>27 Apr</c:v>
                  </c:pt>
                  <c:pt idx="117">
                    <c:v>28 Apr</c:v>
                  </c:pt>
                  <c:pt idx="118">
                    <c:v>29 Apr</c:v>
                  </c:pt>
                  <c:pt idx="119">
                    <c:v>30 Apr</c:v>
                  </c:pt>
                  <c:pt idx="120">
                    <c:v>01 May</c:v>
                  </c:pt>
                  <c:pt idx="121">
                    <c:v>02 May</c:v>
                  </c:pt>
                  <c:pt idx="122">
                    <c:v>03 May</c:v>
                  </c:pt>
                  <c:pt idx="123">
                    <c:v>04 May</c:v>
                  </c:pt>
                  <c:pt idx="124">
                    <c:v>05 May</c:v>
                  </c:pt>
                  <c:pt idx="125">
                    <c:v>06 May</c:v>
                  </c:pt>
                  <c:pt idx="126">
                    <c:v>07 May</c:v>
                  </c:pt>
                  <c:pt idx="127">
                    <c:v>08 May</c:v>
                  </c:pt>
                  <c:pt idx="128">
                    <c:v>09 May</c:v>
                  </c:pt>
                  <c:pt idx="129">
                    <c:v>10 May</c:v>
                  </c:pt>
                  <c:pt idx="130">
                    <c:v>11 May</c:v>
                  </c:pt>
                  <c:pt idx="131">
                    <c:v>12 May</c:v>
                  </c:pt>
                  <c:pt idx="132">
                    <c:v>13 May</c:v>
                  </c:pt>
                  <c:pt idx="133">
                    <c:v>14 May</c:v>
                  </c:pt>
                  <c:pt idx="134">
                    <c:v>15 May</c:v>
                  </c:pt>
                  <c:pt idx="135">
                    <c:v>16 May</c:v>
                  </c:pt>
                  <c:pt idx="136">
                    <c:v>17 May</c:v>
                  </c:pt>
                  <c:pt idx="137">
                    <c:v>18 May</c:v>
                  </c:pt>
                  <c:pt idx="138">
                    <c:v>19 May</c:v>
                  </c:pt>
                  <c:pt idx="139">
                    <c:v>20 May</c:v>
                  </c:pt>
                  <c:pt idx="140">
                    <c:v>21 May</c:v>
                  </c:pt>
                  <c:pt idx="141">
                    <c:v>22 May</c:v>
                  </c:pt>
                  <c:pt idx="142">
                    <c:v>23 May</c:v>
                  </c:pt>
                  <c:pt idx="143">
                    <c:v>24 May</c:v>
                  </c:pt>
                  <c:pt idx="144">
                    <c:v>25 May</c:v>
                  </c:pt>
                  <c:pt idx="145">
                    <c:v>26 May</c:v>
                  </c:pt>
                  <c:pt idx="146">
                    <c:v>27 May</c:v>
                  </c:pt>
                  <c:pt idx="147">
                    <c:v>28 May</c:v>
                  </c:pt>
                  <c:pt idx="148">
                    <c:v>29 May</c:v>
                  </c:pt>
                  <c:pt idx="149">
                    <c:v>30 May</c:v>
                  </c:pt>
                  <c:pt idx="150">
                    <c:v>31 May</c:v>
                  </c:pt>
                  <c:pt idx="151">
                    <c:v>01 Jun</c:v>
                  </c:pt>
                  <c:pt idx="152">
                    <c:v>02 Jun</c:v>
                  </c:pt>
                  <c:pt idx="153">
                    <c:v>03 Jun</c:v>
                  </c:pt>
                  <c:pt idx="154">
                    <c:v>04 Jun</c:v>
                  </c:pt>
                  <c:pt idx="155">
                    <c:v>05 Jun</c:v>
                  </c:pt>
                  <c:pt idx="156">
                    <c:v>06 Jun</c:v>
                  </c:pt>
                  <c:pt idx="157">
                    <c:v>07 Jun</c:v>
                  </c:pt>
                  <c:pt idx="158">
                    <c:v>08 Jun</c:v>
                  </c:pt>
                  <c:pt idx="159">
                    <c:v>09 Jun</c:v>
                  </c:pt>
                  <c:pt idx="160">
                    <c:v>10 Jun</c:v>
                  </c:pt>
                  <c:pt idx="161">
                    <c:v>11 Jun</c:v>
                  </c:pt>
                  <c:pt idx="162">
                    <c:v>12 Jun</c:v>
                  </c:pt>
                  <c:pt idx="163">
                    <c:v>13 Jun</c:v>
                  </c:pt>
                  <c:pt idx="164">
                    <c:v>14 Jun</c:v>
                  </c:pt>
                  <c:pt idx="165">
                    <c:v>15 Jun</c:v>
                  </c:pt>
                  <c:pt idx="166">
                    <c:v>16 Jun</c:v>
                  </c:pt>
                  <c:pt idx="167">
                    <c:v>17 Jun</c:v>
                  </c:pt>
                  <c:pt idx="168">
                    <c:v>18 Jun</c:v>
                  </c:pt>
                  <c:pt idx="169">
                    <c:v>19 Jun</c:v>
                  </c:pt>
                  <c:pt idx="170">
                    <c:v>20 Jun</c:v>
                  </c:pt>
                  <c:pt idx="171">
                    <c:v>21 Jun</c:v>
                  </c:pt>
                  <c:pt idx="172">
                    <c:v>22 Jun</c:v>
                  </c:pt>
                  <c:pt idx="173">
                    <c:v>23 Jun</c:v>
                  </c:pt>
                  <c:pt idx="174">
                    <c:v>24 Jun</c:v>
                  </c:pt>
                  <c:pt idx="175">
                    <c:v>25 Jun</c:v>
                  </c:pt>
                  <c:pt idx="176">
                    <c:v>26 Jun</c:v>
                  </c:pt>
                  <c:pt idx="177">
                    <c:v>27 Jun</c:v>
                  </c:pt>
                  <c:pt idx="178">
                    <c:v>28 Jun</c:v>
                  </c:pt>
                  <c:pt idx="179">
                    <c:v>29 Jun</c:v>
                  </c:pt>
                  <c:pt idx="180">
                    <c:v>30 Jun</c:v>
                  </c:pt>
                  <c:pt idx="181">
                    <c:v>01 Jul</c:v>
                  </c:pt>
                  <c:pt idx="182">
                    <c:v>02 Jul</c:v>
                  </c:pt>
                  <c:pt idx="183">
                    <c:v>03 Jul</c:v>
                  </c:pt>
                  <c:pt idx="184">
                    <c:v>04 Jul</c:v>
                  </c:pt>
                  <c:pt idx="185">
                    <c:v>05 Jul</c:v>
                  </c:pt>
                  <c:pt idx="186">
                    <c:v>06 Jul</c:v>
                  </c:pt>
                  <c:pt idx="187">
                    <c:v>07 Jul</c:v>
                  </c:pt>
                  <c:pt idx="188">
                    <c:v>08 Jul</c:v>
                  </c:pt>
                  <c:pt idx="189">
                    <c:v>09 Jul</c:v>
                  </c:pt>
                  <c:pt idx="190">
                    <c:v>10 Jul</c:v>
                  </c:pt>
                  <c:pt idx="191">
                    <c:v>11 Jul</c:v>
                  </c:pt>
                  <c:pt idx="192">
                    <c:v>12 Jul</c:v>
                  </c:pt>
                  <c:pt idx="193">
                    <c:v>13 Jul</c:v>
                  </c:pt>
                  <c:pt idx="194">
                    <c:v>14 Jul</c:v>
                  </c:pt>
                  <c:pt idx="195">
                    <c:v>15 Jul</c:v>
                  </c:pt>
                  <c:pt idx="196">
                    <c:v>16 Jul</c:v>
                  </c:pt>
                  <c:pt idx="197">
                    <c:v>17 Jul</c:v>
                  </c:pt>
                  <c:pt idx="198">
                    <c:v>18 Jul</c:v>
                  </c:pt>
                  <c:pt idx="199">
                    <c:v>19 Jul</c:v>
                  </c:pt>
                  <c:pt idx="200">
                    <c:v>20 Jul</c:v>
                  </c:pt>
                  <c:pt idx="201">
                    <c:v>21 Jul</c:v>
                  </c:pt>
                  <c:pt idx="202">
                    <c:v>22 Jul</c:v>
                  </c:pt>
                  <c:pt idx="203">
                    <c:v>23 Jul</c:v>
                  </c:pt>
                  <c:pt idx="204">
                    <c:v>24 Jul</c:v>
                  </c:pt>
                  <c:pt idx="205">
                    <c:v>25 Jul</c:v>
                  </c:pt>
                  <c:pt idx="206">
                    <c:v>26 Jul</c:v>
                  </c:pt>
                  <c:pt idx="207">
                    <c:v>27 Jul</c:v>
                  </c:pt>
                  <c:pt idx="208">
                    <c:v>28 Jul</c:v>
                  </c:pt>
                  <c:pt idx="209">
                    <c:v>29 Jul</c:v>
                  </c:pt>
                  <c:pt idx="210">
                    <c:v>30 Jul</c:v>
                  </c:pt>
                  <c:pt idx="211">
                    <c:v>31 Jul</c:v>
                  </c:pt>
                  <c:pt idx="212">
                    <c:v>01 Aug</c:v>
                  </c:pt>
                  <c:pt idx="213">
                    <c:v>02 Aug</c:v>
                  </c:pt>
                  <c:pt idx="214">
                    <c:v>03 Aug</c:v>
                  </c:pt>
                  <c:pt idx="215">
                    <c:v>04 Aug</c:v>
                  </c:pt>
                  <c:pt idx="216">
                    <c:v>05 Aug</c:v>
                  </c:pt>
                  <c:pt idx="217">
                    <c:v>06 Aug</c:v>
                  </c:pt>
                  <c:pt idx="218">
                    <c:v>07 Aug</c:v>
                  </c:pt>
                  <c:pt idx="219">
                    <c:v>08 Aug</c:v>
                  </c:pt>
                  <c:pt idx="220">
                    <c:v>09 Aug</c:v>
                  </c:pt>
                  <c:pt idx="221">
                    <c:v>10 Aug</c:v>
                  </c:pt>
                  <c:pt idx="222">
                    <c:v>11 Aug</c:v>
                  </c:pt>
                  <c:pt idx="223">
                    <c:v>12 Aug</c:v>
                  </c:pt>
                  <c:pt idx="224">
                    <c:v>13 Aug</c:v>
                  </c:pt>
                  <c:pt idx="225">
                    <c:v>14 Aug</c:v>
                  </c:pt>
                  <c:pt idx="226">
                    <c:v>15 Aug</c:v>
                  </c:pt>
                  <c:pt idx="227">
                    <c:v>16 Aug</c:v>
                  </c:pt>
                  <c:pt idx="228">
                    <c:v>17 Aug</c:v>
                  </c:pt>
                  <c:pt idx="229">
                    <c:v>18 Aug</c:v>
                  </c:pt>
                  <c:pt idx="230">
                    <c:v>19 Aug</c:v>
                  </c:pt>
                  <c:pt idx="231">
                    <c:v>20 Aug</c:v>
                  </c:pt>
                  <c:pt idx="232">
                    <c:v>21 Aug</c:v>
                  </c:pt>
                  <c:pt idx="233">
                    <c:v>22 Aug</c:v>
                  </c:pt>
                  <c:pt idx="234">
                    <c:v>23 Aug</c:v>
                  </c:pt>
                  <c:pt idx="235">
                    <c:v>24 Aug</c:v>
                  </c:pt>
                  <c:pt idx="236">
                    <c:v>25 Aug</c:v>
                  </c:pt>
                  <c:pt idx="237">
                    <c:v>26 Aug</c:v>
                  </c:pt>
                  <c:pt idx="238">
                    <c:v>27 Aug</c:v>
                  </c:pt>
                  <c:pt idx="239">
                    <c:v>28 Aug</c:v>
                  </c:pt>
                  <c:pt idx="240">
                    <c:v>29 Aug</c:v>
                  </c:pt>
                  <c:pt idx="241">
                    <c:v>30 Aug</c:v>
                  </c:pt>
                  <c:pt idx="242">
                    <c:v>31 Aug</c:v>
                  </c:pt>
                  <c:pt idx="243">
                    <c:v>01 Sep</c:v>
                  </c:pt>
                  <c:pt idx="244">
                    <c:v>02 Sep</c:v>
                  </c:pt>
                  <c:pt idx="245">
                    <c:v>03 Sep</c:v>
                  </c:pt>
                  <c:pt idx="246">
                    <c:v>04 Sep</c:v>
                  </c:pt>
                  <c:pt idx="247">
                    <c:v>05 Sep</c:v>
                  </c:pt>
                  <c:pt idx="248">
                    <c:v>06 Sep</c:v>
                  </c:pt>
                  <c:pt idx="249">
                    <c:v>07 Sep</c:v>
                  </c:pt>
                  <c:pt idx="250">
                    <c:v>08 Sep</c:v>
                  </c:pt>
                  <c:pt idx="251">
                    <c:v>09 Sep</c:v>
                  </c:pt>
                  <c:pt idx="252">
                    <c:v>10 Sep</c:v>
                  </c:pt>
                  <c:pt idx="253">
                    <c:v>11 Sep</c:v>
                  </c:pt>
                  <c:pt idx="254">
                    <c:v>12 Sep</c:v>
                  </c:pt>
                  <c:pt idx="255">
                    <c:v>13 Sep</c:v>
                  </c:pt>
                  <c:pt idx="256">
                    <c:v>14 Sep</c:v>
                  </c:pt>
                  <c:pt idx="257">
                    <c:v>15 Sep</c:v>
                  </c:pt>
                  <c:pt idx="258">
                    <c:v>16 Sep</c:v>
                  </c:pt>
                  <c:pt idx="259">
                    <c:v>17 Sep</c:v>
                  </c:pt>
                  <c:pt idx="260">
                    <c:v>18 Sep</c:v>
                  </c:pt>
                  <c:pt idx="261">
                    <c:v>19 Sep</c:v>
                  </c:pt>
                  <c:pt idx="262">
                    <c:v>20 Sep</c:v>
                  </c:pt>
                  <c:pt idx="263">
                    <c:v>21 Sep</c:v>
                  </c:pt>
                  <c:pt idx="264">
                    <c:v>22 Sep</c:v>
                  </c:pt>
                  <c:pt idx="265">
                    <c:v>23 Sep</c:v>
                  </c:pt>
                  <c:pt idx="266">
                    <c:v>24 Sep</c:v>
                  </c:pt>
                  <c:pt idx="267">
                    <c:v>25 Sep</c:v>
                  </c:pt>
                  <c:pt idx="268">
                    <c:v>26 Sep</c:v>
                  </c:pt>
                  <c:pt idx="269">
                    <c:v>27 Sep</c:v>
                  </c:pt>
                  <c:pt idx="270">
                    <c:v>28 Sep</c:v>
                  </c:pt>
                  <c:pt idx="271">
                    <c:v>29 Sep</c:v>
                  </c:pt>
                  <c:pt idx="272">
                    <c:v>30 Sep</c:v>
                  </c:pt>
                  <c:pt idx="273">
                    <c:v>01 Oct</c:v>
                  </c:pt>
                  <c:pt idx="274">
                    <c:v>02 Oct</c:v>
                  </c:pt>
                  <c:pt idx="275">
                    <c:v>03 Oct</c:v>
                  </c:pt>
                  <c:pt idx="276">
                    <c:v>04 Oct</c:v>
                  </c:pt>
                  <c:pt idx="277">
                    <c:v>05 Oct</c:v>
                  </c:pt>
                  <c:pt idx="278">
                    <c:v>06 Oct</c:v>
                  </c:pt>
                  <c:pt idx="279">
                    <c:v>07 Oct</c:v>
                  </c:pt>
                  <c:pt idx="280">
                    <c:v>08 Oct</c:v>
                  </c:pt>
                  <c:pt idx="281">
                    <c:v>09 Oct</c:v>
                  </c:pt>
                  <c:pt idx="282">
                    <c:v>10 Oct</c:v>
                  </c:pt>
                  <c:pt idx="283">
                    <c:v>11 Oct</c:v>
                  </c:pt>
                  <c:pt idx="284">
                    <c:v>12 Oct</c:v>
                  </c:pt>
                  <c:pt idx="285">
                    <c:v>13 Oct</c:v>
                  </c:pt>
                  <c:pt idx="286">
                    <c:v>14 Oct</c:v>
                  </c:pt>
                  <c:pt idx="287">
                    <c:v>15 Oct</c:v>
                  </c:pt>
                  <c:pt idx="288">
                    <c:v>16 Oct</c:v>
                  </c:pt>
                  <c:pt idx="289">
                    <c:v>17 Oct</c:v>
                  </c:pt>
                  <c:pt idx="290">
                    <c:v>18 Oct</c:v>
                  </c:pt>
                  <c:pt idx="291">
                    <c:v>19 Oct</c:v>
                  </c:pt>
                  <c:pt idx="292">
                    <c:v>20 Oct</c:v>
                  </c:pt>
                  <c:pt idx="293">
                    <c:v>21 Oct</c:v>
                  </c:pt>
                  <c:pt idx="294">
                    <c:v>22 Oct</c:v>
                  </c:pt>
                  <c:pt idx="295">
                    <c:v>23 Oct</c:v>
                  </c:pt>
                  <c:pt idx="296">
                    <c:v>24 Oct</c:v>
                  </c:pt>
                  <c:pt idx="297">
                    <c:v>25 Oct</c:v>
                  </c:pt>
                  <c:pt idx="298">
                    <c:v>26 Oct</c:v>
                  </c:pt>
                  <c:pt idx="299">
                    <c:v>27 Oct</c:v>
                  </c:pt>
                  <c:pt idx="300">
                    <c:v>28 Oct</c:v>
                  </c:pt>
                  <c:pt idx="301">
                    <c:v>29 Oct</c:v>
                  </c:pt>
                  <c:pt idx="302">
                    <c:v>30 Oct</c:v>
                  </c:pt>
                  <c:pt idx="303">
                    <c:v>31 Oct</c:v>
                  </c:pt>
                  <c:pt idx="304">
                    <c:v>01 Nov</c:v>
                  </c:pt>
                  <c:pt idx="305">
                    <c:v>02 Nov</c:v>
                  </c:pt>
                  <c:pt idx="306">
                    <c:v>03 Nov</c:v>
                  </c:pt>
                  <c:pt idx="307">
                    <c:v>04 Nov</c:v>
                  </c:pt>
                  <c:pt idx="308">
                    <c:v>05 Nov</c:v>
                  </c:pt>
                  <c:pt idx="309">
                    <c:v>06 Nov</c:v>
                  </c:pt>
                  <c:pt idx="310">
                    <c:v>07 Nov</c:v>
                  </c:pt>
                  <c:pt idx="311">
                    <c:v>08 Nov</c:v>
                  </c:pt>
                  <c:pt idx="312">
                    <c:v>09 Nov</c:v>
                  </c:pt>
                  <c:pt idx="313">
                    <c:v>10 Nov</c:v>
                  </c:pt>
                  <c:pt idx="314">
                    <c:v>11 Nov</c:v>
                  </c:pt>
                  <c:pt idx="315">
                    <c:v>12 Nov</c:v>
                  </c:pt>
                  <c:pt idx="316">
                    <c:v>13 Nov</c:v>
                  </c:pt>
                  <c:pt idx="317">
                    <c:v>14 Nov</c:v>
                  </c:pt>
                  <c:pt idx="318">
                    <c:v>15 Nov</c:v>
                  </c:pt>
                  <c:pt idx="319">
                    <c:v>16 Nov</c:v>
                  </c:pt>
                  <c:pt idx="320">
                    <c:v>17 Nov</c:v>
                  </c:pt>
                  <c:pt idx="321">
                    <c:v>18 Nov</c:v>
                  </c:pt>
                  <c:pt idx="322">
                    <c:v>19 Nov</c:v>
                  </c:pt>
                  <c:pt idx="323">
                    <c:v>20 Nov</c:v>
                  </c:pt>
                  <c:pt idx="324">
                    <c:v>21 Nov</c:v>
                  </c:pt>
                  <c:pt idx="325">
                    <c:v>22 Nov</c:v>
                  </c:pt>
                  <c:pt idx="326">
                    <c:v>23 Nov</c:v>
                  </c:pt>
                  <c:pt idx="327">
                    <c:v>24 Nov</c:v>
                  </c:pt>
                  <c:pt idx="328">
                    <c:v>25 Nov</c:v>
                  </c:pt>
                  <c:pt idx="329">
                    <c:v>26 Nov</c:v>
                  </c:pt>
                  <c:pt idx="330">
                    <c:v>27 Nov</c:v>
                  </c:pt>
                  <c:pt idx="331">
                    <c:v>28 Nov</c:v>
                  </c:pt>
                  <c:pt idx="332">
                    <c:v>29 Nov</c:v>
                  </c:pt>
                  <c:pt idx="333">
                    <c:v>30 Nov</c:v>
                  </c:pt>
                  <c:pt idx="334">
                    <c:v>01 Dec</c:v>
                  </c:pt>
                  <c:pt idx="335">
                    <c:v>02 Dec</c:v>
                  </c:pt>
                  <c:pt idx="336">
                    <c:v>03 Dec</c:v>
                  </c:pt>
                  <c:pt idx="337">
                    <c:v>04 Dec</c:v>
                  </c:pt>
                  <c:pt idx="338">
                    <c:v>05 Dec</c:v>
                  </c:pt>
                  <c:pt idx="339">
                    <c:v>06 Dec</c:v>
                  </c:pt>
                  <c:pt idx="340">
                    <c:v>07 Dec</c:v>
                  </c:pt>
                  <c:pt idx="341">
                    <c:v>08 Dec</c:v>
                  </c:pt>
                  <c:pt idx="342">
                    <c:v>09 Dec</c:v>
                  </c:pt>
                  <c:pt idx="343">
                    <c:v>10 Dec</c:v>
                  </c:pt>
                  <c:pt idx="344">
                    <c:v>11 Dec</c:v>
                  </c:pt>
                  <c:pt idx="345">
                    <c:v>12 Dec</c:v>
                  </c:pt>
                  <c:pt idx="346">
                    <c:v>13 Dec</c:v>
                  </c:pt>
                  <c:pt idx="347">
                    <c:v>14 Dec</c:v>
                  </c:pt>
                  <c:pt idx="348">
                    <c:v>15 Dec</c:v>
                  </c:pt>
                  <c:pt idx="349">
                    <c:v>16 Dec</c:v>
                  </c:pt>
                  <c:pt idx="350">
                    <c:v>17 Dec</c:v>
                  </c:pt>
                  <c:pt idx="351">
                    <c:v>18 Dec</c:v>
                  </c:pt>
                  <c:pt idx="352">
                    <c:v>19 Dec</c:v>
                  </c:pt>
                  <c:pt idx="353">
                    <c:v>20 Dec</c:v>
                  </c:pt>
                  <c:pt idx="354">
                    <c:v>21 Dec</c:v>
                  </c:pt>
                  <c:pt idx="355">
                    <c:v>22 Dec</c:v>
                  </c:pt>
                  <c:pt idx="356">
                    <c:v>23 Dec</c:v>
                  </c:pt>
                  <c:pt idx="357">
                    <c:v>24 Dec</c:v>
                  </c:pt>
                  <c:pt idx="358">
                    <c:v>25 Dec</c:v>
                  </c:pt>
                  <c:pt idx="359">
                    <c:v>26 Dec</c:v>
                  </c:pt>
                  <c:pt idx="360">
                    <c:v>27 Dec</c:v>
                  </c:pt>
                  <c:pt idx="361">
                    <c:v>28 Dec</c:v>
                  </c:pt>
                  <c:pt idx="362">
                    <c:v>29 Dec</c:v>
                  </c:pt>
                  <c:pt idx="363">
                    <c:v>30 Dec</c:v>
                  </c:pt>
                  <c:pt idx="364">
                    <c:v>31 Dec</c:v>
                  </c:pt>
                </c:lvl>
              </c:multiLvlStrCache>
            </c:multiLvlStrRef>
          </c:cat>
          <c:val>
            <c:numRef>
              <c:f>Sheet1!$C$2:$C$366</c:f>
              <c:numCache>
                <c:formatCode>General</c:formatCode>
                <c:ptCount val="365"/>
                <c:pt idx="0">
                  <c:v>6850</c:v>
                </c:pt>
                <c:pt idx="1">
                  <c:v>7114</c:v>
                </c:pt>
                <c:pt idx="2">
                  <c:v>7066</c:v>
                </c:pt>
                <c:pt idx="3">
                  <c:v>7623</c:v>
                </c:pt>
                <c:pt idx="4">
                  <c:v>7112</c:v>
                </c:pt>
                <c:pt idx="5">
                  <c:v>6283</c:v>
                </c:pt>
                <c:pt idx="6">
                  <c:v>6948</c:v>
                </c:pt>
                <c:pt idx="7">
                  <c:v>7484</c:v>
                </c:pt>
                <c:pt idx="8">
                  <c:v>7157</c:v>
                </c:pt>
                <c:pt idx="9">
                  <c:v>7206</c:v>
                </c:pt>
                <c:pt idx="10">
                  <c:v>7855</c:v>
                </c:pt>
                <c:pt idx="11">
                  <c:v>7326</c:v>
                </c:pt>
                <c:pt idx="12">
                  <c:v>6824</c:v>
                </c:pt>
                <c:pt idx="13">
                  <c:v>6979</c:v>
                </c:pt>
                <c:pt idx="14">
                  <c:v>7400</c:v>
                </c:pt>
                <c:pt idx="15">
                  <c:v>7136</c:v>
                </c:pt>
                <c:pt idx="16">
                  <c:v>7348</c:v>
                </c:pt>
                <c:pt idx="17">
                  <c:v>7833</c:v>
                </c:pt>
                <c:pt idx="18">
                  <c:v>7349</c:v>
                </c:pt>
                <c:pt idx="19">
                  <c:v>6809</c:v>
                </c:pt>
                <c:pt idx="20">
                  <c:v>6947</c:v>
                </c:pt>
                <c:pt idx="21">
                  <c:v>5701</c:v>
                </c:pt>
                <c:pt idx="22">
                  <c:v>5689</c:v>
                </c:pt>
                <c:pt idx="23">
                  <c:v>5741</c:v>
                </c:pt>
                <c:pt idx="24">
                  <c:v>5749</c:v>
                </c:pt>
                <c:pt idx="25">
                  <c:v>4561</c:v>
                </c:pt>
                <c:pt idx="26">
                  <c:v>3892</c:v>
                </c:pt>
                <c:pt idx="27">
                  <c:v>3530</c:v>
                </c:pt>
                <c:pt idx="28">
                  <c:v>4268</c:v>
                </c:pt>
                <c:pt idx="29">
                  <c:v>5559</c:v>
                </c:pt>
                <c:pt idx="30">
                  <c:v>7505</c:v>
                </c:pt>
                <c:pt idx="31">
                  <c:v>9059</c:v>
                </c:pt>
                <c:pt idx="32">
                  <c:v>7743</c:v>
                </c:pt>
                <c:pt idx="33">
                  <c:v>7042</c:v>
                </c:pt>
                <c:pt idx="34">
                  <c:v>6847</c:v>
                </c:pt>
                <c:pt idx="35">
                  <c:v>6089</c:v>
                </c:pt>
                <c:pt idx="36">
                  <c:v>5509</c:v>
                </c:pt>
                <c:pt idx="37">
                  <c:v>6046</c:v>
                </c:pt>
                <c:pt idx="38">
                  <c:v>7324</c:v>
                </c:pt>
                <c:pt idx="39">
                  <c:v>6768</c:v>
                </c:pt>
                <c:pt idx="40">
                  <c:v>6586</c:v>
                </c:pt>
                <c:pt idx="41">
                  <c:v>6607</c:v>
                </c:pt>
                <c:pt idx="42">
                  <c:v>6714</c:v>
                </c:pt>
                <c:pt idx="43">
                  <c:v>6778</c:v>
                </c:pt>
                <c:pt idx="44">
                  <c:v>6978</c:v>
                </c:pt>
                <c:pt idx="45">
                  <c:v>7368</c:v>
                </c:pt>
                <c:pt idx="46">
                  <c:v>6792</c:v>
                </c:pt>
                <c:pt idx="47">
                  <c:v>6395</c:v>
                </c:pt>
                <c:pt idx="48">
                  <c:v>6590</c:v>
                </c:pt>
                <c:pt idx="49">
                  <c:v>6853</c:v>
                </c:pt>
                <c:pt idx="50">
                  <c:v>6836</c:v>
                </c:pt>
                <c:pt idx="51">
                  <c:v>7275</c:v>
                </c:pt>
                <c:pt idx="52">
                  <c:v>7701</c:v>
                </c:pt>
                <c:pt idx="53">
                  <c:v>7117</c:v>
                </c:pt>
                <c:pt idx="54">
                  <c:v>6608</c:v>
                </c:pt>
                <c:pt idx="55">
                  <c:v>6585</c:v>
                </c:pt>
                <c:pt idx="56">
                  <c:v>7077</c:v>
                </c:pt>
                <c:pt idx="57">
                  <c:v>6958</c:v>
                </c:pt>
                <c:pt idx="58">
                  <c:v>7382</c:v>
                </c:pt>
                <c:pt idx="59">
                  <c:v>7917</c:v>
                </c:pt>
                <c:pt idx="60">
                  <c:v>7253</c:v>
                </c:pt>
                <c:pt idx="61">
                  <c:v>6888</c:v>
                </c:pt>
                <c:pt idx="62">
                  <c:v>6993</c:v>
                </c:pt>
                <c:pt idx="63">
                  <c:v>7297</c:v>
                </c:pt>
                <c:pt idx="64">
                  <c:v>7203</c:v>
                </c:pt>
                <c:pt idx="65">
                  <c:v>7216</c:v>
                </c:pt>
                <c:pt idx="66">
                  <c:v>7827</c:v>
                </c:pt>
                <c:pt idx="67">
                  <c:v>7241</c:v>
                </c:pt>
                <c:pt idx="68">
                  <c:v>6678</c:v>
                </c:pt>
                <c:pt idx="69">
                  <c:v>6684</c:v>
                </c:pt>
                <c:pt idx="70">
                  <c:v>7151</c:v>
                </c:pt>
                <c:pt idx="71">
                  <c:v>7135</c:v>
                </c:pt>
                <c:pt idx="72">
                  <c:v>7467</c:v>
                </c:pt>
                <c:pt idx="73">
                  <c:v>7797</c:v>
                </c:pt>
                <c:pt idx="74">
                  <c:v>7305</c:v>
                </c:pt>
                <c:pt idx="75">
                  <c:v>6978</c:v>
                </c:pt>
                <c:pt idx="76">
                  <c:v>6941</c:v>
                </c:pt>
                <c:pt idx="77">
                  <c:v>6909</c:v>
                </c:pt>
                <c:pt idx="78">
                  <c:v>6910</c:v>
                </c:pt>
                <c:pt idx="79">
                  <c:v>7036</c:v>
                </c:pt>
                <c:pt idx="80">
                  <c:v>7548</c:v>
                </c:pt>
                <c:pt idx="81">
                  <c:v>7000</c:v>
                </c:pt>
                <c:pt idx="82">
                  <c:v>6763</c:v>
                </c:pt>
                <c:pt idx="83">
                  <c:v>6805</c:v>
                </c:pt>
                <c:pt idx="84">
                  <c:v>7208</c:v>
                </c:pt>
                <c:pt idx="85">
                  <c:v>6945</c:v>
                </c:pt>
                <c:pt idx="86">
                  <c:v>7009</c:v>
                </c:pt>
                <c:pt idx="87">
                  <c:v>7660</c:v>
                </c:pt>
                <c:pt idx="88">
                  <c:v>7073</c:v>
                </c:pt>
                <c:pt idx="89">
                  <c:v>6696</c:v>
                </c:pt>
                <c:pt idx="90">
                  <c:v>6737</c:v>
                </c:pt>
                <c:pt idx="91">
                  <c:v>6021</c:v>
                </c:pt>
                <c:pt idx="92">
                  <c:v>6382</c:v>
                </c:pt>
                <c:pt idx="93">
                  <c:v>7364</c:v>
                </c:pt>
                <c:pt idx="94">
                  <c:v>7463</c:v>
                </c:pt>
                <c:pt idx="95">
                  <c:v>6915</c:v>
                </c:pt>
                <c:pt idx="96">
                  <c:v>6454</c:v>
                </c:pt>
                <c:pt idx="97">
                  <c:v>6793</c:v>
                </c:pt>
                <c:pt idx="98">
                  <c:v>6402</c:v>
                </c:pt>
                <c:pt idx="99">
                  <c:v>6494</c:v>
                </c:pt>
                <c:pt idx="100">
                  <c:v>6908</c:v>
                </c:pt>
                <c:pt idx="101">
                  <c:v>7532</c:v>
                </c:pt>
                <c:pt idx="102">
                  <c:v>6966</c:v>
                </c:pt>
                <c:pt idx="103">
                  <c:v>6796</c:v>
                </c:pt>
                <c:pt idx="104">
                  <c:v>6944</c:v>
                </c:pt>
                <c:pt idx="105">
                  <c:v>7052</c:v>
                </c:pt>
                <c:pt idx="106">
                  <c:v>6868</c:v>
                </c:pt>
                <c:pt idx="107">
                  <c:v>6993</c:v>
                </c:pt>
                <c:pt idx="108">
                  <c:v>7555</c:v>
                </c:pt>
                <c:pt idx="109">
                  <c:v>6740</c:v>
                </c:pt>
                <c:pt idx="110">
                  <c:v>6095</c:v>
                </c:pt>
                <c:pt idx="111">
                  <c:v>6594</c:v>
                </c:pt>
                <c:pt idx="112">
                  <c:v>7350</c:v>
                </c:pt>
                <c:pt idx="113">
                  <c:v>6948</c:v>
                </c:pt>
                <c:pt idx="114">
                  <c:v>7311</c:v>
                </c:pt>
                <c:pt idx="115">
                  <c:v>7358</c:v>
                </c:pt>
                <c:pt idx="116">
                  <c:v>6850</c:v>
                </c:pt>
                <c:pt idx="117">
                  <c:v>6703</c:v>
                </c:pt>
                <c:pt idx="118">
                  <c:v>6646</c:v>
                </c:pt>
                <c:pt idx="119">
                  <c:v>6694</c:v>
                </c:pt>
                <c:pt idx="120">
                  <c:v>7532</c:v>
                </c:pt>
                <c:pt idx="121">
                  <c:v>8076</c:v>
                </c:pt>
                <c:pt idx="122">
                  <c:v>8006</c:v>
                </c:pt>
                <c:pt idx="123">
                  <c:v>7385</c:v>
                </c:pt>
                <c:pt idx="124">
                  <c:v>6786</c:v>
                </c:pt>
                <c:pt idx="125">
                  <c:v>6391</c:v>
                </c:pt>
                <c:pt idx="126">
                  <c:v>6863</c:v>
                </c:pt>
                <c:pt idx="127">
                  <c:v>6870</c:v>
                </c:pt>
                <c:pt idx="128">
                  <c:v>7149</c:v>
                </c:pt>
                <c:pt idx="129">
                  <c:v>7385</c:v>
                </c:pt>
                <c:pt idx="130">
                  <c:v>7188</c:v>
                </c:pt>
                <c:pt idx="131">
                  <c:v>6455</c:v>
                </c:pt>
                <c:pt idx="132">
                  <c:v>6445</c:v>
                </c:pt>
                <c:pt idx="133">
                  <c:v>6558</c:v>
                </c:pt>
                <c:pt idx="134">
                  <c:v>6646</c:v>
                </c:pt>
                <c:pt idx="135">
                  <c:v>6994</c:v>
                </c:pt>
                <c:pt idx="136">
                  <c:v>7594</c:v>
                </c:pt>
                <c:pt idx="137">
                  <c:v>7008</c:v>
                </c:pt>
                <c:pt idx="138">
                  <c:v>6371</c:v>
                </c:pt>
                <c:pt idx="139">
                  <c:v>6172</c:v>
                </c:pt>
                <c:pt idx="140">
                  <c:v>6847</c:v>
                </c:pt>
                <c:pt idx="141">
                  <c:v>6897</c:v>
                </c:pt>
                <c:pt idx="142">
                  <c:v>7253</c:v>
                </c:pt>
                <c:pt idx="143">
                  <c:v>7764</c:v>
                </c:pt>
                <c:pt idx="144">
                  <c:v>6969</c:v>
                </c:pt>
                <c:pt idx="145">
                  <c:v>6529</c:v>
                </c:pt>
                <c:pt idx="146">
                  <c:v>6386</c:v>
                </c:pt>
                <c:pt idx="147">
                  <c:v>6828</c:v>
                </c:pt>
                <c:pt idx="148">
                  <c:v>6877</c:v>
                </c:pt>
                <c:pt idx="149">
                  <c:v>7042</c:v>
                </c:pt>
                <c:pt idx="150">
                  <c:v>7201</c:v>
                </c:pt>
                <c:pt idx="151">
                  <c:v>6629</c:v>
                </c:pt>
                <c:pt idx="152">
                  <c:v>6501</c:v>
                </c:pt>
                <c:pt idx="153">
                  <c:v>6138</c:v>
                </c:pt>
                <c:pt idx="154">
                  <c:v>6427</c:v>
                </c:pt>
                <c:pt idx="155">
                  <c:v>6179</c:v>
                </c:pt>
                <c:pt idx="156">
                  <c:v>6775</c:v>
                </c:pt>
                <c:pt idx="157">
                  <c:v>7631</c:v>
                </c:pt>
                <c:pt idx="158">
                  <c:v>7017</c:v>
                </c:pt>
                <c:pt idx="159">
                  <c:v>6001</c:v>
                </c:pt>
                <c:pt idx="160">
                  <c:v>6095</c:v>
                </c:pt>
                <c:pt idx="161">
                  <c:v>6544</c:v>
                </c:pt>
                <c:pt idx="162">
                  <c:v>6495</c:v>
                </c:pt>
                <c:pt idx="163">
                  <c:v>6987</c:v>
                </c:pt>
                <c:pt idx="164">
                  <c:v>7787</c:v>
                </c:pt>
                <c:pt idx="165">
                  <c:v>7267</c:v>
                </c:pt>
                <c:pt idx="166">
                  <c:v>6294</c:v>
                </c:pt>
                <c:pt idx="167">
                  <c:v>6279</c:v>
                </c:pt>
                <c:pt idx="168">
                  <c:v>6589</c:v>
                </c:pt>
                <c:pt idx="169">
                  <c:v>6567</c:v>
                </c:pt>
                <c:pt idx="170">
                  <c:v>6709</c:v>
                </c:pt>
                <c:pt idx="171">
                  <c:v>7403</c:v>
                </c:pt>
                <c:pt idx="172">
                  <c:v>6862</c:v>
                </c:pt>
                <c:pt idx="173">
                  <c:v>6210</c:v>
                </c:pt>
                <c:pt idx="174">
                  <c:v>6033</c:v>
                </c:pt>
                <c:pt idx="175">
                  <c:v>6590</c:v>
                </c:pt>
                <c:pt idx="176">
                  <c:v>6805</c:v>
                </c:pt>
                <c:pt idx="177">
                  <c:v>6909</c:v>
                </c:pt>
                <c:pt idx="178">
                  <c:v>7615</c:v>
                </c:pt>
                <c:pt idx="179">
                  <c:v>6966</c:v>
                </c:pt>
                <c:pt idx="180">
                  <c:v>6088</c:v>
                </c:pt>
                <c:pt idx="181">
                  <c:v>6310</c:v>
                </c:pt>
                <c:pt idx="182">
                  <c:v>6838</c:v>
                </c:pt>
                <c:pt idx="183">
                  <c:v>6731</c:v>
                </c:pt>
                <c:pt idx="184">
                  <c:v>7087</c:v>
                </c:pt>
                <c:pt idx="185">
                  <c:v>7667</c:v>
                </c:pt>
                <c:pt idx="186">
                  <c:v>7063</c:v>
                </c:pt>
                <c:pt idx="187">
                  <c:v>6641</c:v>
                </c:pt>
                <c:pt idx="188">
                  <c:v>6710</c:v>
                </c:pt>
                <c:pt idx="189">
                  <c:v>6843</c:v>
                </c:pt>
                <c:pt idx="190">
                  <c:v>6806</c:v>
                </c:pt>
                <c:pt idx="191">
                  <c:v>7117</c:v>
                </c:pt>
                <c:pt idx="192">
                  <c:v>7979</c:v>
                </c:pt>
                <c:pt idx="193">
                  <c:v>7292</c:v>
                </c:pt>
                <c:pt idx="194">
                  <c:v>6701</c:v>
                </c:pt>
                <c:pt idx="195">
                  <c:v>6808</c:v>
                </c:pt>
                <c:pt idx="196">
                  <c:v>6928</c:v>
                </c:pt>
                <c:pt idx="197">
                  <c:v>6926</c:v>
                </c:pt>
                <c:pt idx="198">
                  <c:v>7230</c:v>
                </c:pt>
                <c:pt idx="199">
                  <c:v>7864</c:v>
                </c:pt>
                <c:pt idx="200">
                  <c:v>7256</c:v>
                </c:pt>
                <c:pt idx="201">
                  <c:v>6663</c:v>
                </c:pt>
                <c:pt idx="202">
                  <c:v>6706</c:v>
                </c:pt>
                <c:pt idx="203">
                  <c:v>6731</c:v>
                </c:pt>
                <c:pt idx="204">
                  <c:v>6742</c:v>
                </c:pt>
                <c:pt idx="205">
                  <c:v>6886</c:v>
                </c:pt>
                <c:pt idx="206">
                  <c:v>7600</c:v>
                </c:pt>
                <c:pt idx="207">
                  <c:v>6940</c:v>
                </c:pt>
                <c:pt idx="208">
                  <c:v>6620</c:v>
                </c:pt>
                <c:pt idx="209">
                  <c:v>6640</c:v>
                </c:pt>
                <c:pt idx="210">
                  <c:v>6988</c:v>
                </c:pt>
                <c:pt idx="211">
                  <c:v>6729</c:v>
                </c:pt>
                <c:pt idx="212">
                  <c:v>6704</c:v>
                </c:pt>
                <c:pt idx="213">
                  <c:v>7244</c:v>
                </c:pt>
                <c:pt idx="214">
                  <c:v>7082</c:v>
                </c:pt>
                <c:pt idx="215">
                  <c:v>6726</c:v>
                </c:pt>
                <c:pt idx="216">
                  <c:v>6661</c:v>
                </c:pt>
                <c:pt idx="217">
                  <c:v>6828</c:v>
                </c:pt>
                <c:pt idx="218">
                  <c:v>6901</c:v>
                </c:pt>
                <c:pt idx="219">
                  <c:v>7086</c:v>
                </c:pt>
                <c:pt idx="220">
                  <c:v>7898</c:v>
                </c:pt>
                <c:pt idx="221">
                  <c:v>7153</c:v>
                </c:pt>
                <c:pt idx="222">
                  <c:v>6599</c:v>
                </c:pt>
                <c:pt idx="223">
                  <c:v>6592</c:v>
                </c:pt>
                <c:pt idx="224">
                  <c:v>7230</c:v>
                </c:pt>
                <c:pt idx="225">
                  <c:v>7150</c:v>
                </c:pt>
                <c:pt idx="226">
                  <c:v>7185</c:v>
                </c:pt>
                <c:pt idx="227">
                  <c:v>7832</c:v>
                </c:pt>
                <c:pt idx="228">
                  <c:v>7197</c:v>
                </c:pt>
                <c:pt idx="229">
                  <c:v>6874</c:v>
                </c:pt>
                <c:pt idx="230">
                  <c:v>6641</c:v>
                </c:pt>
                <c:pt idx="231">
                  <c:v>6988</c:v>
                </c:pt>
                <c:pt idx="232">
                  <c:v>7001</c:v>
                </c:pt>
                <c:pt idx="233">
                  <c:v>7183</c:v>
                </c:pt>
                <c:pt idx="234">
                  <c:v>7719</c:v>
                </c:pt>
                <c:pt idx="235">
                  <c:v>7010</c:v>
                </c:pt>
                <c:pt idx="236">
                  <c:v>6618</c:v>
                </c:pt>
                <c:pt idx="237">
                  <c:v>6583</c:v>
                </c:pt>
                <c:pt idx="238">
                  <c:v>6974</c:v>
                </c:pt>
                <c:pt idx="239">
                  <c:v>6901</c:v>
                </c:pt>
                <c:pt idx="240">
                  <c:v>6882</c:v>
                </c:pt>
                <c:pt idx="241">
                  <c:v>7494</c:v>
                </c:pt>
                <c:pt idx="242">
                  <c:v>6916</c:v>
                </c:pt>
                <c:pt idx="243">
                  <c:v>6312</c:v>
                </c:pt>
                <c:pt idx="244">
                  <c:v>6324</c:v>
                </c:pt>
                <c:pt idx="245">
                  <c:v>6587</c:v>
                </c:pt>
                <c:pt idx="246">
                  <c:v>6684</c:v>
                </c:pt>
                <c:pt idx="247">
                  <c:v>6783</c:v>
                </c:pt>
                <c:pt idx="248">
                  <c:v>7269</c:v>
                </c:pt>
                <c:pt idx="249">
                  <c:v>6827</c:v>
                </c:pt>
                <c:pt idx="250">
                  <c:v>6373</c:v>
                </c:pt>
                <c:pt idx="251">
                  <c:v>6717</c:v>
                </c:pt>
                <c:pt idx="252">
                  <c:v>6352</c:v>
                </c:pt>
                <c:pt idx="253">
                  <c:v>6500</c:v>
                </c:pt>
                <c:pt idx="254">
                  <c:v>6786</c:v>
                </c:pt>
                <c:pt idx="255">
                  <c:v>6946</c:v>
                </c:pt>
                <c:pt idx="256">
                  <c:v>6722</c:v>
                </c:pt>
                <c:pt idx="257">
                  <c:v>6290</c:v>
                </c:pt>
                <c:pt idx="258">
                  <c:v>6403</c:v>
                </c:pt>
                <c:pt idx="259">
                  <c:v>6865</c:v>
                </c:pt>
                <c:pt idx="260">
                  <c:v>6460</c:v>
                </c:pt>
                <c:pt idx="261">
                  <c:v>7002</c:v>
                </c:pt>
                <c:pt idx="262">
                  <c:v>7423</c:v>
                </c:pt>
                <c:pt idx="263">
                  <c:v>7022</c:v>
                </c:pt>
                <c:pt idx="264">
                  <c:v>6322</c:v>
                </c:pt>
                <c:pt idx="265">
                  <c:v>6634</c:v>
                </c:pt>
                <c:pt idx="266">
                  <c:v>4992</c:v>
                </c:pt>
                <c:pt idx="267">
                  <c:v>4286</c:v>
                </c:pt>
                <c:pt idx="268">
                  <c:v>5002</c:v>
                </c:pt>
                <c:pt idx="269">
                  <c:v>5916</c:v>
                </c:pt>
                <c:pt idx="270">
                  <c:v>4870</c:v>
                </c:pt>
                <c:pt idx="271">
                  <c:v>4716</c:v>
                </c:pt>
                <c:pt idx="272">
                  <c:v>4794</c:v>
                </c:pt>
                <c:pt idx="273">
                  <c:v>8220</c:v>
                </c:pt>
                <c:pt idx="274">
                  <c:v>8021</c:v>
                </c:pt>
                <c:pt idx="275">
                  <c:v>8092</c:v>
                </c:pt>
                <c:pt idx="276">
                  <c:v>8058</c:v>
                </c:pt>
                <c:pt idx="277">
                  <c:v>7465</c:v>
                </c:pt>
                <c:pt idx="278">
                  <c:v>5898</c:v>
                </c:pt>
                <c:pt idx="279">
                  <c:v>5734</c:v>
                </c:pt>
                <c:pt idx="280">
                  <c:v>6912</c:v>
                </c:pt>
                <c:pt idx="281">
                  <c:v>6701</c:v>
                </c:pt>
                <c:pt idx="282">
                  <c:v>7074</c:v>
                </c:pt>
                <c:pt idx="283">
                  <c:v>7091</c:v>
                </c:pt>
                <c:pt idx="284">
                  <c:v>7067</c:v>
                </c:pt>
                <c:pt idx="285">
                  <c:v>6546</c:v>
                </c:pt>
                <c:pt idx="286">
                  <c:v>6575</c:v>
                </c:pt>
                <c:pt idx="287">
                  <c:v>7279</c:v>
                </c:pt>
                <c:pt idx="288">
                  <c:v>7220</c:v>
                </c:pt>
                <c:pt idx="289">
                  <c:v>7357</c:v>
                </c:pt>
                <c:pt idx="290">
                  <c:v>8080</c:v>
                </c:pt>
                <c:pt idx="291">
                  <c:v>7442</c:v>
                </c:pt>
                <c:pt idx="292">
                  <c:v>6684</c:v>
                </c:pt>
                <c:pt idx="293">
                  <c:v>6772</c:v>
                </c:pt>
                <c:pt idx="294">
                  <c:v>6948</c:v>
                </c:pt>
                <c:pt idx="295">
                  <c:v>6962</c:v>
                </c:pt>
                <c:pt idx="296">
                  <c:v>7249</c:v>
                </c:pt>
                <c:pt idx="297">
                  <c:v>8204</c:v>
                </c:pt>
                <c:pt idx="298">
                  <c:v>7347</c:v>
                </c:pt>
                <c:pt idx="299">
                  <c:v>6971</c:v>
                </c:pt>
                <c:pt idx="300">
                  <c:v>6727</c:v>
                </c:pt>
                <c:pt idx="301">
                  <c:v>6892</c:v>
                </c:pt>
                <c:pt idx="302">
                  <c:v>6837</c:v>
                </c:pt>
                <c:pt idx="303">
                  <c:v>7102</c:v>
                </c:pt>
                <c:pt idx="304">
                  <c:v>7671</c:v>
                </c:pt>
                <c:pt idx="305">
                  <c:v>7043</c:v>
                </c:pt>
                <c:pt idx="306">
                  <c:v>6752</c:v>
                </c:pt>
                <c:pt idx="307">
                  <c:v>6835</c:v>
                </c:pt>
                <c:pt idx="308">
                  <c:v>6572</c:v>
                </c:pt>
                <c:pt idx="309">
                  <c:v>6731</c:v>
                </c:pt>
                <c:pt idx="310">
                  <c:v>7105</c:v>
                </c:pt>
                <c:pt idx="311">
                  <c:v>7851</c:v>
                </c:pt>
                <c:pt idx="312">
                  <c:v>7216</c:v>
                </c:pt>
                <c:pt idx="313">
                  <c:v>6692</c:v>
                </c:pt>
                <c:pt idx="314">
                  <c:v>7142</c:v>
                </c:pt>
                <c:pt idx="315">
                  <c:v>6723</c:v>
                </c:pt>
                <c:pt idx="316">
                  <c:v>6882</c:v>
                </c:pt>
                <c:pt idx="317">
                  <c:v>7135</c:v>
                </c:pt>
                <c:pt idx="318">
                  <c:v>7737</c:v>
                </c:pt>
                <c:pt idx="319">
                  <c:v>7080</c:v>
                </c:pt>
                <c:pt idx="320">
                  <c:v>6787</c:v>
                </c:pt>
                <c:pt idx="321">
                  <c:v>6768</c:v>
                </c:pt>
                <c:pt idx="322">
                  <c:v>6938</c:v>
                </c:pt>
                <c:pt idx="323">
                  <c:v>6945</c:v>
                </c:pt>
                <c:pt idx="324">
                  <c:v>7101</c:v>
                </c:pt>
                <c:pt idx="325">
                  <c:v>7780</c:v>
                </c:pt>
                <c:pt idx="326">
                  <c:v>7107</c:v>
                </c:pt>
                <c:pt idx="327">
                  <c:v>6603</c:v>
                </c:pt>
                <c:pt idx="328">
                  <c:v>6757</c:v>
                </c:pt>
                <c:pt idx="329">
                  <c:v>6856</c:v>
                </c:pt>
                <c:pt idx="330">
                  <c:v>6953</c:v>
                </c:pt>
                <c:pt idx="331">
                  <c:v>7317</c:v>
                </c:pt>
                <c:pt idx="332">
                  <c:v>8022</c:v>
                </c:pt>
                <c:pt idx="333">
                  <c:v>7384</c:v>
                </c:pt>
                <c:pt idx="334">
                  <c:v>6699</c:v>
                </c:pt>
                <c:pt idx="335">
                  <c:v>6858</c:v>
                </c:pt>
                <c:pt idx="336">
                  <c:v>6813</c:v>
                </c:pt>
                <c:pt idx="337">
                  <c:v>6845</c:v>
                </c:pt>
                <c:pt idx="338">
                  <c:v>7000</c:v>
                </c:pt>
                <c:pt idx="339">
                  <c:v>7599</c:v>
                </c:pt>
                <c:pt idx="340">
                  <c:v>7141</c:v>
                </c:pt>
                <c:pt idx="341">
                  <c:v>6662</c:v>
                </c:pt>
                <c:pt idx="342">
                  <c:v>6798</c:v>
                </c:pt>
                <c:pt idx="343">
                  <c:v>7116</c:v>
                </c:pt>
                <c:pt idx="344">
                  <c:v>6982</c:v>
                </c:pt>
                <c:pt idx="345">
                  <c:v>7249</c:v>
                </c:pt>
                <c:pt idx="346">
                  <c:v>7714</c:v>
                </c:pt>
                <c:pt idx="347">
                  <c:v>7126</c:v>
                </c:pt>
                <c:pt idx="348">
                  <c:v>6623</c:v>
                </c:pt>
                <c:pt idx="349">
                  <c:v>6652</c:v>
                </c:pt>
                <c:pt idx="350">
                  <c:v>6889</c:v>
                </c:pt>
                <c:pt idx="351">
                  <c:v>6961</c:v>
                </c:pt>
                <c:pt idx="352">
                  <c:v>7202</c:v>
                </c:pt>
                <c:pt idx="353">
                  <c:v>7675</c:v>
                </c:pt>
                <c:pt idx="354">
                  <c:v>7046</c:v>
                </c:pt>
                <c:pt idx="355">
                  <c:v>6567</c:v>
                </c:pt>
                <c:pt idx="356">
                  <c:v>6692</c:v>
                </c:pt>
                <c:pt idx="357">
                  <c:v>7393</c:v>
                </c:pt>
                <c:pt idx="358">
                  <c:v>7371</c:v>
                </c:pt>
                <c:pt idx="359">
                  <c:v>7495</c:v>
                </c:pt>
                <c:pt idx="360">
                  <c:v>7920</c:v>
                </c:pt>
                <c:pt idx="361">
                  <c:v>7398</c:v>
                </c:pt>
                <c:pt idx="362">
                  <c:v>6901</c:v>
                </c:pt>
                <c:pt idx="363">
                  <c:v>7086</c:v>
                </c:pt>
                <c:pt idx="364">
                  <c:v>7060</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900" b="0" i="0" u="none" strike="noStrike">
                <a:solidFill>
                  <a:srgbClr val="5F7183"/>
                </a:solidFill>
                <a:latin typeface="Calibri"/>
              </a:defRPr>
            </a:pPr>
            <a:endParaRPr lang="en-US"/>
          </a:p>
        </c:txPr>
        <c:crossAx val="2094734552"/>
        <c:crosses val="autoZero"/>
        <c:auto val="1"/>
        <c:lblAlgn val="ctr"/>
        <c:noMultiLvlLbl val="1"/>
        <c:tickLblSkip val="30"/>
      </c:catAx>
      <c:valAx>
        <c:axId val="2094734552"/>
        <c:scaling>
          <c:orientation val="minMax"/>
          <c:min val="0"/>
        </c:scaling>
        <c:delete val="0"/>
        <c:axPos val="l"/>
        <c:majorGridlines>
          <c:spPr>
            <a:ln w="1270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7183"/>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c:v>
                </c:pt>
              </c:strCache>
            </c:strRef>
          </c:tx>
          <c:spPr>
            <a:solidFill>
              <a:srgbClr val="0F2942"/>
            </a:solidFill>
            <a:ln w="38100" cap="flat">
              <a:solidFill>
                <a:srgbClr val="0F294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2942"/>
              </a:solidFill>
              <a:ln w="9525" cap="flat">
                <a:solidFill>
                  <a:srgbClr val="0F2942"/>
                </a:solidFill>
                <a:prstDash val="solid"/>
                <a:round/>
              </a:ln>
              <a:effectLst/>
            </c:spPr>
          </c:marker>
          <c:cat>
            <c:multiLvlStrRef>
              <c:f>Sheet1!$A$2:$A$22</c:f>
              <c:multiLvlStrCache>
                <c:ptCount val="21"/>
                <c:lvl>
                  <c:pt idx="0">
                    <c:v>15 Sep</c:v>
                  </c:pt>
                  <c:pt idx="1">
                    <c:v>16 Sep</c:v>
                  </c:pt>
                  <c:pt idx="2">
                    <c:v>17 Sep</c:v>
                  </c:pt>
                  <c:pt idx="3">
                    <c:v>18 Sep</c:v>
                  </c:pt>
                  <c:pt idx="4">
                    <c:v>19 Sep</c:v>
                  </c:pt>
                  <c:pt idx="5">
                    <c:v>20 Sep</c:v>
                  </c:pt>
                  <c:pt idx="6">
                    <c:v>21 Sep</c:v>
                  </c:pt>
                  <c:pt idx="7">
                    <c:v>22 Sep</c:v>
                  </c:pt>
                  <c:pt idx="8">
                    <c:v>23 Sep</c:v>
                  </c:pt>
                  <c:pt idx="9">
                    <c:v>24 Sep</c:v>
                  </c:pt>
                  <c:pt idx="10">
                    <c:v>25 Sep</c:v>
                  </c:pt>
                  <c:pt idx="11">
                    <c:v>26 Sep</c:v>
                  </c:pt>
                  <c:pt idx="12">
                    <c:v>27 Sep</c:v>
                  </c:pt>
                  <c:pt idx="13">
                    <c:v>28 Sep</c:v>
                  </c:pt>
                  <c:pt idx="14">
                    <c:v>29 Sep</c:v>
                  </c:pt>
                  <c:pt idx="15">
                    <c:v>30 Sep</c:v>
                  </c:pt>
                  <c:pt idx="16">
                    <c:v>01 Oct</c:v>
                  </c:pt>
                  <c:pt idx="17">
                    <c:v>02 Oct</c:v>
                  </c:pt>
                  <c:pt idx="18">
                    <c:v>03 Oct</c:v>
                  </c:pt>
                  <c:pt idx="19">
                    <c:v>04 Oct</c:v>
                  </c:pt>
                  <c:pt idx="20">
                    <c:v>05 Oct</c:v>
                  </c:pt>
                </c:lvl>
              </c:multiLvlStrCache>
            </c:multiLvlStrRef>
          </c:cat>
          <c:val>
            <c:numRef>
              <c:f>Sheet1!$B$2:$B$22</c:f>
              <c:numCache>
                <c:formatCode>General</c:formatCode>
                <c:ptCount val="21"/>
                <c:pt idx="0">
                  <c:v>6667</c:v>
                </c:pt>
                <c:pt idx="1">
                  <c:v>6834</c:v>
                </c:pt>
                <c:pt idx="2">
                  <c:v>7028</c:v>
                </c:pt>
                <c:pt idx="3">
                  <c:v>7349</c:v>
                </c:pt>
                <c:pt idx="4">
                  <c:v>7520</c:v>
                </c:pt>
                <c:pt idx="5">
                  <c:v>8087</c:v>
                </c:pt>
                <c:pt idx="6">
                  <c:v>7094</c:v>
                </c:pt>
                <c:pt idx="7">
                  <c:v>6292</c:v>
                </c:pt>
                <c:pt idx="8">
                  <c:v>1295</c:v>
                </c:pt>
                <c:pt idx="9">
                  <c:v>879</c:v>
                </c:pt>
                <c:pt idx="10">
                  <c:v>6184</c:v>
                </c:pt>
                <c:pt idx="11">
                  <c:v>6833</c:v>
                </c:pt>
                <c:pt idx="12">
                  <c:v>7721</c:v>
                </c:pt>
                <c:pt idx="13">
                  <c:v>6911</c:v>
                </c:pt>
                <c:pt idx="14">
                  <c:v>6653</c:v>
                </c:pt>
                <c:pt idx="15">
                  <c:v>7176</c:v>
                </c:pt>
                <c:pt idx="16">
                  <c:v>8165</c:v>
                </c:pt>
                <c:pt idx="17">
                  <c:v>8537</c:v>
                </c:pt>
                <c:pt idx="18">
                  <c:v>8428</c:v>
                </c:pt>
                <c:pt idx="19">
                  <c:v>7964</c:v>
                </c:pt>
                <c:pt idx="20">
                  <c:v>7425</c:v>
                </c:pt>
              </c:numCache>
            </c:numRef>
          </c:val>
          <c:smooth val="0"/>
        </c:ser>
        <c:ser>
          <c:idx val="1"/>
          <c:order val="1"/>
          <c:tx>
            <c:strRef>
              <c:f>Sheet1!$C$1</c:f>
              <c:strCache>
                <c:ptCount val="1"/>
                <c:pt idx="0">
                  <c:v>forecast</c:v>
                </c:pt>
              </c:strCache>
            </c:strRef>
          </c:tx>
          <c:spPr>
            <a:solidFill>
              <a:srgbClr val="2E8BA8"/>
            </a:solidFill>
            <a:ln w="38100" cap="flat">
              <a:solidFill>
                <a:srgbClr val="2E8B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8BA8"/>
              </a:solidFill>
              <a:ln w="9525" cap="flat">
                <a:solidFill>
                  <a:srgbClr val="2E8BA8"/>
                </a:solidFill>
                <a:prstDash val="solid"/>
                <a:round/>
              </a:ln>
              <a:effectLst/>
            </c:spPr>
          </c:marker>
          <c:cat>
            <c:multiLvlStrRef>
              <c:f>Sheet1!$A$2:$A$22</c:f>
              <c:multiLvlStrCache>
                <c:ptCount val="21"/>
                <c:lvl>
                  <c:pt idx="0">
                    <c:v>15 Sep</c:v>
                  </c:pt>
                  <c:pt idx="1">
                    <c:v>16 Sep</c:v>
                  </c:pt>
                  <c:pt idx="2">
                    <c:v>17 Sep</c:v>
                  </c:pt>
                  <c:pt idx="3">
                    <c:v>18 Sep</c:v>
                  </c:pt>
                  <c:pt idx="4">
                    <c:v>19 Sep</c:v>
                  </c:pt>
                  <c:pt idx="5">
                    <c:v>20 Sep</c:v>
                  </c:pt>
                  <c:pt idx="6">
                    <c:v>21 Sep</c:v>
                  </c:pt>
                  <c:pt idx="7">
                    <c:v>22 Sep</c:v>
                  </c:pt>
                  <c:pt idx="8">
                    <c:v>23 Sep</c:v>
                  </c:pt>
                  <c:pt idx="9">
                    <c:v>24 Sep</c:v>
                  </c:pt>
                  <c:pt idx="10">
                    <c:v>25 Sep</c:v>
                  </c:pt>
                  <c:pt idx="11">
                    <c:v>26 Sep</c:v>
                  </c:pt>
                  <c:pt idx="12">
                    <c:v>27 Sep</c:v>
                  </c:pt>
                  <c:pt idx="13">
                    <c:v>28 Sep</c:v>
                  </c:pt>
                  <c:pt idx="14">
                    <c:v>29 Sep</c:v>
                  </c:pt>
                  <c:pt idx="15">
                    <c:v>30 Sep</c:v>
                  </c:pt>
                  <c:pt idx="16">
                    <c:v>01 Oct</c:v>
                  </c:pt>
                  <c:pt idx="17">
                    <c:v>02 Oct</c:v>
                  </c:pt>
                  <c:pt idx="18">
                    <c:v>03 Oct</c:v>
                  </c:pt>
                  <c:pt idx="19">
                    <c:v>04 Oct</c:v>
                  </c:pt>
                  <c:pt idx="20">
                    <c:v>05 Oct</c:v>
                  </c:pt>
                </c:lvl>
              </c:multiLvlStrCache>
            </c:multiLvlStrRef>
          </c:cat>
          <c:val>
            <c:numRef>
              <c:f>Sheet1!$C$2:$C$22</c:f>
              <c:numCache>
                <c:formatCode>General</c:formatCode>
                <c:ptCount val="21"/>
                <c:pt idx="0">
                  <c:v>6290</c:v>
                </c:pt>
                <c:pt idx="1">
                  <c:v>6403</c:v>
                </c:pt>
                <c:pt idx="2">
                  <c:v>6865</c:v>
                </c:pt>
                <c:pt idx="3">
                  <c:v>6460</c:v>
                </c:pt>
                <c:pt idx="4">
                  <c:v>7002</c:v>
                </c:pt>
                <c:pt idx="5">
                  <c:v>7423</c:v>
                </c:pt>
                <c:pt idx="6">
                  <c:v>7022</c:v>
                </c:pt>
                <c:pt idx="7">
                  <c:v>6322</c:v>
                </c:pt>
                <c:pt idx="8">
                  <c:v>6634</c:v>
                </c:pt>
                <c:pt idx="9">
                  <c:v>4992</c:v>
                </c:pt>
                <c:pt idx="10">
                  <c:v>4286</c:v>
                </c:pt>
                <c:pt idx="11">
                  <c:v>5002</c:v>
                </c:pt>
                <c:pt idx="12">
                  <c:v>5916</c:v>
                </c:pt>
                <c:pt idx="13">
                  <c:v>4870</c:v>
                </c:pt>
                <c:pt idx="14">
                  <c:v>4716</c:v>
                </c:pt>
                <c:pt idx="15">
                  <c:v>4794</c:v>
                </c:pt>
                <c:pt idx="16">
                  <c:v>8220</c:v>
                </c:pt>
                <c:pt idx="17">
                  <c:v>8021</c:v>
                </c:pt>
                <c:pt idx="18">
                  <c:v>8092</c:v>
                </c:pt>
                <c:pt idx="19">
                  <c:v>8058</c:v>
                </c:pt>
                <c:pt idx="20">
                  <c:v>7465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900" b="0" i="0" u="none" strike="noStrike">
                <a:solidFill>
                  <a:srgbClr val="5F7183"/>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7183"/>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Share</c:v>
                </c:pt>
              </c:strCache>
            </c:strRef>
          </c:tx>
          <c:spPr>
            <a:solidFill>
              <a:schemeClr val="accent1"/>
            </a:solidFill>
            <a:ln w="9525" cap="flat">
              <a:solidFill>
                <a:srgbClr val="F9F9F9"/>
              </a:solidFill>
              <a:prstDash val="solid"/>
              <a:round/>
            </a:ln>
            <a:effectLst/>
          </c:spPr>
          <c:dPt>
            <c:idx val="0"/>
            <c:bubble3D val="0"/>
            <c:spPr>
              <a:solidFill>
                <a:srgbClr val="E8B547"/>
              </a:solidFill>
              <a:effectLst/>
            </c:spPr>
          </c:dPt>
          <c:dPt>
            <c:idx val="1"/>
            <c:bubble3D val="0"/>
            <c:spPr>
              <a:solidFill>
                <a:srgbClr val="2E8BA8"/>
              </a:solidFill>
              <a:effectLst/>
            </c:spPr>
          </c:dPt>
          <c:dPt>
            <c:idx val="2"/>
            <c:bubble3D val="0"/>
            <c:spPr>
              <a:solidFill>
                <a:srgbClr val="0F2942"/>
              </a:solidFill>
              <a:effectLst/>
            </c:spPr>
          </c:dPt>
          <c:dPt>
            <c:idx val="3"/>
            <c:bubble3D val="0"/>
            <c:spPr>
              <a:solidFill>
                <a:srgbClr val="C3CDD6"/>
              </a:solidFill>
              <a:effectLst/>
            </c:spPr>
          </c:dPt>
          <c:dLbls>
            <c:dLbl>
              <c:idx val="0"/>
              <c:numFmt formatCode="0&quot;%&quot;"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dLbl>
              <c:idx val="3"/>
              <c:numFmt formatCode="0&quot;%&quot;"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Holidays</c:v>
                </c:pt>
                <c:pt idx="1">
                  <c:v>Recent history</c:v>
                </c:pt>
                <c:pt idx="2">
                  <c:v>Calendar</c:v>
                </c:pt>
                <c:pt idx="3">
                  <c:v>Everything else</c:v>
                </c:pt>
              </c:strCache>
            </c:strRef>
          </c:cat>
          <c:val>
            <c:numRef>
              <c:f>Sheet1!$B$2:$B$5</c:f>
              <c:numCache>
                <c:ptCount val="4"/>
                <c:pt idx="0">
                  <c:v>47</c:v>
                </c:pt>
                <c:pt idx="1">
                  <c:v>15</c:v>
                </c:pt>
                <c:pt idx="2">
                  <c:v>12</c:v>
                </c:pt>
                <c:pt idx="3">
                  <c:v>26</c:v>
                </c:pt>
              </c:numCache>
            </c:numRef>
          </c:val>
        </c:ser>
        <c:firstSliceAng val="0"/>
        <c:holeSize val="52"/>
      </c:doughnutChart>
      <c:spPr>
        <a:noFill/>
        <a:ln>
          <a:noFill/>
        </a:ln>
        <a:effectLst/>
      </c:spPr>
    </c:plotArea>
    <c:legend>
      <c:legendPos val="b"/>
      <c:overlay val="0"/>
      <c:txPr>
        <a:bodyPr/>
        <a:lstStyle/>
        <a:p>
          <a:pPr>
            <a:defRPr sz="12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 demand</c:v>
                </c:pt>
              </c:strCache>
            </c:strRef>
          </c:tx>
          <c:spPr>
            <a:solidFill>
              <a:srgbClr val="0F2942"/>
            </a:solidFill>
            <a:ln w="38100" cap="flat">
              <a:solidFill>
                <a:srgbClr val="0F294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2942"/>
              </a:solidFill>
              <a:ln w="9525" cap="flat">
                <a:solidFill>
                  <a:srgbClr val="0F2942"/>
                </a:solidFill>
                <a:prstDash val="solid"/>
                <a:round/>
              </a:ln>
              <a:effectLst/>
            </c:spPr>
          </c:marker>
          <c:cat>
            <c:multiLvlStrRef>
              <c:f>Sheet1!$A$2:$A$23</c:f>
              <c:multiLvlStrCache>
                <c:ptCount val="22"/>
                <c:lvl>
                  <c:pt idx="0">
                    <c:v>Jan 18</c:v>
                  </c:pt>
                  <c:pt idx="1">
                    <c:v>Jan 19</c:v>
                  </c:pt>
                  <c:pt idx="2">
                    <c:v>Jan 20</c:v>
                  </c:pt>
                  <c:pt idx="3">
                    <c:v>Jan 21</c:v>
                  </c:pt>
                  <c:pt idx="4">
                    <c:v>Jan 22</c:v>
                  </c:pt>
                  <c:pt idx="5">
                    <c:v>Jan 23</c:v>
                  </c:pt>
                  <c:pt idx="6">
                    <c:v>Jan 24</c:v>
                  </c:pt>
                  <c:pt idx="7">
                    <c:v>Jan 25</c:v>
                  </c:pt>
                  <c:pt idx="8">
                    <c:v>Jan 26</c:v>
                  </c:pt>
                  <c:pt idx="9">
                    <c:v>Jan 27</c:v>
                  </c:pt>
                  <c:pt idx="10">
                    <c:v>Jan 28</c:v>
                  </c:pt>
                  <c:pt idx="11">
                    <c:v>Jan 29</c:v>
                  </c:pt>
                  <c:pt idx="12">
                    <c:v>Jan 30</c:v>
                  </c:pt>
                  <c:pt idx="13">
                    <c:v>Jan 31</c:v>
                  </c:pt>
                  <c:pt idx="14">
                    <c:v>Feb 01</c:v>
                  </c:pt>
                  <c:pt idx="15">
                    <c:v>Feb 02</c:v>
                  </c:pt>
                  <c:pt idx="16">
                    <c:v>Feb 03</c:v>
                  </c:pt>
                  <c:pt idx="17">
                    <c:v>Feb 04</c:v>
                  </c:pt>
                  <c:pt idx="18">
                    <c:v>Feb 05</c:v>
                  </c:pt>
                  <c:pt idx="19">
                    <c:v>Feb 06</c:v>
                  </c:pt>
                  <c:pt idx="20">
                    <c:v>Feb 07</c:v>
                  </c:pt>
                  <c:pt idx="21">
                    <c:v>Feb 08</c:v>
                  </c:pt>
                </c:lvl>
              </c:multiLvlStrCache>
            </c:multiLvlStrRef>
          </c:cat>
          <c:val>
            <c:numRef>
              <c:f>Sheet1!$B$2:$B$23</c:f>
              <c:numCache>
                <c:formatCode>General</c:formatCode>
                <c:ptCount val="22"/>
                <c:pt idx="0">
                  <c:v>7652</c:v>
                </c:pt>
                <c:pt idx="1">
                  <c:v>6955</c:v>
                </c:pt>
                <c:pt idx="2">
                  <c:v>6102</c:v>
                </c:pt>
                <c:pt idx="3">
                  <c:v>6130</c:v>
                </c:pt>
                <c:pt idx="4">
                  <c:v>5976</c:v>
                </c:pt>
                <c:pt idx="5">
                  <c:v>6206</c:v>
                </c:pt>
                <c:pt idx="6">
                  <c:v>5946</c:v>
                </c:pt>
                <c:pt idx="7">
                  <c:v>5480</c:v>
                </c:pt>
                <c:pt idx="8">
                  <c:v>4576</c:v>
                </c:pt>
                <c:pt idx="9">
                  <c:v>3619</c:v>
                </c:pt>
                <c:pt idx="10">
                  <c:v>3331</c:v>
                </c:pt>
                <c:pt idx="11">
                  <c:v>5335</c:v>
                </c:pt>
                <c:pt idx="12">
                  <c:v>6264</c:v>
                </c:pt>
                <c:pt idx="13">
                  <c:v>7252</c:v>
                </c:pt>
                <c:pt idx="14">
                  <c:v>7756</c:v>
                </c:pt>
                <c:pt idx="15">
                  <c:v>7727</c:v>
                </c:pt>
                <c:pt idx="16">
                  <c:v>7545</c:v>
                </c:pt>
                <c:pt idx="17">
                  <c:v>7642</c:v>
                </c:pt>
                <c:pt idx="18">
                  <c:v>7150</c:v>
                </c:pt>
                <c:pt idx="19">
                  <c:v>6869</c:v>
                </c:pt>
                <c:pt idx="20">
                  <c:v>7305</c:v>
                </c:pt>
                <c:pt idx="21">
                  <c:v>7294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900" b="0" i="0" u="none" strike="noStrike">
                <a:solidFill>
                  <a:srgbClr val="5F7183"/>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718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the model's guess, after this many trees</c:v>
                </c:pt>
              </c:strCache>
            </c:strRef>
          </c:tx>
          <c:spPr>
            <a:solidFill>
              <a:srgbClr val="2E8BA8"/>
            </a:solidFill>
            <a:ln w="38100" cap="flat">
              <a:solidFill>
                <a:srgbClr val="2E8B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8BA8"/>
              </a:solidFill>
              <a:ln w="9525" cap="flat">
                <a:solidFill>
                  <a:srgbClr val="2E8BA8"/>
                </a:solidFill>
                <a:prstDash val="solid"/>
                <a:round/>
              </a:ln>
              <a:effectLst/>
            </c:spPr>
          </c:marker>
          <c:cat>
            <c:multiLvlStrRef>
              <c:f>Sheet1!$A$2:$A$14</c:f>
              <c:multiLvlStrCache>
                <c:ptCount val="13"/>
                <c:lvl>
                  <c:pt idx="0">
                    <c:v>1</c:v>
                  </c:pt>
                  <c:pt idx="1">
                    <c:v>2</c:v>
                  </c:pt>
                  <c:pt idx="2">
                    <c:v>3</c:v>
                  </c:pt>
                  <c:pt idx="3">
                    <c:v>5</c:v>
                  </c:pt>
                  <c:pt idx="4">
                    <c:v>8</c:v>
                  </c:pt>
                  <c:pt idx="5">
                    <c:v>12</c:v>
                  </c:pt>
                  <c:pt idx="6">
                    <c:v>20</c:v>
                  </c:pt>
                  <c:pt idx="7">
                    <c:v>35</c:v>
                  </c:pt>
                  <c:pt idx="8">
                    <c:v>60</c:v>
                  </c:pt>
                  <c:pt idx="9">
                    <c:v>100</c:v>
                  </c:pt>
                  <c:pt idx="10">
                    <c:v>175</c:v>
                  </c:pt>
                  <c:pt idx="11">
                    <c:v>300</c:v>
                  </c:pt>
                  <c:pt idx="12">
                    <c:v>500</c:v>
                  </c:pt>
                </c:lvl>
              </c:multiLvlStrCache>
            </c:multiLvlStrRef>
          </c:cat>
          <c:val>
            <c:numRef>
              <c:f>Sheet1!$B$2:$B$14</c:f>
              <c:numCache>
                <c:formatCode>General</c:formatCode>
                <c:ptCount val="13"/>
                <c:pt idx="0">
                  <c:v>6025</c:v>
                </c:pt>
                <c:pt idx="1">
                  <c:v>6042</c:v>
                </c:pt>
                <c:pt idx="2">
                  <c:v>6058</c:v>
                </c:pt>
                <c:pt idx="3">
                  <c:v>6080</c:v>
                </c:pt>
                <c:pt idx="4">
                  <c:v>6124</c:v>
                </c:pt>
                <c:pt idx="5">
                  <c:v>6179</c:v>
                </c:pt>
                <c:pt idx="6">
                  <c:v>6257</c:v>
                </c:pt>
                <c:pt idx="7">
                  <c:v>6391</c:v>
                </c:pt>
                <c:pt idx="8">
                  <c:v>6557</c:v>
                </c:pt>
                <c:pt idx="9">
                  <c:v>6704</c:v>
                </c:pt>
                <c:pt idx="10">
                  <c:v>6826</c:v>
                </c:pt>
                <c:pt idx="11">
                  <c:v>6818</c:v>
                </c:pt>
                <c:pt idx="12">
                  <c:v>6791</c:v>
                </c:pt>
              </c:numCache>
            </c:numRef>
          </c:val>
          <c:smooth val="1"/>
        </c:ser>
        <c:ser>
          <c:idx val="1"/>
          <c:order val="1"/>
          <c:tx>
            <c:strRef>
              <c:f>Sheet1!$C$1</c:f>
              <c:strCache>
                <c:ptCount val="1"/>
                <c:pt idx="0">
                  <c:v>what actually happened</c:v>
                </c:pt>
              </c:strCache>
            </c:strRef>
          </c:tx>
          <c:spPr>
            <a:solidFill>
              <a:srgbClr val="0F2942"/>
            </a:solidFill>
            <a:ln w="38100" cap="flat">
              <a:solidFill>
                <a:srgbClr val="0F294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2942"/>
              </a:solidFill>
              <a:ln w="9525" cap="flat">
                <a:solidFill>
                  <a:srgbClr val="0F2942"/>
                </a:solidFill>
                <a:prstDash val="solid"/>
                <a:round/>
              </a:ln>
              <a:effectLst/>
            </c:spPr>
          </c:marker>
          <c:cat>
            <c:multiLvlStrRef>
              <c:f>Sheet1!$A$2:$A$14</c:f>
              <c:multiLvlStrCache>
                <c:ptCount val="13"/>
                <c:lvl>
                  <c:pt idx="0">
                    <c:v>1</c:v>
                  </c:pt>
                  <c:pt idx="1">
                    <c:v>2</c:v>
                  </c:pt>
                  <c:pt idx="2">
                    <c:v>3</c:v>
                  </c:pt>
                  <c:pt idx="3">
                    <c:v>5</c:v>
                  </c:pt>
                  <c:pt idx="4">
                    <c:v>8</c:v>
                  </c:pt>
                  <c:pt idx="5">
                    <c:v>12</c:v>
                  </c:pt>
                  <c:pt idx="6">
                    <c:v>20</c:v>
                  </c:pt>
                  <c:pt idx="7">
                    <c:v>35</c:v>
                  </c:pt>
                  <c:pt idx="8">
                    <c:v>60</c:v>
                  </c:pt>
                  <c:pt idx="9">
                    <c:v>100</c:v>
                  </c:pt>
                  <c:pt idx="10">
                    <c:v>175</c:v>
                  </c:pt>
                  <c:pt idx="11">
                    <c:v>300</c:v>
                  </c:pt>
                  <c:pt idx="12">
                    <c:v>500</c:v>
                  </c:pt>
                </c:lvl>
              </c:multiLvlStrCache>
            </c:multiLvlStrRef>
          </c:cat>
          <c:val>
            <c:numRef>
              <c:f>Sheet1!$C$2:$C$14</c:f>
              <c:numCache>
                <c:formatCode>General</c:formatCode>
                <c:ptCount val="13"/>
                <c:pt idx="0">
                  <c:v>6993</c:v>
                </c:pt>
                <c:pt idx="1">
                  <c:v>6993</c:v>
                </c:pt>
                <c:pt idx="2">
                  <c:v>6993</c:v>
                </c:pt>
                <c:pt idx="3">
                  <c:v>6993</c:v>
                </c:pt>
                <c:pt idx="4">
                  <c:v>6993</c:v>
                </c:pt>
                <c:pt idx="5">
                  <c:v>6993</c:v>
                </c:pt>
                <c:pt idx="6">
                  <c:v>6993</c:v>
                </c:pt>
                <c:pt idx="7">
                  <c:v>6993</c:v>
                </c:pt>
                <c:pt idx="8">
                  <c:v>6993</c:v>
                </c:pt>
                <c:pt idx="9">
                  <c:v>6993</c:v>
                </c:pt>
                <c:pt idx="10">
                  <c:v>6993</c:v>
                </c:pt>
                <c:pt idx="11">
                  <c:v>6993</c:v>
                </c:pt>
                <c:pt idx="12">
                  <c:v>6993</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F7183"/>
                    </a:solidFill>
                    <a:latin typeface="Arial"/>
                  </a:defRPr>
                </a:pPr>
                <a:r>
                  <a:rPr sz="1100" b="0" i="0" u="none" strike="noStrike">
                    <a:solidFill>
                      <a:srgbClr val="5F7183"/>
                    </a:solidFill>
                    <a:latin typeface="Arial"/>
                  </a:rPr>
                  <a:t>number of trees used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7183"/>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DF2"/>
              </a:solidFill>
              <a:prstDash val="solid"/>
              <a:round/>
            </a:ln>
          </c:spPr>
        </c:majorGridlines>
        <c:title>
          <c:tx>
            <c:rich>
              <a:bodyPr/>
              <a:lstStyle/>
              <a:p>
                <a:pPr>
                  <a:defRPr sz="1100" b="0" i="0" u="none" strike="noStrike">
                    <a:solidFill>
                      <a:srgbClr val="5F7183"/>
                    </a:solidFill>
                    <a:latin typeface="Arial"/>
                  </a:defRPr>
                </a:pPr>
                <a:r>
                  <a:rPr sz="1100" b="0" i="0" u="none" strike="noStrike">
                    <a:solidFill>
                      <a:srgbClr val="5F7183"/>
                    </a:solidFill>
                    <a:latin typeface="Arial"/>
                  </a:rPr>
                  <a:t>predicted patron hours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7183"/>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share of the day's total demand</c:v>
                </c:pt>
              </c:strCache>
            </c:strRef>
          </c:tx>
          <c:spPr>
            <a:solidFill>
              <a:srgbClr val="2E8BA8"/>
            </a:solidFill>
            <a:ln w="38100" cap="flat">
              <a:solidFill>
                <a:srgbClr val="2E8B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8BA8"/>
              </a:solidFill>
              <a:ln w="9525" cap="flat">
                <a:solidFill>
                  <a:srgbClr val="2E8BA8"/>
                </a:solidFill>
                <a:prstDash val="solid"/>
                <a:round/>
              </a:ln>
              <a:effectLst/>
            </c:spPr>
          </c:marker>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150</c:v>
                </c:pt>
                <c:pt idx="1">
                  <c:v>120</c:v>
                </c:pt>
                <c:pt idx="2">
                  <c:v>90</c:v>
                </c:pt>
                <c:pt idx="3">
                  <c:v>65</c:v>
                </c:pt>
                <c:pt idx="4">
                  <c:v>50</c:v>
                </c:pt>
                <c:pt idx="5">
                  <c:v>45</c:v>
                </c:pt>
                <c:pt idx="6">
                  <c:v>50</c:v>
                </c:pt>
                <c:pt idx="7">
                  <c:v>65</c:v>
                </c:pt>
                <c:pt idx="8">
                  <c:v>85</c:v>
                </c:pt>
                <c:pt idx="9">
                  <c:v>105</c:v>
                </c:pt>
                <c:pt idx="10">
                  <c:v>125</c:v>
                </c:pt>
                <c:pt idx="11">
                  <c:v>155</c:v>
                </c:pt>
                <c:pt idx="12">
                  <c:v>195</c:v>
                </c:pt>
                <c:pt idx="13">
                  <c:v>220</c:v>
                </c:pt>
                <c:pt idx="14">
                  <c:v>240</c:v>
                </c:pt>
                <c:pt idx="15">
                  <c:v>260</c:v>
                </c:pt>
                <c:pt idx="16">
                  <c:v>290</c:v>
                </c:pt>
                <c:pt idx="17">
                  <c:v>330</c:v>
                </c:pt>
                <c:pt idx="18">
                  <c:v>380</c:v>
                </c:pt>
                <c:pt idx="19">
                  <c:v>420</c:v>
                </c:pt>
                <c:pt idx="20">
                  <c:v>460</c:v>
                </c:pt>
                <c:pt idx="21">
                  <c:v>490</c:v>
                </c:pt>
                <c:pt idx="22">
                  <c:v>470</c:v>
                </c:pt>
                <c:pt idx="23">
                  <c:v>300</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F7183"/>
                    </a:solidFill>
                    <a:latin typeface="Arial"/>
                  </a:defRPr>
                </a:pPr>
                <a:r>
                  <a:rPr sz="1100" b="0" i="0" u="none" strike="noStrike">
                    <a:solidFill>
                      <a:srgbClr val="5F7183"/>
                    </a:solidFill>
                    <a:latin typeface="Arial"/>
                  </a:rPr>
                  <a:t>hour of day</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7183"/>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E8EDF2"/>
              </a:solidFill>
              <a:prstDash val="solid"/>
              <a:round/>
            </a:ln>
          </c:spPr>
        </c:majorGridlines>
        <c:title>
          <c:tx>
            <c:rich>
              <a:bodyPr/>
              <a:lstStyle/>
              <a:p>
                <a:pPr>
                  <a:defRPr sz="1100" b="0" i="0" u="none" strike="noStrike">
                    <a:solidFill>
                      <a:srgbClr val="5F7183"/>
                    </a:solidFill>
                    <a:latin typeface="Arial"/>
                  </a:defRPr>
                </a:pPr>
                <a:r>
                  <a:rPr sz="1100" b="0" i="0" u="none" strike="noStrike">
                    <a:solidFill>
                      <a:srgbClr val="5F7183"/>
                    </a:solidFill>
                    <a:latin typeface="Arial"/>
                  </a:rPr>
                  <a:t>patron hours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718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about the long_history/ pipeline: a self-contained model trained on 2015-2026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range 2015-01-01 to 2026-05-28 = 4,166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makes the case for the long-history approach using measured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Chinese New Year fell on 29 Jan 2025 but 17 Feb 2026 — a 19-day drift. Lunar holidays move; a fixed 365-day lookback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Regime boundaries confirmed against demand-per-table, not guessed: 2019-12 was 21.2, 2020-02 was 3.8, 2023-01 was 11.7, 2024-01 was 19.4.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EXCLUDE_FROM_TRAINING covers 2020-01-23 to 2022-12-31. Closures detected via floortables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 = 0.5 ^ (days_back / half_life). config.DEFAULT_HALF_LIFE = 1095.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audience remembers one section, make it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Horizon gating: min_safe = horizon + 1, enforced inside core.py.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separate LightGBM models per run, one per forecast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evidence section. Same model, same settings, four different forecast distances.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1. Fixed-lead mode: every point measured at exactly the same forecast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7, rolling window: re-forecasting every 7 days, tiling the period with no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14, rolling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28, rolling window. This is the number to quote for monthly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average miss. Right: the share of days landing within 5% — often the more useful operational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n=148 overlapping days, both from a 7-day-lead rolling-window backtest. Worst single day: long history 19%, short memory 60.4%. Days over 10% off: 10 vs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 lead 7 rolling window. 7.71% all days, 5.33% excluding the two storm days, 4.94% excluding storm plus the six-day recovery.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Tables stayed nominally open (floortables ~285), so the automatic closure detection did NOT catch these days. They must be handled by the manual override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measured by model gain, not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history also adds week-of-year and a regime feature, which are noise on 2 years but learnable on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Tried on Easter, Dragon Boat and Mid-Autumn: made all three worse. CNY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against the chinese_calendar library at run time; the pipeline refuses to run if any anchor fails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Simplified deliberately — the aim is the core idea, not the mathematics.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first split is on rolling_max_14 &lt;= 6708. Trees are capped at depth 5 and 15 leaves to keep each one deliberately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numbers from a lead-7 forecast made on 2026-05-21, trained on 3,084 rows. Produced by long_history/make_model_demo.py.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 trees, learning rate 0.02, max depth 5, 15 leaves. Deliberately small trees so no single one can dominate.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section. Every accuracy claim here is the design's stated hypothesis, not a measured result yet -- long_history/data/raw/hourly_demand.csv does not exist. See the reserved-chart slides' captions.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shape from hourly/sample_hourly_data.csv (a 10-day format reference, not real production history) — used here only to show what an hourly demand curve looks like, not as an accuracy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hourly/analyze.py's TVD decision cascade: TVD&lt;0.05 (+consistent match) -&gt; inherit DOW; TVD&lt;0.10 -&gt; inherit DOW, flagged for review; TVD&gt;=0.10 or inconsistent -&gt; holiday-specific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explicit instruction, this slide states the expected/positive outcome as the design's working hypothesis. It is NOT a measured result -- no real hourly data exists yet. Do not let this slide stand alone without the following reserved-chart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deck_charts.py refuses to produce a trustworthy version of this chart under 30 holdout days, and visibly watermarks any chart built from fewer -- so a mechanism-check chart can never be mistaken for evidence if someone forgets and pastes it here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a holdout day for --run-date so the chart shows an honest, never-seen prediction. Overlay the real actual hourly values by hand until deck_charts.py is extended to read them from hourly_demand.csv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operations and honesty.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 steps: --steps validate | evaluate | forecast. Also experiment, for comparing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interval-coverage problem is a correctness issue, not an accuracy one, but people may be sizing risk off that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single-event-versus-six-events lesson is the most transferable thing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measurement discipline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942"/>
        </a:solidFill>
      </p:bgPr>
    </p:bg>
    <p:spTree>
      <p:nvGrpSpPr>
        <p:cNvPr id="1" name=""/>
        <p:cNvGrpSpPr/>
        <p:nvPr/>
      </p:nvGrpSpPr>
      <p:grpSpPr>
        <a:xfrm>
          <a:off x="0" y="0"/>
          <a:ext cx="0" cy="0"/>
          <a:chOff x="0" y="0"/>
          <a:chExt cx="0" cy="0"/>
        </a:xfrm>
      </p:grpSpPr>
      <p:sp>
        <p:nvSpPr>
          <p:cNvPr id="2" name="Text 0"/>
          <p:cNvSpPr/>
          <p:nvPr/>
        </p:nvSpPr>
        <p:spPr>
          <a:xfrm>
            <a:off x="822960" y="1920240"/>
            <a:ext cx="1060704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The Long-History Forecast Model</a:t>
            </a:r>
            <a:endParaRPr lang="en-US" sz="4600" dirty="0"/>
          </a:p>
        </p:txBody>
      </p:sp>
      <p:sp>
        <p:nvSpPr>
          <p:cNvPr id="3" name="Text 1"/>
          <p:cNvSpPr/>
          <p:nvPr/>
        </p:nvSpPr>
        <p:spPr>
          <a:xfrm>
            <a:off x="868680" y="2880360"/>
            <a:ext cx="10515600" cy="548640"/>
          </a:xfrm>
          <a:prstGeom prst="rect">
            <a:avLst/>
          </a:prstGeom>
          <a:noFill/>
          <a:ln/>
        </p:spPr>
        <p:txBody>
          <a:bodyPr wrap="square" lIns="0" tIns="0" rIns="0" bIns="0" rtlCol="0" anchor="ctr"/>
          <a:lstStyle/>
          <a:p>
            <a:pPr indent="0" marL="0">
              <a:buNone/>
            </a:pPr>
            <a:r>
              <a:rPr lang="en-US" sz="2000" dirty="0">
                <a:solidFill>
                  <a:srgbClr val="E8B547"/>
                </a:solidFill>
                <a:latin typeface="Calibri" pitchFamily="34" charset="0"/>
                <a:ea typeface="Calibri" pitchFamily="34" charset="-122"/>
                <a:cs typeface="Calibri" pitchFamily="34" charset="-120"/>
              </a:rPr>
              <a:t>Predicting casino demand from eleven years of history</a:t>
            </a:r>
            <a:endParaRPr lang="en-US" sz="2000" dirty="0"/>
          </a:p>
        </p:txBody>
      </p:sp>
      <p:sp>
        <p:nvSpPr>
          <p:cNvPr id="4" name="Text 2"/>
          <p:cNvSpPr/>
          <p:nvPr/>
        </p:nvSpPr>
        <p:spPr>
          <a:xfrm>
            <a:off x="868680" y="3611880"/>
            <a:ext cx="9601200" cy="822960"/>
          </a:xfrm>
          <a:prstGeom prst="rect">
            <a:avLst/>
          </a:prstGeom>
          <a:noFill/>
          <a:ln/>
        </p:spPr>
        <p:txBody>
          <a:bodyPr wrap="square" lIns="0" tIns="0" rIns="0" bIns="0" rtlCol="0" anchor="ctr"/>
          <a:lstStyle/>
          <a:p>
            <a:pPr indent="0" marL="0">
              <a:lnSpc>
                <a:spcPct val="130000"/>
              </a:lnSpc>
              <a:buNone/>
            </a:pPr>
            <a:r>
              <a:rPr lang="en-US" sz="1400" dirty="0">
                <a:solidFill>
                  <a:srgbClr val="AEC3D6"/>
                </a:solidFill>
                <a:latin typeface="Calibri" pitchFamily="34" charset="0"/>
                <a:ea typeface="Calibri" pitchFamily="34" charset="-122"/>
                <a:cs typeface="Calibri" pitchFamily="34" charset="-120"/>
              </a:rPr>
              <a:t>A complete walkthrough for someone new to this system.</a:t>
            </a:r>
            <a:endParaRPr lang="en-US" sz="1400" dirty="0"/>
          </a:p>
          <a:p>
            <a:pPr indent="0" marL="0">
              <a:lnSpc>
                <a:spcPct val="130000"/>
              </a:lnSpc>
              <a:buNone/>
            </a:pPr>
            <a:r>
              <a:rPr lang="en-US" sz="1400" dirty="0">
                <a:solidFill>
                  <a:srgbClr val="AEC3D6"/>
                </a:solidFill>
                <a:latin typeface="Calibri" pitchFamily="34" charset="0"/>
                <a:ea typeface="Calibri" pitchFamily="34" charset="-122"/>
                <a:cs typeface="Calibri" pitchFamily="34" charset="-120"/>
              </a:rPr>
              <a:t>No statistics background needed — every term is explained where it first appears.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What this system does</a:t>
            </a:r>
            <a:endParaRPr lang="en-US" sz="31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One job: guess how busy the casino floor will be, every day, for the next four weeks.</a:t>
            </a:r>
            <a:endParaRPr lang="en-US" sz="1500" dirty="0"/>
          </a:p>
        </p:txBody>
      </p:sp>
      <p:sp>
        <p:nvSpPr>
          <p:cNvPr id="4" name="Text 2"/>
          <p:cNvSpPr/>
          <p:nvPr/>
        </p:nvSpPr>
        <p:spPr>
          <a:xfrm>
            <a:off x="548640" y="1691640"/>
            <a:ext cx="11064240" cy="502920"/>
          </a:xfrm>
          <a:prstGeom prst="rect">
            <a:avLst/>
          </a:prstGeom>
          <a:noFill/>
          <a:ln/>
        </p:spPr>
        <p:txBody>
          <a:bodyPr wrap="square" lIns="0" tIns="0" rIns="0" bIns="0" rtlCol="0" anchor="ctr"/>
          <a:lstStyle/>
          <a:p>
            <a:pPr indent="0" marL="0">
              <a:buNone/>
            </a:pPr>
            <a:r>
              <a:rPr lang="en-US" sz="1600" dirty="0">
                <a:solidFill>
                  <a:srgbClr val="0F2942"/>
                </a:solidFill>
                <a:latin typeface="Calibri" pitchFamily="34" charset="0"/>
                <a:ea typeface="Calibri" pitchFamily="34" charset="-122"/>
                <a:cs typeface="Calibri" pitchFamily="34" charset="-120"/>
              </a:rPr>
              <a:t>It predicts </a:t>
            </a:r>
            <a:pPr indent="0" marL="0">
              <a:buNone/>
            </a:pPr>
            <a:r>
              <a:rPr lang="en-US" sz="1600" b="1" dirty="0">
                <a:solidFill>
                  <a:srgbClr val="2E8BA8"/>
                </a:solidFill>
                <a:latin typeface="Calibri" pitchFamily="34" charset="0"/>
                <a:ea typeface="Calibri" pitchFamily="34" charset="-122"/>
                <a:cs typeface="Calibri" pitchFamily="34" charset="-120"/>
              </a:rPr>
              <a:t>patron hours</a:t>
            </a:r>
            <a:pPr indent="0" marL="0">
              <a:buNone/>
            </a:pPr>
            <a:r>
              <a:rPr lang="en-US" sz="1600" dirty="0">
                <a:solidFill>
                  <a:srgbClr val="0F2942"/>
                </a:solidFill>
                <a:latin typeface="Calibri" pitchFamily="34" charset="0"/>
                <a:ea typeface="Calibri" pitchFamily="34" charset="-122"/>
                <a:cs typeface="Calibri" pitchFamily="34" charset="-120"/>
              </a:rPr>
              <a:t> — roughly, how many people are on the floor multiplied by how long they stay. That number drives staff scheduling.</a:t>
            </a:r>
            <a:endParaRPr lang="en-US" sz="1600" dirty="0"/>
          </a:p>
        </p:txBody>
      </p:sp>
      <p:sp>
        <p:nvSpPr>
          <p:cNvPr id="5" name="Shape 3"/>
          <p:cNvSpPr/>
          <p:nvPr/>
        </p:nvSpPr>
        <p:spPr>
          <a:xfrm>
            <a:off x="548640" y="2514600"/>
            <a:ext cx="2651760" cy="2011680"/>
          </a:xfrm>
          <a:prstGeom prst="roundRect">
            <a:avLst>
              <a:gd name="adj" fmla="val 3636"/>
            </a:avLst>
          </a:prstGeom>
          <a:solidFill>
            <a:srgbClr val="F4F6F8"/>
          </a:solidFill>
          <a:ln w="12700">
            <a:solidFill>
              <a:srgbClr val="E2E8EE"/>
            </a:solidFill>
            <a:prstDash val="solid"/>
          </a:ln>
        </p:spPr>
      </p:sp>
      <p:sp>
        <p:nvSpPr>
          <p:cNvPr id="6" name="Shape 4"/>
          <p:cNvSpPr/>
          <p:nvPr/>
        </p:nvSpPr>
        <p:spPr>
          <a:xfrm>
            <a:off x="3364992" y="2514600"/>
            <a:ext cx="2651760" cy="2011680"/>
          </a:xfrm>
          <a:prstGeom prst="roundRect">
            <a:avLst>
              <a:gd name="adj" fmla="val 3636"/>
            </a:avLst>
          </a:prstGeom>
          <a:solidFill>
            <a:srgbClr val="F4F6F8"/>
          </a:solidFill>
          <a:ln w="12700">
            <a:solidFill>
              <a:srgbClr val="E2E8EE"/>
            </a:solidFill>
            <a:prstDash val="solid"/>
          </a:ln>
        </p:spPr>
      </p:sp>
      <p:sp>
        <p:nvSpPr>
          <p:cNvPr id="7" name="Shape 5"/>
          <p:cNvSpPr/>
          <p:nvPr/>
        </p:nvSpPr>
        <p:spPr>
          <a:xfrm>
            <a:off x="6181344" y="2514600"/>
            <a:ext cx="2651760" cy="2011680"/>
          </a:xfrm>
          <a:prstGeom prst="roundRect">
            <a:avLst>
              <a:gd name="adj" fmla="val 3636"/>
            </a:avLst>
          </a:prstGeom>
          <a:solidFill>
            <a:srgbClr val="F4F6F8"/>
          </a:solidFill>
          <a:ln w="12700">
            <a:solidFill>
              <a:srgbClr val="E2E8EE"/>
            </a:solidFill>
            <a:prstDash val="solid"/>
          </a:ln>
        </p:spPr>
      </p:sp>
      <p:sp>
        <p:nvSpPr>
          <p:cNvPr id="8" name="Shape 6"/>
          <p:cNvSpPr/>
          <p:nvPr/>
        </p:nvSpPr>
        <p:spPr>
          <a:xfrm>
            <a:off x="8997696" y="2514600"/>
            <a:ext cx="2633472" cy="2011680"/>
          </a:xfrm>
          <a:prstGeom prst="roundRect">
            <a:avLst>
              <a:gd name="adj" fmla="val 3636"/>
            </a:avLst>
          </a:prstGeom>
          <a:solidFill>
            <a:srgbClr val="F4F6F8"/>
          </a:solidFill>
          <a:ln w="12700">
            <a:solidFill>
              <a:srgbClr val="E2E8EE"/>
            </a:solidFill>
            <a:prstDash val="solid"/>
          </a:ln>
        </p:spPr>
      </p:sp>
      <p:sp>
        <p:nvSpPr>
          <p:cNvPr id="9" name="Text 7"/>
          <p:cNvSpPr/>
          <p:nvPr/>
        </p:nvSpPr>
        <p:spPr>
          <a:xfrm>
            <a:off x="548640" y="2834640"/>
            <a:ext cx="2651760" cy="868680"/>
          </a:xfrm>
          <a:prstGeom prst="rect">
            <a:avLst/>
          </a:prstGeom>
          <a:noFill/>
          <a:ln/>
        </p:spPr>
        <p:txBody>
          <a:bodyPr wrap="square" lIns="0" tIns="0" rIns="0" bIns="0" rtlCol="0" anchor="ctr"/>
          <a:lstStyle/>
          <a:p>
            <a:pPr algn="ctr" indent="0" marL="0">
              <a:buNone/>
            </a:pPr>
            <a:r>
              <a:rPr lang="en-US" sz="4600" b="1" dirty="0">
                <a:solidFill>
                  <a:srgbClr val="0F2942"/>
                </a:solidFill>
                <a:latin typeface="Cambria" pitchFamily="34" charset="0"/>
                <a:ea typeface="Cambria" pitchFamily="34" charset="-122"/>
                <a:cs typeface="Cambria" pitchFamily="34" charset="-120"/>
              </a:rPr>
              <a:t>28</a:t>
            </a:r>
            <a:endParaRPr lang="en-US" sz="4600" dirty="0"/>
          </a:p>
        </p:txBody>
      </p:sp>
      <p:sp>
        <p:nvSpPr>
          <p:cNvPr id="10" name="Text 8"/>
          <p:cNvSpPr/>
          <p:nvPr/>
        </p:nvSpPr>
        <p:spPr>
          <a:xfrm>
            <a:off x="548640" y="3703320"/>
            <a:ext cx="2651760" cy="502920"/>
          </a:xfrm>
          <a:prstGeom prst="rect">
            <a:avLst/>
          </a:prstGeom>
          <a:noFill/>
          <a:ln/>
        </p:spPr>
        <p:txBody>
          <a:bodyPr wrap="square" lIns="0" tIns="0" rIns="0" bIns="0" rtlCol="0" anchor="t"/>
          <a:lstStyle/>
          <a:p>
            <a:pPr algn="ctr" indent="0" marL="0">
              <a:buNone/>
            </a:pPr>
            <a:r>
              <a:rPr lang="en-US" sz="1250" dirty="0">
                <a:solidFill>
                  <a:srgbClr val="5F7183"/>
                </a:solidFill>
                <a:latin typeface="Calibri" pitchFamily="34" charset="0"/>
                <a:ea typeface="Calibri" pitchFamily="34" charset="-122"/>
                <a:cs typeface="Calibri" pitchFamily="34" charset="-120"/>
              </a:rPr>
              <a:t>days ahead, every run</a:t>
            </a:r>
            <a:endParaRPr lang="en-US" sz="1250" dirty="0"/>
          </a:p>
        </p:txBody>
      </p:sp>
      <p:sp>
        <p:nvSpPr>
          <p:cNvPr id="11" name="Text 9"/>
          <p:cNvSpPr/>
          <p:nvPr/>
        </p:nvSpPr>
        <p:spPr>
          <a:xfrm>
            <a:off x="3364992" y="2834640"/>
            <a:ext cx="2651760" cy="868680"/>
          </a:xfrm>
          <a:prstGeom prst="rect">
            <a:avLst/>
          </a:prstGeom>
          <a:noFill/>
          <a:ln/>
        </p:spPr>
        <p:txBody>
          <a:bodyPr wrap="square" lIns="0" tIns="0" rIns="0" bIns="0" rtlCol="0" anchor="ctr"/>
          <a:lstStyle/>
          <a:p>
            <a:pPr algn="ctr" indent="0" marL="0">
              <a:buNone/>
            </a:pPr>
            <a:r>
              <a:rPr lang="en-US" sz="4600" b="1" dirty="0">
                <a:solidFill>
                  <a:srgbClr val="2E8BA8"/>
                </a:solidFill>
                <a:latin typeface="Cambria" pitchFamily="34" charset="0"/>
                <a:ea typeface="Cambria" pitchFamily="34" charset="-122"/>
                <a:cs typeface="Cambria" pitchFamily="34" charset="-120"/>
              </a:rPr>
              <a:t>11</a:t>
            </a:r>
            <a:endParaRPr lang="en-US" sz="4600" dirty="0"/>
          </a:p>
        </p:txBody>
      </p:sp>
      <p:sp>
        <p:nvSpPr>
          <p:cNvPr id="12" name="Text 10"/>
          <p:cNvSpPr/>
          <p:nvPr/>
        </p:nvSpPr>
        <p:spPr>
          <a:xfrm>
            <a:off x="3364992" y="3703320"/>
            <a:ext cx="2651760" cy="502920"/>
          </a:xfrm>
          <a:prstGeom prst="rect">
            <a:avLst/>
          </a:prstGeom>
          <a:noFill/>
          <a:ln/>
        </p:spPr>
        <p:txBody>
          <a:bodyPr wrap="square" lIns="0" tIns="0" rIns="0" bIns="0" rtlCol="0" anchor="t"/>
          <a:lstStyle/>
          <a:p>
            <a:pPr algn="ctr" indent="0" marL="0">
              <a:buNone/>
            </a:pPr>
            <a:r>
              <a:rPr lang="en-US" sz="1250" dirty="0">
                <a:solidFill>
                  <a:srgbClr val="5F7183"/>
                </a:solidFill>
                <a:latin typeface="Calibri" pitchFamily="34" charset="0"/>
                <a:ea typeface="Calibri" pitchFamily="34" charset="-122"/>
                <a:cs typeface="Calibri" pitchFamily="34" charset="-120"/>
              </a:rPr>
              <a:t>years of history</a:t>
            </a:r>
            <a:endParaRPr lang="en-US" sz="1250" dirty="0"/>
          </a:p>
        </p:txBody>
      </p:sp>
      <p:sp>
        <p:nvSpPr>
          <p:cNvPr id="13" name="Text 11"/>
          <p:cNvSpPr/>
          <p:nvPr/>
        </p:nvSpPr>
        <p:spPr>
          <a:xfrm>
            <a:off x="6181344" y="2834640"/>
            <a:ext cx="2651760" cy="868680"/>
          </a:xfrm>
          <a:prstGeom prst="rect">
            <a:avLst/>
          </a:prstGeom>
          <a:noFill/>
          <a:ln/>
        </p:spPr>
        <p:txBody>
          <a:bodyPr wrap="square" lIns="0" tIns="0" rIns="0" bIns="0" rtlCol="0" anchor="ctr"/>
          <a:lstStyle/>
          <a:p>
            <a:pPr algn="ctr" indent="0" marL="0">
              <a:buNone/>
            </a:pPr>
            <a:r>
              <a:rPr lang="en-US" sz="4600" b="1" dirty="0">
                <a:solidFill>
                  <a:srgbClr val="E8B547"/>
                </a:solidFill>
                <a:latin typeface="Cambria" pitchFamily="34" charset="0"/>
                <a:ea typeface="Cambria" pitchFamily="34" charset="-122"/>
                <a:cs typeface="Cambria" pitchFamily="34" charset="-120"/>
              </a:rPr>
              <a:t>4,166</a:t>
            </a:r>
            <a:endParaRPr lang="en-US" sz="4600" dirty="0"/>
          </a:p>
        </p:txBody>
      </p:sp>
      <p:sp>
        <p:nvSpPr>
          <p:cNvPr id="14" name="Text 12"/>
          <p:cNvSpPr/>
          <p:nvPr/>
        </p:nvSpPr>
        <p:spPr>
          <a:xfrm>
            <a:off x="6181344" y="3703320"/>
            <a:ext cx="2651760" cy="502920"/>
          </a:xfrm>
          <a:prstGeom prst="rect">
            <a:avLst/>
          </a:prstGeom>
          <a:noFill/>
          <a:ln/>
        </p:spPr>
        <p:txBody>
          <a:bodyPr wrap="square" lIns="0" tIns="0" rIns="0" bIns="0" rtlCol="0" anchor="t"/>
          <a:lstStyle/>
          <a:p>
            <a:pPr algn="ctr" indent="0" marL="0">
              <a:buNone/>
            </a:pPr>
            <a:r>
              <a:rPr lang="en-US" sz="1250" dirty="0">
                <a:solidFill>
                  <a:srgbClr val="5F7183"/>
                </a:solidFill>
                <a:latin typeface="Calibri" pitchFamily="34" charset="0"/>
                <a:ea typeface="Calibri" pitchFamily="34" charset="-122"/>
                <a:cs typeface="Calibri" pitchFamily="34" charset="-120"/>
              </a:rPr>
              <a:t>days of data</a:t>
            </a:r>
            <a:endParaRPr lang="en-US" sz="1250" dirty="0"/>
          </a:p>
        </p:txBody>
      </p:sp>
      <p:sp>
        <p:nvSpPr>
          <p:cNvPr id="15" name="Text 13"/>
          <p:cNvSpPr/>
          <p:nvPr/>
        </p:nvSpPr>
        <p:spPr>
          <a:xfrm>
            <a:off x="8997696" y="2834640"/>
            <a:ext cx="2633472" cy="868680"/>
          </a:xfrm>
          <a:prstGeom prst="rect">
            <a:avLst/>
          </a:prstGeom>
          <a:noFill/>
          <a:ln/>
        </p:spPr>
        <p:txBody>
          <a:bodyPr wrap="square" lIns="0" tIns="0" rIns="0" bIns="0" rtlCol="0" anchor="ctr"/>
          <a:lstStyle/>
          <a:p>
            <a:pPr algn="ctr" indent="0" marL="0">
              <a:buNone/>
            </a:pPr>
            <a:r>
              <a:rPr lang="en-US" sz="4600" b="1" dirty="0">
                <a:solidFill>
                  <a:srgbClr val="2FA87C"/>
                </a:solidFill>
                <a:latin typeface="Cambria" pitchFamily="34" charset="0"/>
                <a:ea typeface="Cambria" pitchFamily="34" charset="-122"/>
                <a:cs typeface="Cambria" pitchFamily="34" charset="-120"/>
              </a:rPr>
              <a:t>3</a:t>
            </a:r>
            <a:endParaRPr lang="en-US" sz="4600" dirty="0"/>
          </a:p>
        </p:txBody>
      </p:sp>
      <p:sp>
        <p:nvSpPr>
          <p:cNvPr id="16" name="Text 14"/>
          <p:cNvSpPr/>
          <p:nvPr/>
        </p:nvSpPr>
        <p:spPr>
          <a:xfrm>
            <a:off x="8997696" y="3703320"/>
            <a:ext cx="2633472" cy="502920"/>
          </a:xfrm>
          <a:prstGeom prst="rect">
            <a:avLst/>
          </a:prstGeom>
          <a:noFill/>
          <a:ln/>
        </p:spPr>
        <p:txBody>
          <a:bodyPr wrap="square" lIns="0" tIns="0" rIns="0" bIns="0" rtlCol="0" anchor="t"/>
          <a:lstStyle/>
          <a:p>
            <a:pPr algn="ctr" indent="0" marL="0">
              <a:buNone/>
            </a:pPr>
            <a:r>
              <a:rPr lang="en-US" sz="1250" dirty="0">
                <a:solidFill>
                  <a:srgbClr val="5F7183"/>
                </a:solidFill>
                <a:latin typeface="Calibri" pitchFamily="34" charset="0"/>
                <a:ea typeface="Calibri" pitchFamily="34" charset="-122"/>
                <a:cs typeface="Calibri" pitchFamily="34" charset="-120"/>
              </a:rPr>
              <a:t>numbers per day</a:t>
            </a:r>
            <a:endParaRPr lang="en-US" sz="1250" dirty="0"/>
          </a:p>
        </p:txBody>
      </p:sp>
      <p:sp>
        <p:nvSpPr>
          <p:cNvPr id="17" name="Shape 15"/>
          <p:cNvSpPr/>
          <p:nvPr/>
        </p:nvSpPr>
        <p:spPr>
          <a:xfrm>
            <a:off x="548640" y="4800600"/>
            <a:ext cx="11082528" cy="1463040"/>
          </a:xfrm>
          <a:prstGeom prst="roundRect">
            <a:avLst>
              <a:gd name="adj" fmla="val 5000"/>
            </a:avLst>
          </a:prstGeom>
          <a:solidFill>
            <a:srgbClr val="FBF6E9"/>
          </a:solidFill>
          <a:ln w="12700">
            <a:solidFill>
              <a:srgbClr val="E2E8EE"/>
            </a:solidFill>
            <a:prstDash val="solid"/>
          </a:ln>
        </p:spPr>
      </p:sp>
      <p:sp>
        <p:nvSpPr>
          <p:cNvPr id="18" name="Text 16"/>
          <p:cNvSpPr/>
          <p:nvPr/>
        </p:nvSpPr>
        <p:spPr>
          <a:xfrm>
            <a:off x="868680" y="4983480"/>
            <a:ext cx="10424160" cy="365760"/>
          </a:xfrm>
          <a:prstGeom prst="rect">
            <a:avLst/>
          </a:prstGeom>
          <a:noFill/>
          <a:ln/>
        </p:spPr>
        <p:txBody>
          <a:bodyPr wrap="square" lIns="0" tIns="0" rIns="0" bIns="0" rtlCol="0" anchor="ctr"/>
          <a:lstStyle/>
          <a:p>
            <a:pPr indent="0" marL="0">
              <a:buNone/>
            </a:pPr>
            <a:r>
              <a:rPr lang="en-US" sz="1700" b="1" dirty="0">
                <a:solidFill>
                  <a:srgbClr val="0F2942"/>
                </a:solidFill>
                <a:latin typeface="Cambria" pitchFamily="34" charset="0"/>
                <a:ea typeface="Cambria" pitchFamily="34" charset="-122"/>
                <a:cs typeface="Cambria" pitchFamily="34" charset="-120"/>
              </a:rPr>
              <a:t>Three numbers, not one</a:t>
            </a:r>
            <a:endParaRPr lang="en-US" sz="1700" dirty="0"/>
          </a:p>
        </p:txBody>
      </p:sp>
      <p:sp>
        <p:nvSpPr>
          <p:cNvPr id="19" name="Text 17"/>
          <p:cNvSpPr/>
          <p:nvPr/>
        </p:nvSpPr>
        <p:spPr>
          <a:xfrm>
            <a:off x="868680" y="5349240"/>
            <a:ext cx="10424160" cy="777240"/>
          </a:xfrm>
          <a:prstGeom prst="rect">
            <a:avLst/>
          </a:prstGeom>
          <a:noFill/>
          <a:ln/>
        </p:spPr>
        <p:txBody>
          <a:bodyPr wrap="square" lIns="0" tIns="0" rIns="0" bIns="0" rtlCol="0" anchor="ctr"/>
          <a:lstStyle/>
          <a:p>
            <a:pPr indent="0" marL="0">
              <a:lnSpc>
                <a:spcPct val="125000"/>
              </a:lnSpc>
              <a:buNone/>
            </a:pPr>
            <a:r>
              <a:rPr lang="en-US" sz="1350" dirty="0">
                <a:solidFill>
                  <a:srgbClr val="0F2942"/>
                </a:solidFill>
                <a:latin typeface="Calibri" pitchFamily="34" charset="0"/>
                <a:ea typeface="Calibri" pitchFamily="34" charset="-122"/>
                <a:cs typeface="Calibri" pitchFamily="34" charset="-120"/>
              </a:rPr>
              <a:t>For each of the 28 days you get a most-likely figure (P50), a low case (P10) and a high case (P90). Plan against P50. The high/low band is a rough confidence signal only — it is known to be narrower than it claims, which is covered honestly later.</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942"/>
        </a:solidFill>
      </p:bgPr>
    </p:bg>
    <p:spTree>
      <p:nvGrpSpPr>
        <p:cNvPr id="1" name=""/>
        <p:cNvGrpSpPr/>
        <p:nvPr/>
      </p:nvGrpSpPr>
      <p:grpSpPr>
        <a:xfrm>
          <a:off x="0" y="0"/>
          <a:ext cx="0" cy="0"/>
          <a:chOff x="0" y="0"/>
          <a:chExt cx="0" cy="0"/>
        </a:xfrm>
      </p:grpSpPr>
      <p:sp>
        <p:nvSpPr>
          <p:cNvPr id="2" name="Shape 0"/>
          <p:cNvSpPr/>
          <p:nvPr/>
        </p:nvSpPr>
        <p:spPr>
          <a:xfrm>
            <a:off x="822960" y="2286000"/>
            <a:ext cx="1051560" cy="1051560"/>
          </a:xfrm>
          <a:prstGeom prst="ellipse">
            <a:avLst/>
          </a:prstGeom>
          <a:solidFill>
            <a:srgbClr val="E8B547"/>
          </a:solidFill>
          <a:ln/>
        </p:spPr>
      </p:sp>
      <p:sp>
        <p:nvSpPr>
          <p:cNvPr id="3" name="Text 1"/>
          <p:cNvSpPr/>
          <p:nvPr/>
        </p:nvSpPr>
        <p:spPr>
          <a:xfrm>
            <a:off x="822960" y="2286000"/>
            <a:ext cx="1051560" cy="1051560"/>
          </a:xfrm>
          <a:prstGeom prst="rect">
            <a:avLst/>
          </a:prstGeom>
          <a:noFill/>
          <a:ln/>
        </p:spPr>
        <p:txBody>
          <a:bodyPr wrap="square" lIns="0" tIns="0" rIns="0" bIns="0" rtlCol="0" anchor="ctr"/>
          <a:lstStyle/>
          <a:p>
            <a:pPr algn="ctr" indent="0" marL="0">
              <a:buNone/>
            </a:pPr>
            <a:r>
              <a:rPr lang="en-US" sz="4000" b="1" dirty="0">
                <a:solidFill>
                  <a:srgbClr val="0F2942"/>
                </a:solidFill>
                <a:latin typeface="Cambria" pitchFamily="34" charset="0"/>
                <a:ea typeface="Cambria" pitchFamily="34" charset="-122"/>
                <a:cs typeface="Cambria" pitchFamily="34" charset="-120"/>
              </a:rPr>
              <a:t>1</a:t>
            </a:r>
            <a:endParaRPr lang="en-US" sz="4000" dirty="0"/>
          </a:p>
        </p:txBody>
      </p:sp>
      <p:sp>
        <p:nvSpPr>
          <p:cNvPr id="4" name="Text 2"/>
          <p:cNvSpPr/>
          <p:nvPr/>
        </p:nvSpPr>
        <p:spPr>
          <a:xfrm>
            <a:off x="2240280" y="2194560"/>
            <a:ext cx="896112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Why eleven years, not two</a:t>
            </a:r>
            <a:endParaRPr lang="en-US" sz="3800" dirty="0"/>
          </a:p>
        </p:txBody>
      </p:sp>
      <p:sp>
        <p:nvSpPr>
          <p:cNvPr id="5" name="Text 3"/>
          <p:cNvSpPr/>
          <p:nvPr/>
        </p:nvSpPr>
        <p:spPr>
          <a:xfrm>
            <a:off x="2286000" y="3127248"/>
            <a:ext cx="8778240" cy="777240"/>
          </a:xfrm>
          <a:prstGeom prst="rect">
            <a:avLst/>
          </a:prstGeom>
          <a:noFill/>
          <a:ln/>
        </p:spPr>
        <p:txBody>
          <a:bodyPr wrap="square" lIns="0" tIns="0" rIns="0" bIns="0" rtlCol="0" anchor="t"/>
          <a:lstStyle/>
          <a:p>
            <a:pPr indent="0" marL="0">
              <a:buNone/>
            </a:pPr>
            <a:r>
              <a:rPr lang="en-US" sz="1650" dirty="0">
                <a:solidFill>
                  <a:srgbClr val="AEC3D6"/>
                </a:solidFill>
                <a:latin typeface="Calibri" pitchFamily="34" charset="0"/>
                <a:ea typeface="Calibri" pitchFamily="34" charset="-122"/>
                <a:cs typeface="Calibri" pitchFamily="34" charset="-120"/>
              </a:rPr>
              <a:t>The production model trains on 2024 onward. This one goes back to 2015 — and that changes what it can survive.</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The problem with a short memory</a:t>
            </a:r>
            <a:endParaRPr lang="en-US" sz="31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2 February 2026. Same day, same inputs, two models.</a:t>
            </a:r>
            <a:endParaRPr lang="en-US" sz="1500" dirty="0"/>
          </a:p>
        </p:txBody>
      </p:sp>
      <p:graphicFrame>
        <p:nvGraphicFramePr>
          <p:cNvPr id="4" name="Chart 0" descr=""/>
          <p:cNvGraphicFramePr/>
          <p:nvPr/>
        </p:nvGraphicFramePr>
        <p:xfrm>
          <a:off x="457200" y="1645920"/>
          <a:ext cx="5577840" cy="43891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263640" y="1737360"/>
            <a:ext cx="5367528" cy="2194560"/>
          </a:xfrm>
          <a:prstGeom prst="roundRect">
            <a:avLst>
              <a:gd name="adj" fmla="val 3333"/>
            </a:avLst>
          </a:prstGeom>
          <a:solidFill>
            <a:srgbClr val="F7E9E9"/>
          </a:solidFill>
          <a:ln w="12700">
            <a:solidFill>
              <a:srgbClr val="E2E8EE"/>
            </a:solidFill>
            <a:prstDash val="solid"/>
          </a:ln>
        </p:spPr>
      </p:sp>
      <p:sp>
        <p:nvSpPr>
          <p:cNvPr id="6" name="Text 3"/>
          <p:cNvSpPr/>
          <p:nvPr/>
        </p:nvSpPr>
        <p:spPr>
          <a:xfrm>
            <a:off x="6537960" y="1901952"/>
            <a:ext cx="4846320" cy="320040"/>
          </a:xfrm>
          <a:prstGeom prst="rect">
            <a:avLst/>
          </a:prstGeom>
          <a:noFill/>
          <a:ln/>
        </p:spPr>
        <p:txBody>
          <a:bodyPr wrap="square" lIns="0" tIns="0" rIns="0" bIns="0" rtlCol="0" anchor="ctr"/>
          <a:lstStyle/>
          <a:p>
            <a:pPr indent="0" marL="0">
              <a:buNone/>
            </a:pPr>
            <a:r>
              <a:rPr lang="en-US" sz="1600" b="1" dirty="0">
                <a:solidFill>
                  <a:srgbClr val="0F2942"/>
                </a:solidFill>
                <a:latin typeface="Cambria" pitchFamily="34" charset="0"/>
                <a:ea typeface="Cambria" pitchFamily="34" charset="-122"/>
                <a:cs typeface="Cambria" pitchFamily="34" charset="-120"/>
              </a:rPr>
              <a:t>What went wrong</a:t>
            </a:r>
            <a:endParaRPr lang="en-US" sz="1600" dirty="0"/>
          </a:p>
        </p:txBody>
      </p:sp>
      <p:sp>
        <p:nvSpPr>
          <p:cNvPr id="7" name="Text 4"/>
          <p:cNvSpPr/>
          <p:nvPr/>
        </p:nvSpPr>
        <p:spPr>
          <a:xfrm>
            <a:off x="6537960" y="2267712"/>
            <a:ext cx="4846320" cy="1554480"/>
          </a:xfrm>
          <a:prstGeom prst="rect">
            <a:avLst/>
          </a:prstGeom>
          <a:noFill/>
          <a:ln/>
        </p:spPr>
        <p:txBody>
          <a:bodyPr wrap="square" lIns="0" tIns="0" rIns="0" bIns="0" rtlCol="0" anchor="ctr"/>
          <a:lstStyle/>
          <a:p>
            <a:pPr indent="0" marL="0">
              <a:lnSpc>
                <a:spcPct val="120000"/>
              </a:lnSpc>
              <a:buNone/>
            </a:pPr>
            <a:r>
              <a:rPr lang="en-US" sz="1250" dirty="0">
                <a:solidFill>
                  <a:srgbClr val="0F2942"/>
                </a:solidFill>
                <a:latin typeface="Calibri" pitchFamily="34" charset="0"/>
                <a:ea typeface="Calibri" pitchFamily="34" charset="-122"/>
                <a:cs typeface="Calibri" pitchFamily="34" charset="-120"/>
              </a:rPr>
              <a:t>One of the model's inputs is "how does today compare with the same day last year?"</a:t>
            </a:r>
            <a:endParaRPr lang="en-US" sz="1250" dirty="0"/>
          </a:p>
          <a:p>
            <a:pPr indent="0" marL="0">
              <a:lnSpc>
                <a:spcPct val="120000"/>
              </a:lnSpc>
              <a:buNone/>
            </a:pPr>
            <a:endParaRPr lang="en-US" sz="1250" dirty="0"/>
          </a:p>
          <a:p>
            <a:pPr indent="0" marL="0">
              <a:lnSpc>
                <a:spcPct val="120000"/>
              </a:lnSpc>
              <a:buNone/>
            </a:pPr>
            <a:r>
              <a:rPr lang="en-US" sz="1250" dirty="0">
                <a:solidFill>
                  <a:srgbClr val="0F2942"/>
                </a:solidFill>
                <a:latin typeface="Calibri" pitchFamily="34" charset="0"/>
                <a:ea typeface="Calibri" pitchFamily="34" charset="-122"/>
                <a:cs typeface="Calibri" pitchFamily="34" charset="-120"/>
              </a:rPr>
              <a:t>For 2 February 2026 that pointed at 27 January 2025 — two days before Chinese New Year, when trade had collapsed to half normal. The model was handed a comparison unlike anything in its experience.</a:t>
            </a:r>
            <a:endParaRPr lang="en-US" sz="1250" dirty="0"/>
          </a:p>
        </p:txBody>
      </p:sp>
      <p:sp>
        <p:nvSpPr>
          <p:cNvPr id="8" name="Shape 5"/>
          <p:cNvSpPr/>
          <p:nvPr/>
        </p:nvSpPr>
        <p:spPr>
          <a:xfrm>
            <a:off x="6263640" y="4069080"/>
            <a:ext cx="5367528" cy="2011680"/>
          </a:xfrm>
          <a:prstGeom prst="roundRect">
            <a:avLst>
              <a:gd name="adj" fmla="val 3636"/>
            </a:avLst>
          </a:prstGeom>
          <a:solidFill>
            <a:srgbClr val="E9F4EF"/>
          </a:solidFill>
          <a:ln w="12700">
            <a:solidFill>
              <a:srgbClr val="E2E8EE"/>
            </a:solidFill>
            <a:prstDash val="solid"/>
          </a:ln>
        </p:spPr>
      </p:sp>
      <p:sp>
        <p:nvSpPr>
          <p:cNvPr id="9" name="Text 6"/>
          <p:cNvSpPr/>
          <p:nvPr/>
        </p:nvSpPr>
        <p:spPr>
          <a:xfrm>
            <a:off x="6537960" y="4233672"/>
            <a:ext cx="4846320" cy="320040"/>
          </a:xfrm>
          <a:prstGeom prst="rect">
            <a:avLst/>
          </a:prstGeom>
          <a:noFill/>
          <a:ln/>
        </p:spPr>
        <p:txBody>
          <a:bodyPr wrap="square" lIns="0" tIns="0" rIns="0" bIns="0" rtlCol="0" anchor="ctr"/>
          <a:lstStyle/>
          <a:p>
            <a:pPr indent="0" marL="0">
              <a:buNone/>
            </a:pPr>
            <a:r>
              <a:rPr lang="en-US" sz="1600" b="1" dirty="0">
                <a:solidFill>
                  <a:srgbClr val="0F2942"/>
                </a:solidFill>
                <a:latin typeface="Cambria" pitchFamily="34" charset="0"/>
                <a:ea typeface="Cambria" pitchFamily="34" charset="-122"/>
                <a:cs typeface="Cambria" pitchFamily="34" charset="-120"/>
              </a:rPr>
              <a:t>Why the longer memory coped</a:t>
            </a:r>
            <a:endParaRPr lang="en-US" sz="1600" dirty="0"/>
          </a:p>
        </p:txBody>
      </p:sp>
      <p:sp>
        <p:nvSpPr>
          <p:cNvPr id="10" name="Text 7"/>
          <p:cNvSpPr/>
          <p:nvPr/>
        </p:nvSpPr>
        <p:spPr>
          <a:xfrm>
            <a:off x="6537960" y="4599432"/>
            <a:ext cx="4846320" cy="1371600"/>
          </a:xfrm>
          <a:prstGeom prst="rect">
            <a:avLst/>
          </a:prstGeom>
          <a:noFill/>
          <a:ln/>
        </p:spPr>
        <p:txBody>
          <a:bodyPr wrap="square" lIns="0" tIns="0" rIns="0" bIns="0" rtlCol="0" anchor="ctr"/>
          <a:lstStyle/>
          <a:p>
            <a:pPr indent="0" marL="0">
              <a:lnSpc>
                <a:spcPct val="120000"/>
              </a:lnSpc>
              <a:buNone/>
            </a:pPr>
            <a:r>
              <a:rPr lang="en-US" sz="1250" dirty="0">
                <a:solidFill>
                  <a:srgbClr val="0F2942"/>
                </a:solidFill>
                <a:latin typeface="Calibri" pitchFamily="34" charset="0"/>
                <a:ea typeface="Calibri" pitchFamily="34" charset="-122"/>
                <a:cs typeface="Calibri" pitchFamily="34" charset="-120"/>
              </a:rPr>
              <a:t>Nothing was patched or special-cased. It had simply watched about ten Chinese New Years drift around the calendar, so the same input was familiar rather than shocking.</a:t>
            </a:r>
            <a:endParaRPr lang="en-US" sz="1250" dirty="0"/>
          </a:p>
          <a:p>
            <a:pPr indent="0" marL="0">
              <a:lnSpc>
                <a:spcPct val="120000"/>
              </a:lnSpc>
              <a:buNone/>
            </a:pPr>
            <a:endParaRPr lang="en-US" sz="1250" dirty="0"/>
          </a:p>
          <a:p>
            <a:pPr indent="0" marL="0">
              <a:lnSpc>
                <a:spcPct val="120000"/>
              </a:lnSpc>
              <a:buNone/>
            </a:pPr>
            <a:r>
              <a:rPr lang="en-US" sz="1250" dirty="0">
                <a:solidFill>
                  <a:srgbClr val="0F2942"/>
                </a:solidFill>
                <a:latin typeface="Calibri" pitchFamily="34" charset="0"/>
                <a:ea typeface="Calibri" pitchFamily="34" charset="-122"/>
                <a:cs typeface="Calibri" pitchFamily="34" charset="-120"/>
              </a:rPr>
              <a:t>That is the core argument: not a better average, but far fewer disasters.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Eleven years — and not all of it is usable</a:t>
            </a:r>
            <a:endParaRPr lang="en-US" sz="31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Average demand by year. The COVID years are real data but not a real signal.</a:t>
            </a:r>
            <a:endParaRPr lang="en-US" sz="1500" dirty="0"/>
          </a:p>
        </p:txBody>
      </p:sp>
      <p:graphicFrame>
        <p:nvGraphicFramePr>
          <p:cNvPr id="4" name="Chart 0" descr=""/>
          <p:cNvGraphicFramePr/>
          <p:nvPr/>
        </p:nvGraphicFramePr>
        <p:xfrm>
          <a:off x="457200" y="1600200"/>
          <a:ext cx="7223760" cy="43891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63840" y="1792224"/>
            <a:ext cx="201168" cy="201168"/>
          </a:xfrm>
          <a:prstGeom prst="ellipse">
            <a:avLst/>
          </a:prstGeom>
          <a:solidFill>
            <a:srgbClr val="0F2942"/>
          </a:solidFill>
          <a:ln/>
        </p:spPr>
      </p:sp>
      <p:sp>
        <p:nvSpPr>
          <p:cNvPr id="6" name="Text 3"/>
          <p:cNvSpPr/>
          <p:nvPr/>
        </p:nvSpPr>
        <p:spPr>
          <a:xfrm>
            <a:off x="8229600" y="1737360"/>
            <a:ext cx="3383280" cy="320040"/>
          </a:xfrm>
          <a:prstGeom prst="rect">
            <a:avLst/>
          </a:prstGeom>
          <a:noFill/>
          <a:ln/>
        </p:spPr>
        <p:txBody>
          <a:bodyPr wrap="square" lIns="0" tIns="0" rIns="0" bIns="0" rtlCol="0" anchor="ctr"/>
          <a:lstStyle/>
          <a:p>
            <a:pPr indent="0" marL="0">
              <a:buNone/>
            </a:pPr>
            <a:r>
              <a:rPr lang="en-US" sz="1400" b="1" dirty="0">
                <a:solidFill>
                  <a:srgbClr val="0F2942"/>
                </a:solidFill>
                <a:latin typeface="Cambria" pitchFamily="34" charset="0"/>
                <a:ea typeface="Cambria" pitchFamily="34" charset="-122"/>
                <a:cs typeface="Cambria" pitchFamily="34" charset="-120"/>
              </a:rPr>
              <a:t>Normal trade — 2015 to 2019</a:t>
            </a:r>
            <a:endParaRPr lang="en-US" sz="1400" dirty="0"/>
          </a:p>
        </p:txBody>
      </p:sp>
      <p:sp>
        <p:nvSpPr>
          <p:cNvPr id="7" name="Text 4"/>
          <p:cNvSpPr/>
          <p:nvPr/>
        </p:nvSpPr>
        <p:spPr>
          <a:xfrm>
            <a:off x="8229600" y="2066544"/>
            <a:ext cx="3383280" cy="777240"/>
          </a:xfrm>
          <a:prstGeom prst="rect">
            <a:avLst/>
          </a:prstGeom>
          <a:noFill/>
          <a:ln/>
        </p:spPr>
        <p:txBody>
          <a:bodyPr wrap="square" lIns="0" tIns="0" rIns="0" bIns="0" rtlCol="0" anchor="ctr"/>
          <a:lstStyle/>
          <a:p>
            <a:pPr indent="0" marL="0">
              <a:lnSpc>
                <a:spcPct val="115000"/>
              </a:lnSpc>
              <a:buNone/>
            </a:pPr>
            <a:r>
              <a:rPr lang="en-US" sz="1150" dirty="0">
                <a:solidFill>
                  <a:srgbClr val="5F7183"/>
                </a:solidFill>
                <a:latin typeface="Calibri" pitchFamily="34" charset="0"/>
                <a:ea typeface="Calibri" pitchFamily="34" charset="-122"/>
                <a:cs typeface="Calibri" pitchFamily="34" charset="-120"/>
              </a:rPr>
              <a:t>Usable history. Different market, but genuine demand behaviour.</a:t>
            </a:r>
            <a:endParaRPr lang="en-US" sz="1150" dirty="0"/>
          </a:p>
        </p:txBody>
      </p:sp>
      <p:sp>
        <p:nvSpPr>
          <p:cNvPr id="8" name="Shape 5"/>
          <p:cNvSpPr/>
          <p:nvPr/>
        </p:nvSpPr>
        <p:spPr>
          <a:xfrm>
            <a:off x="7863840" y="2907792"/>
            <a:ext cx="201168" cy="201168"/>
          </a:xfrm>
          <a:prstGeom prst="ellipse">
            <a:avLst/>
          </a:prstGeom>
          <a:solidFill>
            <a:srgbClr val="C74B4B"/>
          </a:solidFill>
          <a:ln/>
        </p:spPr>
      </p:sp>
      <p:sp>
        <p:nvSpPr>
          <p:cNvPr id="9" name="Text 6"/>
          <p:cNvSpPr/>
          <p:nvPr/>
        </p:nvSpPr>
        <p:spPr>
          <a:xfrm>
            <a:off x="8229600" y="2852928"/>
            <a:ext cx="3383280" cy="320040"/>
          </a:xfrm>
          <a:prstGeom prst="rect">
            <a:avLst/>
          </a:prstGeom>
          <a:noFill/>
          <a:ln/>
        </p:spPr>
        <p:txBody>
          <a:bodyPr wrap="square" lIns="0" tIns="0" rIns="0" bIns="0" rtlCol="0" anchor="ctr"/>
          <a:lstStyle/>
          <a:p>
            <a:pPr indent="0" marL="0">
              <a:buNone/>
            </a:pPr>
            <a:r>
              <a:rPr lang="en-US" sz="1400" b="1" dirty="0">
                <a:solidFill>
                  <a:srgbClr val="0F2942"/>
                </a:solidFill>
                <a:latin typeface="Cambria" pitchFamily="34" charset="0"/>
                <a:ea typeface="Cambria" pitchFamily="34" charset="-122"/>
                <a:cs typeface="Cambria" pitchFamily="34" charset="-120"/>
              </a:rPr>
              <a:t>COVID — 2020 to 2022</a:t>
            </a:r>
            <a:endParaRPr lang="en-US" sz="1400" dirty="0"/>
          </a:p>
        </p:txBody>
      </p:sp>
      <p:sp>
        <p:nvSpPr>
          <p:cNvPr id="10" name="Text 7"/>
          <p:cNvSpPr/>
          <p:nvPr/>
        </p:nvSpPr>
        <p:spPr>
          <a:xfrm>
            <a:off x="8229600" y="3182112"/>
            <a:ext cx="3383280" cy="777240"/>
          </a:xfrm>
          <a:prstGeom prst="rect">
            <a:avLst/>
          </a:prstGeom>
          <a:noFill/>
          <a:ln/>
        </p:spPr>
        <p:txBody>
          <a:bodyPr wrap="square" lIns="0" tIns="0" rIns="0" bIns="0" rtlCol="0" anchor="ctr"/>
          <a:lstStyle/>
          <a:p>
            <a:pPr indent="0" marL="0">
              <a:lnSpc>
                <a:spcPct val="115000"/>
              </a:lnSpc>
              <a:buNone/>
            </a:pPr>
            <a:r>
              <a:rPr lang="en-US" sz="1150" dirty="0">
                <a:solidFill>
                  <a:srgbClr val="5F7183"/>
                </a:solidFill>
                <a:latin typeface="Calibri" pitchFamily="34" charset="0"/>
                <a:ea typeface="Calibri" pitchFamily="34" charset="-122"/>
                <a:cs typeface="Calibri" pitchFamily="34" charset="-120"/>
              </a:rPr>
              <a:t>Borders shut, casino closed for weeks. Demand fell to a fifth. Not a signal.</a:t>
            </a:r>
            <a:endParaRPr lang="en-US" sz="1150" dirty="0"/>
          </a:p>
        </p:txBody>
      </p:sp>
      <p:sp>
        <p:nvSpPr>
          <p:cNvPr id="11" name="Shape 8"/>
          <p:cNvSpPr/>
          <p:nvPr/>
        </p:nvSpPr>
        <p:spPr>
          <a:xfrm>
            <a:off x="7863840" y="4023360"/>
            <a:ext cx="201168" cy="201168"/>
          </a:xfrm>
          <a:prstGeom prst="ellipse">
            <a:avLst/>
          </a:prstGeom>
          <a:solidFill>
            <a:srgbClr val="E8B547"/>
          </a:solidFill>
          <a:ln/>
        </p:spPr>
      </p:sp>
      <p:sp>
        <p:nvSpPr>
          <p:cNvPr id="12" name="Text 9"/>
          <p:cNvSpPr/>
          <p:nvPr/>
        </p:nvSpPr>
        <p:spPr>
          <a:xfrm>
            <a:off x="8229600" y="3968496"/>
            <a:ext cx="3383280" cy="320040"/>
          </a:xfrm>
          <a:prstGeom prst="rect">
            <a:avLst/>
          </a:prstGeom>
          <a:noFill/>
          <a:ln/>
        </p:spPr>
        <p:txBody>
          <a:bodyPr wrap="square" lIns="0" tIns="0" rIns="0" bIns="0" rtlCol="0" anchor="ctr"/>
          <a:lstStyle/>
          <a:p>
            <a:pPr indent="0" marL="0">
              <a:buNone/>
            </a:pPr>
            <a:r>
              <a:rPr lang="en-US" sz="1400" b="1" dirty="0">
                <a:solidFill>
                  <a:srgbClr val="0F2942"/>
                </a:solidFill>
                <a:latin typeface="Cambria" pitchFamily="34" charset="0"/>
                <a:ea typeface="Cambria" pitchFamily="34" charset="-122"/>
                <a:cs typeface="Cambria" pitchFamily="34" charset="-120"/>
              </a:rPr>
              <a:t>Recovery — 2023</a:t>
            </a:r>
            <a:endParaRPr lang="en-US" sz="1400" dirty="0"/>
          </a:p>
        </p:txBody>
      </p:sp>
      <p:sp>
        <p:nvSpPr>
          <p:cNvPr id="13" name="Text 10"/>
          <p:cNvSpPr/>
          <p:nvPr/>
        </p:nvSpPr>
        <p:spPr>
          <a:xfrm>
            <a:off x="8229600" y="4297680"/>
            <a:ext cx="3383280" cy="777240"/>
          </a:xfrm>
          <a:prstGeom prst="rect">
            <a:avLst/>
          </a:prstGeom>
          <a:noFill/>
          <a:ln/>
        </p:spPr>
        <p:txBody>
          <a:bodyPr wrap="square" lIns="0" tIns="0" rIns="0" bIns="0" rtlCol="0" anchor="ctr"/>
          <a:lstStyle/>
          <a:p>
            <a:pPr indent="0" marL="0">
              <a:lnSpc>
                <a:spcPct val="115000"/>
              </a:lnSpc>
              <a:buNone/>
            </a:pPr>
            <a:r>
              <a:rPr lang="en-US" sz="1150" dirty="0">
                <a:solidFill>
                  <a:srgbClr val="5F7183"/>
                </a:solidFill>
                <a:latin typeface="Calibri" pitchFamily="34" charset="0"/>
                <a:ea typeface="Calibri" pitchFamily="34" charset="-122"/>
                <a:cs typeface="Calibri" pitchFamily="34" charset="-120"/>
              </a:rPr>
              <a:t>Real but still climbing all year. Kept, with care.</a:t>
            </a:r>
            <a:endParaRPr lang="en-US" sz="1150" dirty="0"/>
          </a:p>
        </p:txBody>
      </p:sp>
      <p:sp>
        <p:nvSpPr>
          <p:cNvPr id="14" name="Shape 11"/>
          <p:cNvSpPr/>
          <p:nvPr/>
        </p:nvSpPr>
        <p:spPr>
          <a:xfrm>
            <a:off x="7863840" y="5138928"/>
            <a:ext cx="201168" cy="201168"/>
          </a:xfrm>
          <a:prstGeom prst="ellipse">
            <a:avLst/>
          </a:prstGeom>
          <a:solidFill>
            <a:srgbClr val="2E8BA8"/>
          </a:solidFill>
          <a:ln/>
        </p:spPr>
      </p:sp>
      <p:sp>
        <p:nvSpPr>
          <p:cNvPr id="15" name="Text 12"/>
          <p:cNvSpPr/>
          <p:nvPr/>
        </p:nvSpPr>
        <p:spPr>
          <a:xfrm>
            <a:off x="8229600" y="5084064"/>
            <a:ext cx="3383280" cy="320040"/>
          </a:xfrm>
          <a:prstGeom prst="rect">
            <a:avLst/>
          </a:prstGeom>
          <a:noFill/>
          <a:ln/>
        </p:spPr>
        <p:txBody>
          <a:bodyPr wrap="square" lIns="0" tIns="0" rIns="0" bIns="0" rtlCol="0" anchor="ctr"/>
          <a:lstStyle/>
          <a:p>
            <a:pPr indent="0" marL="0">
              <a:buNone/>
            </a:pPr>
            <a:r>
              <a:rPr lang="en-US" sz="1400" b="1" dirty="0">
                <a:solidFill>
                  <a:srgbClr val="0F2942"/>
                </a:solidFill>
                <a:latin typeface="Cambria" pitchFamily="34" charset="0"/>
                <a:ea typeface="Cambria" pitchFamily="34" charset="-122"/>
                <a:cs typeface="Cambria" pitchFamily="34" charset="-120"/>
              </a:rPr>
              <a:t>Current — 2024 onward</a:t>
            </a:r>
            <a:endParaRPr lang="en-US" sz="1400" dirty="0"/>
          </a:p>
        </p:txBody>
      </p:sp>
      <p:sp>
        <p:nvSpPr>
          <p:cNvPr id="16" name="Text 13"/>
          <p:cNvSpPr/>
          <p:nvPr/>
        </p:nvSpPr>
        <p:spPr>
          <a:xfrm>
            <a:off x="8229600" y="5413248"/>
            <a:ext cx="3383280" cy="777240"/>
          </a:xfrm>
          <a:prstGeom prst="rect">
            <a:avLst/>
          </a:prstGeom>
          <a:noFill/>
          <a:ln/>
        </p:spPr>
        <p:txBody>
          <a:bodyPr wrap="square" lIns="0" tIns="0" rIns="0" bIns="0" rtlCol="0" anchor="ctr"/>
          <a:lstStyle/>
          <a:p>
            <a:pPr indent="0" marL="0">
              <a:lnSpc>
                <a:spcPct val="115000"/>
              </a:lnSpc>
              <a:buNone/>
            </a:pPr>
            <a:r>
              <a:rPr lang="en-US" sz="1150" dirty="0">
                <a:solidFill>
                  <a:srgbClr val="5F7183"/>
                </a:solidFill>
                <a:latin typeface="Calibri" pitchFamily="34" charset="0"/>
                <a:ea typeface="Calibri" pitchFamily="34" charset="-122"/>
                <a:cs typeface="Calibri" pitchFamily="34" charset="-120"/>
              </a:rPr>
              <a:t>Today's business. What the short-memory model uses on its own.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How the COVID years are handled</a:t>
            </a:r>
            <a:endParaRPr lang="en-US" sz="31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Two separate decisions — and the difference between them matters.</a:t>
            </a:r>
            <a:endParaRPr lang="en-US" sz="1500" dirty="0"/>
          </a:p>
        </p:txBody>
      </p:sp>
      <p:sp>
        <p:nvSpPr>
          <p:cNvPr id="4" name="Shape 2"/>
          <p:cNvSpPr/>
          <p:nvPr/>
        </p:nvSpPr>
        <p:spPr>
          <a:xfrm>
            <a:off x="548640" y="1645920"/>
            <a:ext cx="5440680" cy="2148840"/>
          </a:xfrm>
          <a:prstGeom prst="roundRect">
            <a:avLst>
              <a:gd name="adj" fmla="val 3404"/>
            </a:avLst>
          </a:prstGeom>
          <a:solidFill>
            <a:srgbClr val="E9F4EF"/>
          </a:solidFill>
          <a:ln w="12700">
            <a:solidFill>
              <a:srgbClr val="E2E8EE"/>
            </a:solidFill>
            <a:prstDash val="solid"/>
          </a:ln>
        </p:spPr>
      </p:sp>
      <p:sp>
        <p:nvSpPr>
          <p:cNvPr id="5" name="Shape 3"/>
          <p:cNvSpPr/>
          <p:nvPr/>
        </p:nvSpPr>
        <p:spPr>
          <a:xfrm>
            <a:off x="822960" y="1874520"/>
            <a:ext cx="475488" cy="475488"/>
          </a:xfrm>
          <a:prstGeom prst="ellipse">
            <a:avLst/>
          </a:prstGeom>
          <a:solidFill>
            <a:srgbClr val="2FA87C"/>
          </a:solidFill>
          <a:ln/>
        </p:spPr>
      </p:sp>
      <p:sp>
        <p:nvSpPr>
          <p:cNvPr id="6" name="Text 4"/>
          <p:cNvSpPr/>
          <p:nvPr/>
        </p:nvSpPr>
        <p:spPr>
          <a:xfrm>
            <a:off x="822960" y="187452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481328" y="1901952"/>
            <a:ext cx="4206240" cy="365760"/>
          </a:xfrm>
          <a:prstGeom prst="rect">
            <a:avLst/>
          </a:prstGeom>
          <a:noFill/>
          <a:ln/>
        </p:spPr>
        <p:txBody>
          <a:bodyPr wrap="square" lIns="0" tIns="0" rIns="0" bIns="0" rtlCol="0" anchor="ctr"/>
          <a:lstStyle/>
          <a:p>
            <a:pPr indent="0" marL="0">
              <a:buNone/>
            </a:pPr>
            <a:r>
              <a:rPr lang="en-US" sz="1700" b="1" dirty="0">
                <a:solidFill>
                  <a:srgbClr val="0F2942"/>
                </a:solidFill>
                <a:latin typeface="Cambria" pitchFamily="34" charset="0"/>
                <a:ea typeface="Cambria" pitchFamily="34" charset="-122"/>
                <a:cs typeface="Cambria" pitchFamily="34" charset="-120"/>
              </a:rPr>
              <a:t>Do not learn from them</a:t>
            </a:r>
            <a:endParaRPr lang="en-US" sz="1700" dirty="0"/>
          </a:p>
        </p:txBody>
      </p:sp>
      <p:sp>
        <p:nvSpPr>
          <p:cNvPr id="8" name="Text 6"/>
          <p:cNvSpPr/>
          <p:nvPr/>
        </p:nvSpPr>
        <p:spPr>
          <a:xfrm>
            <a:off x="822960" y="2468880"/>
            <a:ext cx="4892040" cy="1188720"/>
          </a:xfrm>
          <a:prstGeom prst="rect">
            <a:avLst/>
          </a:prstGeom>
          <a:noFill/>
          <a:ln/>
        </p:spPr>
        <p:txBody>
          <a:bodyPr wrap="square" lIns="0" tIns="0" rIns="0" bIns="0" rtlCol="0" anchor="ctr"/>
          <a:lstStyle/>
          <a:p>
            <a:pPr indent="0" marL="0">
              <a:lnSpc>
                <a:spcPct val="120000"/>
              </a:lnSpc>
              <a:buNone/>
            </a:pPr>
            <a:r>
              <a:rPr lang="en-US" sz="1250" dirty="0">
                <a:solidFill>
                  <a:srgbClr val="5F7183"/>
                </a:solidFill>
                <a:latin typeface="Calibri" pitchFamily="34" charset="0"/>
                <a:ea typeface="Calibri" pitchFamily="34" charset="-122"/>
                <a:cs typeface="Calibri" pitchFamily="34" charset="-120"/>
              </a:rPr>
              <a:t>The answer for each COVID day is blanked out, so those days never become training examples. The model is never taught that demand of 889 is normal.</a:t>
            </a:r>
            <a:endParaRPr lang="en-US" sz="1250" dirty="0"/>
          </a:p>
        </p:txBody>
      </p:sp>
      <p:sp>
        <p:nvSpPr>
          <p:cNvPr id="9" name="Shape 7"/>
          <p:cNvSpPr/>
          <p:nvPr/>
        </p:nvSpPr>
        <p:spPr>
          <a:xfrm>
            <a:off x="6172200" y="1645920"/>
            <a:ext cx="5458968" cy="2148840"/>
          </a:xfrm>
          <a:prstGeom prst="roundRect">
            <a:avLst>
              <a:gd name="adj" fmla="val 3404"/>
            </a:avLst>
          </a:prstGeom>
          <a:solidFill>
            <a:srgbClr val="FBF6E9"/>
          </a:solidFill>
          <a:ln w="12700">
            <a:solidFill>
              <a:srgbClr val="E2E8EE"/>
            </a:solidFill>
            <a:prstDash val="solid"/>
          </a:ln>
        </p:spPr>
      </p:sp>
      <p:sp>
        <p:nvSpPr>
          <p:cNvPr id="10" name="Shape 8"/>
          <p:cNvSpPr/>
          <p:nvPr/>
        </p:nvSpPr>
        <p:spPr>
          <a:xfrm>
            <a:off x="6446520" y="1874520"/>
            <a:ext cx="475488" cy="475488"/>
          </a:xfrm>
          <a:prstGeom prst="ellipse">
            <a:avLst/>
          </a:prstGeom>
          <a:solidFill>
            <a:srgbClr val="E8B547"/>
          </a:solidFill>
          <a:ln/>
        </p:spPr>
      </p:sp>
      <p:sp>
        <p:nvSpPr>
          <p:cNvPr id="11" name="Text 9"/>
          <p:cNvSpPr/>
          <p:nvPr/>
        </p:nvSpPr>
        <p:spPr>
          <a:xfrm>
            <a:off x="6446520" y="1874520"/>
            <a:ext cx="475488" cy="475488"/>
          </a:xfrm>
          <a:prstGeom prst="rect">
            <a:avLst/>
          </a:prstGeom>
          <a:noFill/>
          <a:ln/>
        </p:spPr>
        <p:txBody>
          <a:bodyPr wrap="square" lIns="0" tIns="0" rIns="0" bIns="0" rtlCol="0" anchor="ctr"/>
          <a:lstStyle/>
          <a:p>
            <a:pPr algn="ctr" indent="0" marL="0">
              <a:buNone/>
            </a:pPr>
            <a:r>
              <a:rPr lang="en-US" sz="1800" b="1" dirty="0">
                <a:solidFill>
                  <a:srgbClr val="0F2942"/>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7104888" y="1901952"/>
            <a:ext cx="4206240" cy="365760"/>
          </a:xfrm>
          <a:prstGeom prst="rect">
            <a:avLst/>
          </a:prstGeom>
          <a:noFill/>
          <a:ln/>
        </p:spPr>
        <p:txBody>
          <a:bodyPr wrap="square" lIns="0" tIns="0" rIns="0" bIns="0" rtlCol="0" anchor="ctr"/>
          <a:lstStyle/>
          <a:p>
            <a:pPr indent="0" marL="0">
              <a:buNone/>
            </a:pPr>
            <a:r>
              <a:rPr lang="en-US" sz="1700" b="1" dirty="0">
                <a:solidFill>
                  <a:srgbClr val="0F2942"/>
                </a:solidFill>
                <a:latin typeface="Cambria" pitchFamily="34" charset="0"/>
                <a:ea typeface="Cambria" pitchFamily="34" charset="-122"/>
                <a:cs typeface="Cambria" pitchFamily="34" charset="-120"/>
              </a:rPr>
              <a:t>But keep the rows</a:t>
            </a:r>
            <a:endParaRPr lang="en-US" sz="1700" dirty="0"/>
          </a:p>
        </p:txBody>
      </p:sp>
      <p:sp>
        <p:nvSpPr>
          <p:cNvPr id="13" name="Text 11"/>
          <p:cNvSpPr/>
          <p:nvPr/>
        </p:nvSpPr>
        <p:spPr>
          <a:xfrm>
            <a:off x="6446520" y="2468880"/>
            <a:ext cx="4910328" cy="1188720"/>
          </a:xfrm>
          <a:prstGeom prst="rect">
            <a:avLst/>
          </a:prstGeom>
          <a:noFill/>
          <a:ln/>
        </p:spPr>
        <p:txBody>
          <a:bodyPr wrap="square" lIns="0" tIns="0" rIns="0" bIns="0" rtlCol="0" anchor="ctr"/>
          <a:lstStyle/>
          <a:p>
            <a:pPr indent="0" marL="0">
              <a:lnSpc>
                <a:spcPct val="120000"/>
              </a:lnSpc>
              <a:buNone/>
            </a:pPr>
            <a:r>
              <a:rPr lang="en-US" sz="1250" dirty="0">
                <a:solidFill>
                  <a:srgbClr val="5F7183"/>
                </a:solidFill>
                <a:latin typeface="Calibri" pitchFamily="34" charset="0"/>
                <a:ea typeface="Calibri" pitchFamily="34" charset="-122"/>
                <a:cs typeface="Calibri" pitchFamily="34" charset="-120"/>
              </a:rPr>
              <a:t>This sounds wrong but is essential. Delete the rows and every "what happened N days ago" calculation reaching across the gap breaks. Blank the answer, keep the calendar continuous.</a:t>
            </a:r>
            <a:endParaRPr lang="en-US" sz="1250" dirty="0"/>
          </a:p>
        </p:txBody>
      </p:sp>
      <p:sp>
        <p:nvSpPr>
          <p:cNvPr id="14" name="Shape 12"/>
          <p:cNvSpPr/>
          <p:nvPr/>
        </p:nvSpPr>
        <p:spPr>
          <a:xfrm>
            <a:off x="548640" y="3977640"/>
            <a:ext cx="11082528" cy="1234440"/>
          </a:xfrm>
          <a:prstGeom prst="roundRect">
            <a:avLst>
              <a:gd name="adj" fmla="val 5926"/>
            </a:avLst>
          </a:prstGeom>
          <a:solidFill>
            <a:srgbClr val="F4F6F8"/>
          </a:solidFill>
          <a:ln w="12700">
            <a:solidFill>
              <a:srgbClr val="E2E8EE"/>
            </a:solidFill>
            <a:prstDash val="solid"/>
          </a:ln>
        </p:spPr>
      </p:sp>
      <p:sp>
        <p:nvSpPr>
          <p:cNvPr id="15" name="Text 13"/>
          <p:cNvSpPr/>
          <p:nvPr/>
        </p:nvSpPr>
        <p:spPr>
          <a:xfrm>
            <a:off x="868680" y="4114800"/>
            <a:ext cx="10424160" cy="320040"/>
          </a:xfrm>
          <a:prstGeom prst="rect">
            <a:avLst/>
          </a:prstGeom>
          <a:noFill/>
          <a:ln/>
        </p:spPr>
        <p:txBody>
          <a:bodyPr wrap="square" lIns="0" tIns="0" rIns="0" bIns="0" rtlCol="0" anchor="ctr"/>
          <a:lstStyle/>
          <a:p>
            <a:pPr indent="0" marL="0">
              <a:buNone/>
            </a:pPr>
            <a:r>
              <a:rPr lang="en-US" sz="1600" b="1" dirty="0">
                <a:solidFill>
                  <a:srgbClr val="0F2942"/>
                </a:solidFill>
                <a:latin typeface="Cambria" pitchFamily="34" charset="0"/>
                <a:ea typeface="Cambria" pitchFamily="34" charset="-122"/>
                <a:cs typeface="Cambria" pitchFamily="34" charset="-120"/>
              </a:rPr>
              <a:t>A third safeguard: block the year-ago lookups too</a:t>
            </a:r>
            <a:endParaRPr lang="en-US" sz="1600" dirty="0"/>
          </a:p>
        </p:txBody>
      </p:sp>
      <p:sp>
        <p:nvSpPr>
          <p:cNvPr id="16" name="Text 14"/>
          <p:cNvSpPr/>
          <p:nvPr/>
        </p:nvSpPr>
        <p:spPr>
          <a:xfrm>
            <a:off x="868680" y="4462272"/>
            <a:ext cx="10424160" cy="594360"/>
          </a:xfrm>
          <a:prstGeom prst="rect">
            <a:avLst/>
          </a:prstGeom>
          <a:noFill/>
          <a:ln/>
        </p:spPr>
        <p:txBody>
          <a:bodyPr wrap="square" lIns="0" tIns="0" rIns="0" bIns="0" rtlCol="0" anchor="ctr"/>
          <a:lstStyle/>
          <a:p>
            <a:pPr indent="0" marL="0">
              <a:buNone/>
            </a:pPr>
            <a:r>
              <a:rPr lang="en-US" sz="1250" dirty="0">
                <a:solidFill>
                  <a:srgbClr val="5F7183"/>
                </a:solidFill>
                <a:latin typeface="Calibri" pitchFamily="34" charset="0"/>
                <a:ea typeface="Calibri" pitchFamily="34" charset="-122"/>
                <a:cs typeface="Calibri" pitchFamily="34" charset="-120"/>
              </a:rPr>
              <a:t>A day in 2023 comparing itself against "last year" would be comparing against collapsed 2022 trade. Any year-ago input whose source lands inside COVID is blanked as well.</a:t>
            </a:r>
            <a:endParaRPr lang="en-US" sz="1250" dirty="0"/>
          </a:p>
        </p:txBody>
      </p:sp>
      <p:sp>
        <p:nvSpPr>
          <p:cNvPr id="17" name="Shape 15"/>
          <p:cNvSpPr/>
          <p:nvPr/>
        </p:nvSpPr>
        <p:spPr>
          <a:xfrm>
            <a:off x="548640" y="5349240"/>
            <a:ext cx="11082528" cy="1051560"/>
          </a:xfrm>
          <a:prstGeom prst="roundRect">
            <a:avLst>
              <a:gd name="adj" fmla="val 6957"/>
            </a:avLst>
          </a:prstGeom>
          <a:solidFill>
            <a:srgbClr val="EAF2F5"/>
          </a:solidFill>
          <a:ln w="12700">
            <a:solidFill>
              <a:srgbClr val="E2E8EE"/>
            </a:solidFill>
            <a:prstDash val="solid"/>
          </a:ln>
        </p:spPr>
      </p:sp>
      <p:sp>
        <p:nvSpPr>
          <p:cNvPr id="18" name="Text 16"/>
          <p:cNvSpPr/>
          <p:nvPr/>
        </p:nvSpPr>
        <p:spPr>
          <a:xfrm>
            <a:off x="868680" y="5468112"/>
            <a:ext cx="10424160" cy="320040"/>
          </a:xfrm>
          <a:prstGeom prst="rect">
            <a:avLst/>
          </a:prstGeom>
          <a:noFill/>
          <a:ln/>
        </p:spPr>
        <p:txBody>
          <a:bodyPr wrap="square" lIns="0" tIns="0" rIns="0" bIns="0" rtlCol="0" anchor="ctr"/>
          <a:lstStyle/>
          <a:p>
            <a:pPr indent="0" marL="0">
              <a:buNone/>
            </a:pPr>
            <a:r>
              <a:rPr lang="en-US" sz="1500" b="1" dirty="0">
                <a:solidFill>
                  <a:srgbClr val="0F2942"/>
                </a:solidFill>
                <a:latin typeface="Cambria" pitchFamily="34" charset="0"/>
                <a:ea typeface="Cambria" pitchFamily="34" charset="-122"/>
                <a:cs typeface="Cambria" pitchFamily="34" charset="-120"/>
              </a:rPr>
              <a:t>Closure days are found in the data, not typed in by hand</a:t>
            </a:r>
            <a:endParaRPr lang="en-US" sz="1500" dirty="0"/>
          </a:p>
        </p:txBody>
      </p:sp>
      <p:sp>
        <p:nvSpPr>
          <p:cNvPr id="19" name="Text 17"/>
          <p:cNvSpPr/>
          <p:nvPr/>
        </p:nvSpPr>
        <p:spPr>
          <a:xfrm>
            <a:off x="868680" y="5788152"/>
            <a:ext cx="10424160" cy="502920"/>
          </a:xfrm>
          <a:prstGeom prst="rect">
            <a:avLst/>
          </a:prstGeom>
          <a:noFill/>
          <a:ln/>
        </p:spPr>
        <p:txBody>
          <a:bodyPr wrap="square" lIns="0" tIns="0" rIns="0" bIns="0" rtlCol="0" anchor="ctr"/>
          <a:lstStyle/>
          <a:p>
            <a:pPr indent="0" marL="0">
              <a:buNone/>
            </a:pPr>
            <a:r>
              <a:rPr lang="en-US" sz="1250" dirty="0">
                <a:solidFill>
                  <a:srgbClr val="5F7183"/>
                </a:solidFill>
                <a:latin typeface="Calibri" pitchFamily="34" charset="0"/>
                <a:ea typeface="Calibri" pitchFamily="34" charset="-122"/>
                <a:cs typeface="Calibri" pitchFamily="34" charset="-120"/>
              </a:rPr>
              <a:t>Zero tables open means the floor was shut. That rule alone correctly finds typhoon Mangkhut (Sept 2018) and both COVID closures — 26 days in total. They are supply zeros, not demand.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The setting that makes long history actually work</a:t>
            </a:r>
            <a:endParaRPr lang="en-US" sz="31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Adding old data changes nothing unless you also change how much old data counts.</a:t>
            </a:r>
            <a:endParaRPr lang="en-US" sz="1500" dirty="0"/>
          </a:p>
        </p:txBody>
      </p:sp>
      <p:graphicFrame>
        <p:nvGraphicFramePr>
          <p:cNvPr id="4" name="Chart 0" descr=""/>
          <p:cNvGraphicFramePr/>
          <p:nvPr/>
        </p:nvGraphicFramePr>
        <p:xfrm>
          <a:off x="457200" y="1600200"/>
          <a:ext cx="6766560" cy="4343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98080" y="1691640"/>
            <a:ext cx="4133088" cy="1965960"/>
          </a:xfrm>
          <a:prstGeom prst="roundRect">
            <a:avLst>
              <a:gd name="adj" fmla="val 3721"/>
            </a:avLst>
          </a:prstGeom>
          <a:solidFill>
            <a:srgbClr val="FBF6E9"/>
          </a:solidFill>
          <a:ln w="12700">
            <a:solidFill>
              <a:srgbClr val="E2E8EE"/>
            </a:solidFill>
            <a:prstDash val="solid"/>
          </a:ln>
        </p:spPr>
      </p:sp>
      <p:sp>
        <p:nvSpPr>
          <p:cNvPr id="6" name="Text 3"/>
          <p:cNvSpPr/>
          <p:nvPr/>
        </p:nvSpPr>
        <p:spPr>
          <a:xfrm>
            <a:off x="7772400" y="1856232"/>
            <a:ext cx="3566160" cy="320040"/>
          </a:xfrm>
          <a:prstGeom prst="rect">
            <a:avLst/>
          </a:prstGeom>
          <a:noFill/>
          <a:ln/>
        </p:spPr>
        <p:txBody>
          <a:bodyPr wrap="square" lIns="0" tIns="0" rIns="0" bIns="0" rtlCol="0" anchor="ctr"/>
          <a:lstStyle/>
          <a:p>
            <a:pPr indent="0" marL="0">
              <a:buNone/>
            </a:pPr>
            <a:r>
              <a:rPr lang="en-US" sz="1500" b="1" dirty="0">
                <a:solidFill>
                  <a:srgbClr val="0F2942"/>
                </a:solidFill>
                <a:latin typeface="Cambria" pitchFamily="34" charset="0"/>
                <a:ea typeface="Cambria" pitchFamily="34" charset="-122"/>
                <a:cs typeface="Cambria" pitchFamily="34" charset="-120"/>
              </a:rPr>
              <a:t>What half-life means</a:t>
            </a:r>
            <a:endParaRPr lang="en-US" sz="1500" dirty="0"/>
          </a:p>
        </p:txBody>
      </p:sp>
      <p:sp>
        <p:nvSpPr>
          <p:cNvPr id="7" name="Text 4"/>
          <p:cNvSpPr/>
          <p:nvPr/>
        </p:nvSpPr>
        <p:spPr>
          <a:xfrm>
            <a:off x="7772400" y="2212848"/>
            <a:ext cx="3566160" cy="1280160"/>
          </a:xfrm>
          <a:prstGeom prst="rect">
            <a:avLst/>
          </a:prstGeom>
          <a:noFill/>
          <a:ln/>
        </p:spPr>
        <p:txBody>
          <a:bodyPr wrap="square" lIns="0" tIns="0" rIns="0" bIns="0" rtlCol="0" anchor="ctr"/>
          <a:lstStyle/>
          <a:p>
            <a:pPr indent="0" marL="0">
              <a:lnSpc>
                <a:spcPct val="120000"/>
              </a:lnSpc>
              <a:buNone/>
            </a:pPr>
            <a:r>
              <a:rPr lang="en-US" sz="1250" dirty="0">
                <a:solidFill>
                  <a:srgbClr val="5F7183"/>
                </a:solidFill>
                <a:latin typeface="Calibri" pitchFamily="34" charset="0"/>
                <a:ea typeface="Calibri" pitchFamily="34" charset="-122"/>
                <a:cs typeface="Calibri" pitchFamily="34" charset="-120"/>
              </a:rPr>
              <a:t>How many days until a day counts half as much. At 240 days, something from 240 days ago counts half; 480 days ago a quarter. It falls away fast.</a:t>
            </a:r>
            <a:endParaRPr lang="en-US" sz="1250" dirty="0"/>
          </a:p>
        </p:txBody>
      </p:sp>
      <p:sp>
        <p:nvSpPr>
          <p:cNvPr id="8" name="Shape 5"/>
          <p:cNvSpPr/>
          <p:nvPr/>
        </p:nvSpPr>
        <p:spPr>
          <a:xfrm>
            <a:off x="7498080" y="3840480"/>
            <a:ext cx="4133088" cy="2286000"/>
          </a:xfrm>
          <a:prstGeom prst="roundRect">
            <a:avLst>
              <a:gd name="adj" fmla="val 3200"/>
            </a:avLst>
          </a:prstGeom>
          <a:solidFill>
            <a:srgbClr val="F7E9E9"/>
          </a:solidFill>
          <a:ln w="12700">
            <a:solidFill>
              <a:srgbClr val="E2E8EE"/>
            </a:solidFill>
            <a:prstDash val="solid"/>
          </a:ln>
        </p:spPr>
      </p:sp>
      <p:sp>
        <p:nvSpPr>
          <p:cNvPr id="9" name="Text 6"/>
          <p:cNvSpPr/>
          <p:nvPr/>
        </p:nvSpPr>
        <p:spPr>
          <a:xfrm>
            <a:off x="7772400" y="4041648"/>
            <a:ext cx="3566160" cy="320040"/>
          </a:xfrm>
          <a:prstGeom prst="rect">
            <a:avLst/>
          </a:prstGeom>
          <a:noFill/>
          <a:ln/>
        </p:spPr>
        <p:txBody>
          <a:bodyPr wrap="square" lIns="0" tIns="0" rIns="0" bIns="0" rtlCol="0" anchor="ctr"/>
          <a:lstStyle/>
          <a:p>
            <a:pPr indent="0" marL="0">
              <a:buNone/>
            </a:pPr>
            <a:r>
              <a:rPr lang="en-US" sz="1500" b="1" dirty="0">
                <a:solidFill>
                  <a:srgbClr val="0F2942"/>
                </a:solidFill>
                <a:latin typeface="Cambria" pitchFamily="34" charset="0"/>
                <a:ea typeface="Cambria" pitchFamily="34" charset="-122"/>
                <a:cs typeface="Cambria" pitchFamily="34" charset="-120"/>
              </a:rPr>
              <a:t>The trap</a:t>
            </a:r>
            <a:endParaRPr lang="en-US" sz="1500" dirty="0"/>
          </a:p>
        </p:txBody>
      </p:sp>
      <p:sp>
        <p:nvSpPr>
          <p:cNvPr id="10" name="Text 7"/>
          <p:cNvSpPr/>
          <p:nvPr/>
        </p:nvSpPr>
        <p:spPr>
          <a:xfrm>
            <a:off x="7772400" y="4407408"/>
            <a:ext cx="3566160" cy="1600200"/>
          </a:xfrm>
          <a:prstGeom prst="rect">
            <a:avLst/>
          </a:prstGeom>
          <a:noFill/>
          <a:ln/>
        </p:spPr>
        <p:txBody>
          <a:bodyPr wrap="square" lIns="0" tIns="0" rIns="0" bIns="0" rtlCol="0" anchor="ctr"/>
          <a:lstStyle/>
          <a:p>
            <a:pPr indent="0" marL="0">
              <a:lnSpc>
                <a:spcPct val="115000"/>
              </a:lnSpc>
              <a:buNone/>
            </a:pPr>
            <a:r>
              <a:rPr lang="en-US" sz="1200" dirty="0">
                <a:solidFill>
                  <a:srgbClr val="0F2942"/>
                </a:solidFill>
                <a:latin typeface="Calibri" pitchFamily="34" charset="0"/>
                <a:ea typeface="Calibri" pitchFamily="34" charset="-122"/>
                <a:cs typeface="Calibri" pitchFamily="34" charset="-120"/>
              </a:rPr>
              <a:t>At a 240-day half-life a day from 2016 counts about 1/35,000th of today — mathematically invisible.</a:t>
            </a:r>
            <a:endParaRPr lang="en-US" sz="1200" dirty="0"/>
          </a:p>
          <a:p>
            <a:pPr indent="0" marL="0">
              <a:lnSpc>
                <a:spcPct val="115000"/>
              </a:lnSpc>
              <a:buNone/>
            </a:pPr>
            <a:endParaRPr lang="en-US" sz="1200" dirty="0"/>
          </a:p>
          <a:p>
            <a:pPr indent="0" marL="0">
              <a:lnSpc>
                <a:spcPct val="115000"/>
              </a:lnSpc>
              <a:buNone/>
            </a:pPr>
            <a:r>
              <a:rPr lang="en-US" sz="1200" dirty="0">
                <a:solidFill>
                  <a:srgbClr val="0F2942"/>
                </a:solidFill>
                <a:latin typeface="Calibri" pitchFamily="34" charset="0"/>
                <a:ea typeface="Calibri" pitchFamily="34" charset="-122"/>
                <a:cs typeface="Calibri" pitchFamily="34" charset="-120"/>
              </a:rPr>
              <a:t>So loading eleven years of history and changing nothing else does literally nothing. The half-life is not a follow-up to adding history. It IS the change.</a:t>
            </a:r>
            <a:endParaRPr lang="en-US" sz="1200" dirty="0"/>
          </a:p>
        </p:txBody>
      </p:sp>
      <p:sp>
        <p:nvSpPr>
          <p:cNvPr id="11" name="Text 8"/>
          <p:cNvSpPr/>
          <p:nvPr/>
        </p:nvSpPr>
        <p:spPr>
          <a:xfrm>
            <a:off x="548640" y="6035040"/>
            <a:ext cx="6675120" cy="365760"/>
          </a:xfrm>
          <a:prstGeom prst="rect">
            <a:avLst/>
          </a:prstGeom>
          <a:noFill/>
          <a:ln/>
        </p:spPr>
        <p:txBody>
          <a:bodyPr wrap="square" lIns="0" tIns="0" rIns="0" bIns="0" rtlCol="0" anchor="ctr"/>
          <a:lstStyle/>
          <a:p>
            <a:pPr indent="0" marL="0">
              <a:buNone/>
            </a:pPr>
            <a:r>
              <a:rPr lang="en-US" sz="1250" i="1" dirty="0">
                <a:solidFill>
                  <a:srgbClr val="5F7183"/>
                </a:solidFill>
                <a:latin typeface="Calibri" pitchFamily="34" charset="0"/>
                <a:ea typeface="Calibri" pitchFamily="34" charset="-122"/>
                <a:cs typeface="Calibri" pitchFamily="34" charset="-120"/>
              </a:rPr>
              <a:t>Holiday days also get an extra 3× boost — they are rare but high-stakes.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942"/>
        </a:solidFill>
      </p:bgPr>
    </p:bg>
    <p:spTree>
      <p:nvGrpSpPr>
        <p:cNvPr id="1" name=""/>
        <p:cNvGrpSpPr/>
        <p:nvPr/>
      </p:nvGrpSpPr>
      <p:grpSpPr>
        <a:xfrm>
          <a:off x="0" y="0"/>
          <a:ext cx="0" cy="0"/>
          <a:chOff x="0" y="0"/>
          <a:chExt cx="0" cy="0"/>
        </a:xfrm>
      </p:grpSpPr>
      <p:sp>
        <p:nvSpPr>
          <p:cNvPr id="2" name="Shape 0"/>
          <p:cNvSpPr/>
          <p:nvPr/>
        </p:nvSpPr>
        <p:spPr>
          <a:xfrm>
            <a:off x="822960" y="2286000"/>
            <a:ext cx="1051560" cy="1051560"/>
          </a:xfrm>
          <a:prstGeom prst="ellipse">
            <a:avLst/>
          </a:prstGeom>
          <a:solidFill>
            <a:srgbClr val="E8B547"/>
          </a:solidFill>
          <a:ln/>
        </p:spPr>
      </p:sp>
      <p:sp>
        <p:nvSpPr>
          <p:cNvPr id="3" name="Text 1"/>
          <p:cNvSpPr/>
          <p:nvPr/>
        </p:nvSpPr>
        <p:spPr>
          <a:xfrm>
            <a:off x="822960" y="2286000"/>
            <a:ext cx="1051560" cy="1051560"/>
          </a:xfrm>
          <a:prstGeom prst="rect">
            <a:avLst/>
          </a:prstGeom>
          <a:noFill/>
          <a:ln/>
        </p:spPr>
        <p:txBody>
          <a:bodyPr wrap="square" lIns="0" tIns="0" rIns="0" bIns="0" rtlCol="0" anchor="ctr"/>
          <a:lstStyle/>
          <a:p>
            <a:pPr algn="ctr" indent="0" marL="0">
              <a:buNone/>
            </a:pPr>
            <a:r>
              <a:rPr lang="en-US" sz="4000" b="1" dirty="0">
                <a:solidFill>
                  <a:srgbClr val="0F2942"/>
                </a:solidFill>
                <a:latin typeface="Cambria" pitchFamily="34" charset="0"/>
                <a:ea typeface="Cambria" pitchFamily="34" charset="-122"/>
                <a:cs typeface="Cambria" pitchFamily="34" charset="-120"/>
              </a:rPr>
              <a:t>2</a:t>
            </a:r>
            <a:endParaRPr lang="en-US" sz="4000" dirty="0"/>
          </a:p>
        </p:txBody>
      </p:sp>
      <p:sp>
        <p:nvSpPr>
          <p:cNvPr id="4" name="Text 2"/>
          <p:cNvSpPr/>
          <p:nvPr/>
        </p:nvSpPr>
        <p:spPr>
          <a:xfrm>
            <a:off x="2240280" y="2194560"/>
            <a:ext cx="896112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rule that shapes everything</a:t>
            </a:r>
            <a:endParaRPr lang="en-US" sz="3800" dirty="0"/>
          </a:p>
        </p:txBody>
      </p:sp>
      <p:sp>
        <p:nvSpPr>
          <p:cNvPr id="5" name="Text 3"/>
          <p:cNvSpPr/>
          <p:nvPr/>
        </p:nvSpPr>
        <p:spPr>
          <a:xfrm>
            <a:off x="2286000" y="3127248"/>
            <a:ext cx="8778240" cy="777240"/>
          </a:xfrm>
          <a:prstGeom prst="rect">
            <a:avLst/>
          </a:prstGeom>
          <a:noFill/>
          <a:ln/>
        </p:spPr>
        <p:txBody>
          <a:bodyPr wrap="square" lIns="0" tIns="0" rIns="0" bIns="0" rtlCol="0" anchor="t"/>
          <a:lstStyle/>
          <a:p>
            <a:pPr indent="0" marL="0">
              <a:buNone/>
            </a:pPr>
            <a:r>
              <a:rPr lang="en-US" sz="1650" dirty="0">
                <a:solidFill>
                  <a:srgbClr val="AEC3D6"/>
                </a:solidFill>
                <a:latin typeface="Calibri" pitchFamily="34" charset="0"/>
                <a:ea typeface="Calibri" pitchFamily="34" charset="-122"/>
                <a:cs typeface="Calibri" pitchFamily="34" charset="-120"/>
              </a:rPr>
              <a:t>Every accuracy number in this deck depends on one constraint being obeyed.</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No peeking</a:t>
            </a:r>
            <a:endParaRPr lang="en-US" sz="31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A forecast may only use information that genuinely existed at the time it was made.</a:t>
            </a:r>
            <a:endParaRPr lang="en-US" sz="1500" dirty="0"/>
          </a:p>
        </p:txBody>
      </p:sp>
      <p:sp>
        <p:nvSpPr>
          <p:cNvPr id="4" name="Text 2"/>
          <p:cNvSpPr/>
          <p:nvPr/>
        </p:nvSpPr>
        <p:spPr>
          <a:xfrm>
            <a:off x="548640" y="1600200"/>
            <a:ext cx="11064240" cy="365760"/>
          </a:xfrm>
          <a:prstGeom prst="rect">
            <a:avLst/>
          </a:prstGeom>
          <a:noFill/>
          <a:ln/>
        </p:spPr>
        <p:txBody>
          <a:bodyPr wrap="square" lIns="0" tIns="0" rIns="0" bIns="0" rtlCol="0" anchor="ctr"/>
          <a:lstStyle/>
          <a:p>
            <a:pPr indent="0" marL="0">
              <a:buNone/>
            </a:pPr>
            <a:r>
              <a:rPr lang="en-US" sz="1500" dirty="0">
                <a:solidFill>
                  <a:srgbClr val="0F2942"/>
                </a:solidFill>
                <a:latin typeface="Calibri" pitchFamily="34" charset="0"/>
                <a:ea typeface="Calibri" pitchFamily="34" charset="-122"/>
                <a:cs typeface="Calibri" pitchFamily="34" charset="-120"/>
              </a:rPr>
              <a:t>Suppose today is 1 March and you want to predict 15 March — that is 14 days ahead.</a:t>
            </a:r>
            <a:endParaRPr lang="en-US" sz="1500" dirty="0"/>
          </a:p>
        </p:txBody>
      </p:sp>
      <p:sp>
        <p:nvSpPr>
          <p:cNvPr id="5" name="Shape 3"/>
          <p:cNvSpPr/>
          <p:nvPr/>
        </p:nvSpPr>
        <p:spPr>
          <a:xfrm>
            <a:off x="822960" y="2898648"/>
            <a:ext cx="10515600" cy="32004"/>
          </a:xfrm>
          <a:prstGeom prst="rect">
            <a:avLst/>
          </a:prstGeom>
          <a:solidFill>
            <a:srgbClr val="C9D4DE"/>
          </a:solidFill>
          <a:ln/>
        </p:spPr>
      </p:sp>
      <p:sp>
        <p:nvSpPr>
          <p:cNvPr id="6" name="Shape 4"/>
          <p:cNvSpPr/>
          <p:nvPr/>
        </p:nvSpPr>
        <p:spPr>
          <a:xfrm>
            <a:off x="822960" y="2331720"/>
            <a:ext cx="4837176" cy="566928"/>
          </a:xfrm>
          <a:prstGeom prst="rect">
            <a:avLst/>
          </a:prstGeom>
          <a:solidFill>
            <a:srgbClr val="E4EFF3"/>
          </a:solidFill>
          <a:ln/>
        </p:spPr>
      </p:sp>
      <p:sp>
        <p:nvSpPr>
          <p:cNvPr id="7" name="Shape 5"/>
          <p:cNvSpPr/>
          <p:nvPr/>
        </p:nvSpPr>
        <p:spPr>
          <a:xfrm>
            <a:off x="5660136" y="2331720"/>
            <a:ext cx="3680460" cy="566928"/>
          </a:xfrm>
          <a:prstGeom prst="rect">
            <a:avLst/>
          </a:prstGeom>
          <a:solidFill>
            <a:srgbClr val="F7E3E3"/>
          </a:solidFill>
          <a:ln/>
        </p:spPr>
      </p:sp>
      <p:sp>
        <p:nvSpPr>
          <p:cNvPr id="8" name="Shape 6"/>
          <p:cNvSpPr/>
          <p:nvPr/>
        </p:nvSpPr>
        <p:spPr>
          <a:xfrm>
            <a:off x="9340596" y="2331720"/>
            <a:ext cx="1997964" cy="566928"/>
          </a:xfrm>
          <a:prstGeom prst="rect">
            <a:avLst/>
          </a:prstGeom>
          <a:solidFill>
            <a:srgbClr val="FBF0D6"/>
          </a:solidFill>
          <a:ln/>
        </p:spPr>
      </p:sp>
      <p:sp>
        <p:nvSpPr>
          <p:cNvPr id="9" name="Text 7"/>
          <p:cNvSpPr/>
          <p:nvPr/>
        </p:nvSpPr>
        <p:spPr>
          <a:xfrm>
            <a:off x="822960" y="2331720"/>
            <a:ext cx="4837176" cy="566928"/>
          </a:xfrm>
          <a:prstGeom prst="rect">
            <a:avLst/>
          </a:prstGeom>
          <a:noFill/>
          <a:ln/>
        </p:spPr>
        <p:txBody>
          <a:bodyPr wrap="square" lIns="0" tIns="0" rIns="0" bIns="0" rtlCol="0" anchor="ctr"/>
          <a:lstStyle/>
          <a:p>
            <a:pPr algn="ctr" indent="0" marL="0">
              <a:buNone/>
            </a:pPr>
            <a:r>
              <a:rPr lang="en-US" sz="1250" b="1" dirty="0">
                <a:solidFill>
                  <a:srgbClr val="0F2942"/>
                </a:solidFill>
                <a:latin typeface="Calibri" pitchFamily="34" charset="0"/>
                <a:ea typeface="Calibri" pitchFamily="34" charset="-122"/>
                <a:cs typeface="Calibri" pitchFamily="34" charset="-120"/>
              </a:rPr>
              <a:t>data you MAY use</a:t>
            </a:r>
            <a:endParaRPr lang="en-US" sz="1250" dirty="0"/>
          </a:p>
        </p:txBody>
      </p:sp>
      <p:sp>
        <p:nvSpPr>
          <p:cNvPr id="10" name="Text 8"/>
          <p:cNvSpPr/>
          <p:nvPr/>
        </p:nvSpPr>
        <p:spPr>
          <a:xfrm>
            <a:off x="5660136" y="2331720"/>
            <a:ext cx="3680460" cy="566928"/>
          </a:xfrm>
          <a:prstGeom prst="rect">
            <a:avLst/>
          </a:prstGeom>
          <a:noFill/>
          <a:ln/>
        </p:spPr>
        <p:txBody>
          <a:bodyPr wrap="square" lIns="0" tIns="0" rIns="0" bIns="0" rtlCol="0" anchor="ctr"/>
          <a:lstStyle/>
          <a:p>
            <a:pPr algn="ctr" indent="0" marL="0">
              <a:buNone/>
            </a:pPr>
            <a:r>
              <a:rPr lang="en-US" sz="1250" b="1" dirty="0">
                <a:solidFill>
                  <a:srgbClr val="C74B4B"/>
                </a:solidFill>
                <a:latin typeface="Calibri" pitchFamily="34" charset="0"/>
                <a:ea typeface="Calibri" pitchFamily="34" charset="-122"/>
                <a:cs typeface="Calibri" pitchFamily="34" charset="-120"/>
              </a:rPr>
              <a:t>the last 13 days — FORBIDDEN</a:t>
            </a:r>
            <a:endParaRPr lang="en-US" sz="1250" dirty="0"/>
          </a:p>
        </p:txBody>
      </p:sp>
      <p:sp>
        <p:nvSpPr>
          <p:cNvPr id="11" name="Text 9"/>
          <p:cNvSpPr/>
          <p:nvPr/>
        </p:nvSpPr>
        <p:spPr>
          <a:xfrm>
            <a:off x="9340596" y="2331720"/>
            <a:ext cx="1997964" cy="566928"/>
          </a:xfrm>
          <a:prstGeom prst="rect">
            <a:avLst/>
          </a:prstGeom>
          <a:noFill/>
          <a:ln/>
        </p:spPr>
        <p:txBody>
          <a:bodyPr wrap="square" lIns="0" tIns="0" rIns="0" bIns="0" rtlCol="0" anchor="ctr"/>
          <a:lstStyle/>
          <a:p>
            <a:pPr algn="ctr" indent="0" marL="0">
              <a:buNone/>
            </a:pPr>
            <a:r>
              <a:rPr lang="en-US" sz="1250" b="1" dirty="0">
                <a:solidFill>
                  <a:srgbClr val="8A6A1F"/>
                </a:solidFill>
                <a:latin typeface="Calibri" pitchFamily="34" charset="0"/>
                <a:ea typeface="Calibri" pitchFamily="34" charset="-122"/>
                <a:cs typeface="Calibri" pitchFamily="34" charset="-120"/>
              </a:rPr>
              <a:t>the day you predict</a:t>
            </a:r>
            <a:endParaRPr lang="en-US" sz="1250" dirty="0"/>
          </a:p>
        </p:txBody>
      </p:sp>
      <p:sp>
        <p:nvSpPr>
          <p:cNvPr id="12" name="Text 10"/>
          <p:cNvSpPr/>
          <p:nvPr/>
        </p:nvSpPr>
        <p:spPr>
          <a:xfrm>
            <a:off x="822960" y="2971800"/>
            <a:ext cx="4837176" cy="320040"/>
          </a:xfrm>
          <a:prstGeom prst="rect">
            <a:avLst/>
          </a:prstGeom>
          <a:noFill/>
          <a:ln/>
        </p:spPr>
        <p:txBody>
          <a:bodyPr wrap="square" lIns="0" tIns="0" rIns="0" bIns="0" rtlCol="0" anchor="ctr"/>
          <a:lstStyle/>
          <a:p>
            <a:pPr algn="ctr" indent="0" marL="0">
              <a:buNone/>
            </a:pPr>
            <a:r>
              <a:rPr lang="en-US" sz="1100" dirty="0">
                <a:solidFill>
                  <a:srgbClr val="5F7183"/>
                </a:solidFill>
                <a:latin typeface="Calibri" pitchFamily="34" charset="0"/>
                <a:ea typeface="Calibri" pitchFamily="34" charset="-122"/>
                <a:cs typeface="Calibri" pitchFamily="34" charset="-120"/>
              </a:rPr>
              <a:t>… up to 28 Feb</a:t>
            </a:r>
            <a:endParaRPr lang="en-US" sz="1100" dirty="0"/>
          </a:p>
        </p:txBody>
      </p:sp>
      <p:sp>
        <p:nvSpPr>
          <p:cNvPr id="13" name="Text 11"/>
          <p:cNvSpPr/>
          <p:nvPr/>
        </p:nvSpPr>
        <p:spPr>
          <a:xfrm>
            <a:off x="5660136" y="2971800"/>
            <a:ext cx="3680460" cy="320040"/>
          </a:xfrm>
          <a:prstGeom prst="rect">
            <a:avLst/>
          </a:prstGeom>
          <a:noFill/>
          <a:ln/>
        </p:spPr>
        <p:txBody>
          <a:bodyPr wrap="square" lIns="0" tIns="0" rIns="0" bIns="0" rtlCol="0" anchor="ctr"/>
          <a:lstStyle/>
          <a:p>
            <a:pPr algn="ctr" indent="0" marL="0">
              <a:buNone/>
            </a:pPr>
            <a:r>
              <a:rPr lang="en-US" sz="1100" dirty="0">
                <a:solidFill>
                  <a:srgbClr val="5F7183"/>
                </a:solidFill>
                <a:latin typeface="Calibri" pitchFamily="34" charset="0"/>
                <a:ea typeface="Calibri" pitchFamily="34" charset="-122"/>
                <a:cs typeface="Calibri" pitchFamily="34" charset="-120"/>
              </a:rPr>
              <a:t>1 – 14 March</a:t>
            </a:r>
            <a:endParaRPr lang="en-US" sz="1100" dirty="0"/>
          </a:p>
        </p:txBody>
      </p:sp>
      <p:sp>
        <p:nvSpPr>
          <p:cNvPr id="14" name="Text 12"/>
          <p:cNvSpPr/>
          <p:nvPr/>
        </p:nvSpPr>
        <p:spPr>
          <a:xfrm>
            <a:off x="9340596" y="2971800"/>
            <a:ext cx="1997964" cy="320040"/>
          </a:xfrm>
          <a:prstGeom prst="rect">
            <a:avLst/>
          </a:prstGeom>
          <a:noFill/>
          <a:ln/>
        </p:spPr>
        <p:txBody>
          <a:bodyPr wrap="square" lIns="0" tIns="0" rIns="0" bIns="0" rtlCol="0" anchor="ctr"/>
          <a:lstStyle/>
          <a:p>
            <a:pPr algn="ctr" indent="0" marL="0">
              <a:buNone/>
            </a:pPr>
            <a:r>
              <a:rPr lang="en-US" sz="1100" dirty="0">
                <a:solidFill>
                  <a:srgbClr val="5F7183"/>
                </a:solidFill>
                <a:latin typeface="Calibri" pitchFamily="34" charset="0"/>
                <a:ea typeface="Calibri" pitchFamily="34" charset="-122"/>
                <a:cs typeface="Calibri" pitchFamily="34" charset="-120"/>
              </a:rPr>
              <a:t>15 March</a:t>
            </a:r>
            <a:endParaRPr lang="en-US" sz="1100" dirty="0"/>
          </a:p>
        </p:txBody>
      </p:sp>
      <p:sp>
        <p:nvSpPr>
          <p:cNvPr id="15" name="Shape 13"/>
          <p:cNvSpPr/>
          <p:nvPr/>
        </p:nvSpPr>
        <p:spPr>
          <a:xfrm>
            <a:off x="548640" y="3794760"/>
            <a:ext cx="5394960" cy="2377440"/>
          </a:xfrm>
          <a:prstGeom prst="roundRect">
            <a:avLst>
              <a:gd name="adj" fmla="val 3077"/>
            </a:avLst>
          </a:prstGeom>
          <a:solidFill>
            <a:srgbClr val="F4F6F8"/>
          </a:solidFill>
          <a:ln w="12700">
            <a:solidFill>
              <a:srgbClr val="E2E8EE"/>
            </a:solidFill>
            <a:prstDash val="solid"/>
          </a:ln>
        </p:spPr>
      </p:sp>
      <p:sp>
        <p:nvSpPr>
          <p:cNvPr id="16" name="Shape 14"/>
          <p:cNvSpPr/>
          <p:nvPr/>
        </p:nvSpPr>
        <p:spPr>
          <a:xfrm>
            <a:off x="822960" y="4041648"/>
            <a:ext cx="457200" cy="457200"/>
          </a:xfrm>
          <a:prstGeom prst="ellipse">
            <a:avLst/>
          </a:prstGeom>
          <a:solidFill>
            <a:srgbClr val="C74B4B"/>
          </a:solidFill>
          <a:ln/>
        </p:spPr>
      </p:sp>
      <p:sp>
        <p:nvSpPr>
          <p:cNvPr id="17" name="Text 15"/>
          <p:cNvSpPr/>
          <p:nvPr/>
        </p:nvSpPr>
        <p:spPr>
          <a:xfrm>
            <a:off x="822960" y="40416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8" name="Text 16"/>
          <p:cNvSpPr/>
          <p:nvPr/>
        </p:nvSpPr>
        <p:spPr>
          <a:xfrm>
            <a:off x="1417320" y="4069080"/>
            <a:ext cx="4297680" cy="365760"/>
          </a:xfrm>
          <a:prstGeom prst="rect">
            <a:avLst/>
          </a:prstGeom>
          <a:noFill/>
          <a:ln/>
        </p:spPr>
        <p:txBody>
          <a:bodyPr wrap="square" lIns="0" tIns="0" rIns="0" bIns="0" rtlCol="0" anchor="ctr"/>
          <a:lstStyle/>
          <a:p>
            <a:pPr indent="0" marL="0">
              <a:buNone/>
            </a:pPr>
            <a:r>
              <a:rPr lang="en-US" sz="1600" b="1" dirty="0">
                <a:solidFill>
                  <a:srgbClr val="0F2942"/>
                </a:solidFill>
                <a:latin typeface="Cambria" pitchFamily="34" charset="0"/>
                <a:ea typeface="Cambria" pitchFamily="34" charset="-122"/>
                <a:cs typeface="Cambria" pitchFamily="34" charset="-120"/>
              </a:rPr>
              <a:t>Why it matters</a:t>
            </a:r>
            <a:endParaRPr lang="en-US" sz="1600" dirty="0"/>
          </a:p>
        </p:txBody>
      </p:sp>
      <p:sp>
        <p:nvSpPr>
          <p:cNvPr id="19" name="Text 17"/>
          <p:cNvSpPr/>
          <p:nvPr/>
        </p:nvSpPr>
        <p:spPr>
          <a:xfrm>
            <a:off x="822960" y="4617720"/>
            <a:ext cx="4846320" cy="1417320"/>
          </a:xfrm>
          <a:prstGeom prst="rect">
            <a:avLst/>
          </a:prstGeom>
          <a:noFill/>
          <a:ln/>
        </p:spPr>
        <p:txBody>
          <a:bodyPr wrap="square" lIns="0" tIns="0" rIns="0" bIns="0" rtlCol="0" anchor="ctr"/>
          <a:lstStyle/>
          <a:p>
            <a:pPr indent="0" marL="0">
              <a:lnSpc>
                <a:spcPct val="120000"/>
              </a:lnSpc>
              <a:buNone/>
            </a:pPr>
            <a:r>
              <a:rPr lang="en-US" sz="1250" dirty="0">
                <a:solidFill>
                  <a:srgbClr val="5F7183"/>
                </a:solidFill>
                <a:latin typeface="Calibri" pitchFamily="34" charset="0"/>
                <a:ea typeface="Calibri" pitchFamily="34" charset="-122"/>
                <a:cs typeface="Calibri" pitchFamily="34" charset="-120"/>
              </a:rPr>
              <a:t>On 1 March, demand for 5 March has not happened yet. A model allowed to see it while learning would score brilliantly in testing and fail completely in real use.</a:t>
            </a:r>
            <a:endParaRPr lang="en-US" sz="1250" dirty="0"/>
          </a:p>
          <a:p>
            <a:pPr indent="0" marL="0">
              <a:lnSpc>
                <a:spcPct val="120000"/>
              </a:lnSpc>
              <a:buNone/>
            </a:pPr>
            <a:endParaRPr lang="en-US" sz="1250" dirty="0"/>
          </a:p>
          <a:p>
            <a:pPr indent="0" marL="0">
              <a:lnSpc>
                <a:spcPct val="120000"/>
              </a:lnSpc>
              <a:buNone/>
            </a:pPr>
            <a:r>
              <a:rPr lang="en-US" sz="1250" dirty="0">
                <a:solidFill>
                  <a:srgbClr val="5F7183"/>
                </a:solidFill>
                <a:latin typeface="Calibri" pitchFamily="34" charset="0"/>
                <a:ea typeface="Calibri" pitchFamily="34" charset="-122"/>
                <a:cs typeface="Calibri" pitchFamily="34" charset="-120"/>
              </a:rPr>
              <a:t>This mistake is called leakage. It is the most common way forecasting projects fail.</a:t>
            </a:r>
            <a:endParaRPr lang="en-US" sz="1250" dirty="0"/>
          </a:p>
        </p:txBody>
      </p:sp>
      <p:sp>
        <p:nvSpPr>
          <p:cNvPr id="20" name="Shape 18"/>
          <p:cNvSpPr/>
          <p:nvPr/>
        </p:nvSpPr>
        <p:spPr>
          <a:xfrm>
            <a:off x="6172200" y="3794760"/>
            <a:ext cx="5458968" cy="2377440"/>
          </a:xfrm>
          <a:prstGeom prst="roundRect">
            <a:avLst>
              <a:gd name="adj" fmla="val 3077"/>
            </a:avLst>
          </a:prstGeom>
          <a:solidFill>
            <a:srgbClr val="F4F6F8"/>
          </a:solidFill>
          <a:ln w="12700">
            <a:solidFill>
              <a:srgbClr val="E2E8EE"/>
            </a:solidFill>
            <a:prstDash val="solid"/>
          </a:ln>
        </p:spPr>
      </p:sp>
      <p:sp>
        <p:nvSpPr>
          <p:cNvPr id="21" name="Shape 19"/>
          <p:cNvSpPr/>
          <p:nvPr/>
        </p:nvSpPr>
        <p:spPr>
          <a:xfrm>
            <a:off x="6446520" y="4041648"/>
            <a:ext cx="457200" cy="457200"/>
          </a:xfrm>
          <a:prstGeom prst="ellipse">
            <a:avLst/>
          </a:prstGeom>
          <a:solidFill>
            <a:srgbClr val="2FA87C"/>
          </a:solidFill>
          <a:ln/>
        </p:spPr>
      </p:sp>
      <p:sp>
        <p:nvSpPr>
          <p:cNvPr id="22" name="Text 20"/>
          <p:cNvSpPr/>
          <p:nvPr/>
        </p:nvSpPr>
        <p:spPr>
          <a:xfrm>
            <a:off x="6446520" y="40416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3" name="Text 21"/>
          <p:cNvSpPr/>
          <p:nvPr/>
        </p:nvSpPr>
        <p:spPr>
          <a:xfrm>
            <a:off x="7040880" y="4069080"/>
            <a:ext cx="4297680" cy="365760"/>
          </a:xfrm>
          <a:prstGeom prst="rect">
            <a:avLst/>
          </a:prstGeom>
          <a:noFill/>
          <a:ln/>
        </p:spPr>
        <p:txBody>
          <a:bodyPr wrap="square" lIns="0" tIns="0" rIns="0" bIns="0" rtlCol="0" anchor="ctr"/>
          <a:lstStyle/>
          <a:p>
            <a:pPr indent="0" marL="0">
              <a:buNone/>
            </a:pPr>
            <a:r>
              <a:rPr lang="en-US" sz="1600" b="1" dirty="0">
                <a:solidFill>
                  <a:srgbClr val="0F2942"/>
                </a:solidFill>
                <a:latin typeface="Cambria" pitchFamily="34" charset="0"/>
                <a:ea typeface="Cambria" pitchFamily="34" charset="-122"/>
                <a:cs typeface="Cambria" pitchFamily="34" charset="-120"/>
              </a:rPr>
              <a:t>How it is enforced</a:t>
            </a:r>
            <a:endParaRPr lang="en-US" sz="1600" dirty="0"/>
          </a:p>
        </p:txBody>
      </p:sp>
      <p:sp>
        <p:nvSpPr>
          <p:cNvPr id="24" name="Text 22"/>
          <p:cNvSpPr/>
          <p:nvPr/>
        </p:nvSpPr>
        <p:spPr>
          <a:xfrm>
            <a:off x="6446520" y="4617720"/>
            <a:ext cx="4910328" cy="1417320"/>
          </a:xfrm>
          <a:prstGeom prst="rect">
            <a:avLst/>
          </a:prstGeom>
          <a:noFill/>
          <a:ln/>
        </p:spPr>
        <p:txBody>
          <a:bodyPr wrap="square" lIns="0" tIns="0" rIns="0" bIns="0" rtlCol="0" anchor="ctr"/>
          <a:lstStyle/>
          <a:p>
            <a:pPr indent="0" marL="0">
              <a:lnSpc>
                <a:spcPct val="120000"/>
              </a:lnSpc>
              <a:buNone/>
            </a:pPr>
            <a:r>
              <a:rPr lang="en-US" sz="1250" dirty="0">
                <a:solidFill>
                  <a:srgbClr val="5F7183"/>
                </a:solidFill>
                <a:latin typeface="Calibri" pitchFamily="34" charset="0"/>
                <a:ea typeface="Calibri" pitchFamily="34" charset="-122"/>
                <a:cs typeface="Calibri" pitchFamily="34" charset="-120"/>
              </a:rPr>
              <a:t>Every backward-looking input carries a rule: it may not read anything newer than (days ahead + 1).</a:t>
            </a:r>
            <a:endParaRPr lang="en-US" sz="1250" dirty="0"/>
          </a:p>
          <a:p>
            <a:pPr indent="0" marL="0">
              <a:lnSpc>
                <a:spcPct val="120000"/>
              </a:lnSpc>
              <a:buNone/>
            </a:pPr>
            <a:endParaRPr lang="en-US" sz="1250" dirty="0"/>
          </a:p>
          <a:p>
            <a:pPr indent="0" marL="0">
              <a:lnSpc>
                <a:spcPct val="120000"/>
              </a:lnSpc>
              <a:buNone/>
            </a:pPr>
            <a:r>
              <a:rPr lang="en-US" sz="1250" dirty="0">
                <a:solidFill>
                  <a:srgbClr val="5F7183"/>
                </a:solidFill>
                <a:latin typeface="Calibri" pitchFamily="34" charset="0"/>
                <a:ea typeface="Calibri" pitchFamily="34" charset="-122"/>
                <a:cs typeface="Calibri" pitchFamily="34" charset="-120"/>
              </a:rPr>
              <a:t>Every chart in the next section obeys this. Nothing you will see was known to the model when it made the call.</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Why there are 28 models, not one</a:t>
            </a:r>
            <a:endParaRPr lang="en-US" sz="31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A direct consequence of the no-peeking rule.</a:t>
            </a:r>
            <a:endParaRPr lang="en-US" sz="1500" dirty="0"/>
          </a:p>
        </p:txBody>
      </p:sp>
      <p:sp>
        <p:nvSpPr>
          <p:cNvPr id="4" name="Text 2"/>
          <p:cNvSpPr/>
          <p:nvPr/>
        </p:nvSpPr>
        <p:spPr>
          <a:xfrm>
            <a:off x="548640" y="1600200"/>
            <a:ext cx="11064240" cy="502920"/>
          </a:xfrm>
          <a:prstGeom prst="rect">
            <a:avLst/>
          </a:prstGeom>
          <a:noFill/>
          <a:ln/>
        </p:spPr>
        <p:txBody>
          <a:bodyPr wrap="square" lIns="0" tIns="0" rIns="0" bIns="0" rtlCol="0" anchor="ctr"/>
          <a:lstStyle/>
          <a:p>
            <a:pPr indent="0" marL="0">
              <a:buNone/>
            </a:pPr>
            <a:r>
              <a:rPr lang="en-US" sz="1500" dirty="0">
                <a:solidFill>
                  <a:srgbClr val="0F2942"/>
                </a:solidFill>
                <a:latin typeface="Calibri" pitchFamily="34" charset="0"/>
                <a:ea typeface="Calibri" pitchFamily="34" charset="-122"/>
                <a:cs typeface="Calibri" pitchFamily="34" charset="-120"/>
              </a:rPr>
              <a:t>A forecast for tomorrow may use yesterday's numbers. A forecast for four weeks out may not. They are genuinely different problems, so each gets its own model.</a:t>
            </a:r>
            <a:endParaRPr lang="en-US" sz="1500" dirty="0"/>
          </a:p>
        </p:txBody>
      </p:sp>
      <p:sp>
        <p:nvSpPr>
          <p:cNvPr id="5" name="Shape 3"/>
          <p:cNvSpPr/>
          <p:nvPr/>
        </p:nvSpPr>
        <p:spPr>
          <a:xfrm>
            <a:off x="548640" y="2331720"/>
            <a:ext cx="11082528" cy="896112"/>
          </a:xfrm>
          <a:prstGeom prst="roundRect">
            <a:avLst>
              <a:gd name="adj" fmla="val 8163"/>
            </a:avLst>
          </a:prstGeom>
          <a:solidFill>
            <a:srgbClr val="EAF2F5"/>
          </a:solidFill>
          <a:ln w="12700">
            <a:solidFill>
              <a:srgbClr val="E2E8EE"/>
            </a:solidFill>
            <a:prstDash val="solid"/>
          </a:ln>
        </p:spPr>
      </p:sp>
      <p:sp>
        <p:nvSpPr>
          <p:cNvPr id="6" name="Text 4"/>
          <p:cNvSpPr/>
          <p:nvPr/>
        </p:nvSpPr>
        <p:spPr>
          <a:xfrm>
            <a:off x="868680" y="2578608"/>
            <a:ext cx="1554480" cy="411480"/>
          </a:xfrm>
          <a:prstGeom prst="rect">
            <a:avLst/>
          </a:prstGeom>
          <a:noFill/>
          <a:ln/>
        </p:spPr>
        <p:txBody>
          <a:bodyPr wrap="square" lIns="0" tIns="0" rIns="0" bIns="0" rtlCol="0" anchor="ctr"/>
          <a:lstStyle/>
          <a:p>
            <a:pPr indent="0" marL="0">
              <a:buNone/>
            </a:pPr>
            <a:r>
              <a:rPr lang="en-US" sz="1600" b="1" dirty="0">
                <a:solidFill>
                  <a:srgbClr val="0F2942"/>
                </a:solidFill>
                <a:latin typeface="Cambria" pitchFamily="34" charset="0"/>
                <a:ea typeface="Cambria" pitchFamily="34" charset="-122"/>
                <a:cs typeface="Cambria" pitchFamily="34" charset="-120"/>
              </a:rPr>
              <a:t>Model 1</a:t>
            </a:r>
            <a:endParaRPr lang="en-US" sz="1600" dirty="0"/>
          </a:p>
        </p:txBody>
      </p:sp>
      <p:sp>
        <p:nvSpPr>
          <p:cNvPr id="7" name="Text 5"/>
          <p:cNvSpPr/>
          <p:nvPr/>
        </p:nvSpPr>
        <p:spPr>
          <a:xfrm>
            <a:off x="2514600" y="2596896"/>
            <a:ext cx="2743200" cy="365760"/>
          </a:xfrm>
          <a:prstGeom prst="rect">
            <a:avLst/>
          </a:prstGeom>
          <a:noFill/>
          <a:ln/>
        </p:spPr>
        <p:txBody>
          <a:bodyPr wrap="square" lIns="0" tIns="0" rIns="0" bIns="0" rtlCol="0" anchor="ctr"/>
          <a:lstStyle/>
          <a:p>
            <a:pPr indent="0" marL="0">
              <a:buNone/>
            </a:pPr>
            <a:r>
              <a:rPr lang="en-US" sz="1350" dirty="0">
                <a:solidFill>
                  <a:srgbClr val="0F2942"/>
                </a:solidFill>
                <a:latin typeface="Calibri" pitchFamily="34" charset="0"/>
                <a:ea typeface="Calibri" pitchFamily="34" charset="-122"/>
                <a:cs typeface="Calibri" pitchFamily="34" charset="-120"/>
              </a:rPr>
              <a:t>predicts tomorrow</a:t>
            </a:r>
            <a:endParaRPr lang="en-US" sz="1350" dirty="0"/>
          </a:p>
        </p:txBody>
      </p:sp>
      <p:sp>
        <p:nvSpPr>
          <p:cNvPr id="8" name="Text 6"/>
          <p:cNvSpPr/>
          <p:nvPr/>
        </p:nvSpPr>
        <p:spPr>
          <a:xfrm>
            <a:off x="5349240" y="2596896"/>
            <a:ext cx="3749040" cy="365760"/>
          </a:xfrm>
          <a:prstGeom prst="rect">
            <a:avLst/>
          </a:prstGeom>
          <a:noFill/>
          <a:ln/>
        </p:spPr>
        <p:txBody>
          <a:bodyPr wrap="square" lIns="0" tIns="0" rIns="0" bIns="0" rtlCol="0" anchor="ctr"/>
          <a:lstStyle/>
          <a:p>
            <a:pPr indent="0" marL="0">
              <a:buNone/>
            </a:pPr>
            <a:r>
              <a:rPr lang="en-US" sz="1300" dirty="0">
                <a:solidFill>
                  <a:srgbClr val="5F7183"/>
                </a:solidFill>
                <a:latin typeface="Calibri" pitchFamily="34" charset="0"/>
                <a:ea typeface="Calibri" pitchFamily="34" charset="-122"/>
                <a:cs typeface="Calibri" pitchFamily="34" charset="-120"/>
              </a:rPr>
              <a:t>may use data up to yesterday</a:t>
            </a:r>
            <a:endParaRPr lang="en-US" sz="1300" dirty="0"/>
          </a:p>
        </p:txBody>
      </p:sp>
      <p:sp>
        <p:nvSpPr>
          <p:cNvPr id="9" name="Text 7"/>
          <p:cNvSpPr/>
          <p:nvPr/>
        </p:nvSpPr>
        <p:spPr>
          <a:xfrm>
            <a:off x="9189720" y="2596896"/>
            <a:ext cx="2286000" cy="365760"/>
          </a:xfrm>
          <a:prstGeom prst="rect">
            <a:avLst/>
          </a:prstGeom>
          <a:noFill/>
          <a:ln/>
        </p:spPr>
        <p:txBody>
          <a:bodyPr wrap="square" lIns="0" tIns="0" rIns="0" bIns="0" rtlCol="0" anchor="ctr"/>
          <a:lstStyle/>
          <a:p>
            <a:pPr indent="0" marL="0">
              <a:buNone/>
            </a:pPr>
            <a:r>
              <a:rPr lang="en-US" sz="1250" i="1" dirty="0">
                <a:solidFill>
                  <a:srgbClr val="2E8BA8"/>
                </a:solidFill>
                <a:latin typeface="Calibri" pitchFamily="34" charset="0"/>
                <a:ea typeface="Calibri" pitchFamily="34" charset="-122"/>
                <a:cs typeface="Calibri" pitchFamily="34" charset="-120"/>
              </a:rPr>
              <a:t>the most information</a:t>
            </a:r>
            <a:endParaRPr lang="en-US" sz="1250" dirty="0"/>
          </a:p>
        </p:txBody>
      </p:sp>
      <p:sp>
        <p:nvSpPr>
          <p:cNvPr id="10" name="Shape 8"/>
          <p:cNvSpPr/>
          <p:nvPr/>
        </p:nvSpPr>
        <p:spPr>
          <a:xfrm>
            <a:off x="548640" y="3319272"/>
            <a:ext cx="11082528" cy="896112"/>
          </a:xfrm>
          <a:prstGeom prst="roundRect">
            <a:avLst>
              <a:gd name="adj" fmla="val 8163"/>
            </a:avLst>
          </a:prstGeom>
          <a:solidFill>
            <a:srgbClr val="EFF3F6"/>
          </a:solidFill>
          <a:ln w="12700">
            <a:solidFill>
              <a:srgbClr val="E2E8EE"/>
            </a:solidFill>
            <a:prstDash val="solid"/>
          </a:ln>
        </p:spPr>
      </p:sp>
      <p:sp>
        <p:nvSpPr>
          <p:cNvPr id="11" name="Text 9"/>
          <p:cNvSpPr/>
          <p:nvPr/>
        </p:nvSpPr>
        <p:spPr>
          <a:xfrm>
            <a:off x="868680" y="3566160"/>
            <a:ext cx="1554480" cy="411480"/>
          </a:xfrm>
          <a:prstGeom prst="rect">
            <a:avLst/>
          </a:prstGeom>
          <a:noFill/>
          <a:ln/>
        </p:spPr>
        <p:txBody>
          <a:bodyPr wrap="square" lIns="0" tIns="0" rIns="0" bIns="0" rtlCol="0" anchor="ctr"/>
          <a:lstStyle/>
          <a:p>
            <a:pPr indent="0" marL="0">
              <a:buNone/>
            </a:pPr>
            <a:r>
              <a:rPr lang="en-US" sz="1600" b="1" dirty="0">
                <a:solidFill>
                  <a:srgbClr val="0F2942"/>
                </a:solidFill>
                <a:latin typeface="Cambria" pitchFamily="34" charset="0"/>
                <a:ea typeface="Cambria" pitchFamily="34" charset="-122"/>
                <a:cs typeface="Cambria" pitchFamily="34" charset="-120"/>
              </a:rPr>
              <a:t>Model 7</a:t>
            </a:r>
            <a:endParaRPr lang="en-US" sz="1600" dirty="0"/>
          </a:p>
        </p:txBody>
      </p:sp>
      <p:sp>
        <p:nvSpPr>
          <p:cNvPr id="12" name="Text 10"/>
          <p:cNvSpPr/>
          <p:nvPr/>
        </p:nvSpPr>
        <p:spPr>
          <a:xfrm>
            <a:off x="2514600" y="3584448"/>
            <a:ext cx="2743200" cy="365760"/>
          </a:xfrm>
          <a:prstGeom prst="rect">
            <a:avLst/>
          </a:prstGeom>
          <a:noFill/>
          <a:ln/>
        </p:spPr>
        <p:txBody>
          <a:bodyPr wrap="square" lIns="0" tIns="0" rIns="0" bIns="0" rtlCol="0" anchor="ctr"/>
          <a:lstStyle/>
          <a:p>
            <a:pPr indent="0" marL="0">
              <a:buNone/>
            </a:pPr>
            <a:r>
              <a:rPr lang="en-US" sz="1350" dirty="0">
                <a:solidFill>
                  <a:srgbClr val="0F2942"/>
                </a:solidFill>
                <a:latin typeface="Calibri" pitchFamily="34" charset="0"/>
                <a:ea typeface="Calibri" pitchFamily="34" charset="-122"/>
                <a:cs typeface="Calibri" pitchFamily="34" charset="-120"/>
              </a:rPr>
              <a:t>predicts one week out</a:t>
            </a:r>
            <a:endParaRPr lang="en-US" sz="1350" dirty="0"/>
          </a:p>
        </p:txBody>
      </p:sp>
      <p:sp>
        <p:nvSpPr>
          <p:cNvPr id="13" name="Text 11"/>
          <p:cNvSpPr/>
          <p:nvPr/>
        </p:nvSpPr>
        <p:spPr>
          <a:xfrm>
            <a:off x="5349240" y="3584448"/>
            <a:ext cx="3749040" cy="365760"/>
          </a:xfrm>
          <a:prstGeom prst="rect">
            <a:avLst/>
          </a:prstGeom>
          <a:noFill/>
          <a:ln/>
        </p:spPr>
        <p:txBody>
          <a:bodyPr wrap="square" lIns="0" tIns="0" rIns="0" bIns="0" rtlCol="0" anchor="ctr"/>
          <a:lstStyle/>
          <a:p>
            <a:pPr indent="0" marL="0">
              <a:buNone/>
            </a:pPr>
            <a:r>
              <a:rPr lang="en-US" sz="1300" dirty="0">
                <a:solidFill>
                  <a:srgbClr val="5F7183"/>
                </a:solidFill>
                <a:latin typeface="Calibri" pitchFamily="34" charset="0"/>
                <a:ea typeface="Calibri" pitchFamily="34" charset="-122"/>
                <a:cs typeface="Calibri" pitchFamily="34" charset="-120"/>
              </a:rPr>
              <a:t>nothing from the last 7 days</a:t>
            </a:r>
            <a:endParaRPr lang="en-US" sz="1300" dirty="0"/>
          </a:p>
        </p:txBody>
      </p:sp>
      <p:sp>
        <p:nvSpPr>
          <p:cNvPr id="14" name="Text 12"/>
          <p:cNvSpPr/>
          <p:nvPr/>
        </p:nvSpPr>
        <p:spPr>
          <a:xfrm>
            <a:off x="9189720" y="3584448"/>
            <a:ext cx="2286000" cy="365760"/>
          </a:xfrm>
          <a:prstGeom prst="rect">
            <a:avLst/>
          </a:prstGeom>
          <a:noFill/>
          <a:ln/>
        </p:spPr>
        <p:txBody>
          <a:bodyPr wrap="square" lIns="0" tIns="0" rIns="0" bIns="0" rtlCol="0" anchor="ctr"/>
          <a:lstStyle/>
          <a:p>
            <a:pPr indent="0" marL="0">
              <a:buNone/>
            </a:pPr>
            <a:r>
              <a:rPr lang="en-US" sz="1250" i="1" dirty="0">
                <a:solidFill>
                  <a:srgbClr val="2E8BA8"/>
                </a:solidFill>
                <a:latin typeface="Calibri" pitchFamily="34" charset="0"/>
                <a:ea typeface="Calibri" pitchFamily="34" charset="-122"/>
                <a:cs typeface="Calibri" pitchFamily="34" charset="-120"/>
              </a:rPr>
              <a:t>less information</a:t>
            </a:r>
            <a:endParaRPr lang="en-US" sz="1250" dirty="0"/>
          </a:p>
        </p:txBody>
      </p:sp>
      <p:sp>
        <p:nvSpPr>
          <p:cNvPr id="15" name="Shape 13"/>
          <p:cNvSpPr/>
          <p:nvPr/>
        </p:nvSpPr>
        <p:spPr>
          <a:xfrm>
            <a:off x="548640" y="4306824"/>
            <a:ext cx="11082528" cy="896112"/>
          </a:xfrm>
          <a:prstGeom prst="roundRect">
            <a:avLst>
              <a:gd name="adj" fmla="val 8163"/>
            </a:avLst>
          </a:prstGeom>
          <a:solidFill>
            <a:srgbClr val="F4F3EF"/>
          </a:solidFill>
          <a:ln w="12700">
            <a:solidFill>
              <a:srgbClr val="E2E8EE"/>
            </a:solidFill>
            <a:prstDash val="solid"/>
          </a:ln>
        </p:spPr>
      </p:sp>
      <p:sp>
        <p:nvSpPr>
          <p:cNvPr id="16" name="Text 14"/>
          <p:cNvSpPr/>
          <p:nvPr/>
        </p:nvSpPr>
        <p:spPr>
          <a:xfrm>
            <a:off x="868680" y="4553712"/>
            <a:ext cx="1554480" cy="411480"/>
          </a:xfrm>
          <a:prstGeom prst="rect">
            <a:avLst/>
          </a:prstGeom>
          <a:noFill/>
          <a:ln/>
        </p:spPr>
        <p:txBody>
          <a:bodyPr wrap="square" lIns="0" tIns="0" rIns="0" bIns="0" rtlCol="0" anchor="ctr"/>
          <a:lstStyle/>
          <a:p>
            <a:pPr indent="0" marL="0">
              <a:buNone/>
            </a:pPr>
            <a:r>
              <a:rPr lang="en-US" sz="1600" b="1" dirty="0">
                <a:solidFill>
                  <a:srgbClr val="0F2942"/>
                </a:solidFill>
                <a:latin typeface="Cambria" pitchFamily="34" charset="0"/>
                <a:ea typeface="Cambria" pitchFamily="34" charset="-122"/>
                <a:cs typeface="Cambria" pitchFamily="34" charset="-120"/>
              </a:rPr>
              <a:t>Model 14</a:t>
            </a:r>
            <a:endParaRPr lang="en-US" sz="1600" dirty="0"/>
          </a:p>
        </p:txBody>
      </p:sp>
      <p:sp>
        <p:nvSpPr>
          <p:cNvPr id="17" name="Text 15"/>
          <p:cNvSpPr/>
          <p:nvPr/>
        </p:nvSpPr>
        <p:spPr>
          <a:xfrm>
            <a:off x="2514600" y="4572000"/>
            <a:ext cx="2743200" cy="365760"/>
          </a:xfrm>
          <a:prstGeom prst="rect">
            <a:avLst/>
          </a:prstGeom>
          <a:noFill/>
          <a:ln/>
        </p:spPr>
        <p:txBody>
          <a:bodyPr wrap="square" lIns="0" tIns="0" rIns="0" bIns="0" rtlCol="0" anchor="ctr"/>
          <a:lstStyle/>
          <a:p>
            <a:pPr indent="0" marL="0">
              <a:buNone/>
            </a:pPr>
            <a:r>
              <a:rPr lang="en-US" sz="1350" dirty="0">
                <a:solidFill>
                  <a:srgbClr val="0F2942"/>
                </a:solidFill>
                <a:latin typeface="Calibri" pitchFamily="34" charset="0"/>
                <a:ea typeface="Calibri" pitchFamily="34" charset="-122"/>
                <a:cs typeface="Calibri" pitchFamily="34" charset="-120"/>
              </a:rPr>
              <a:t>predicts two weeks out</a:t>
            </a:r>
            <a:endParaRPr lang="en-US" sz="1350" dirty="0"/>
          </a:p>
        </p:txBody>
      </p:sp>
      <p:sp>
        <p:nvSpPr>
          <p:cNvPr id="18" name="Text 16"/>
          <p:cNvSpPr/>
          <p:nvPr/>
        </p:nvSpPr>
        <p:spPr>
          <a:xfrm>
            <a:off x="5349240" y="4572000"/>
            <a:ext cx="3749040" cy="365760"/>
          </a:xfrm>
          <a:prstGeom prst="rect">
            <a:avLst/>
          </a:prstGeom>
          <a:noFill/>
          <a:ln/>
        </p:spPr>
        <p:txBody>
          <a:bodyPr wrap="square" lIns="0" tIns="0" rIns="0" bIns="0" rtlCol="0" anchor="ctr"/>
          <a:lstStyle/>
          <a:p>
            <a:pPr indent="0" marL="0">
              <a:buNone/>
            </a:pPr>
            <a:r>
              <a:rPr lang="en-US" sz="1300" dirty="0">
                <a:solidFill>
                  <a:srgbClr val="5F7183"/>
                </a:solidFill>
                <a:latin typeface="Calibri" pitchFamily="34" charset="0"/>
                <a:ea typeface="Calibri" pitchFamily="34" charset="-122"/>
                <a:cs typeface="Calibri" pitchFamily="34" charset="-120"/>
              </a:rPr>
              <a:t>nothing from the last 14 days</a:t>
            </a:r>
            <a:endParaRPr lang="en-US" sz="1300" dirty="0"/>
          </a:p>
        </p:txBody>
      </p:sp>
      <p:sp>
        <p:nvSpPr>
          <p:cNvPr id="19" name="Text 17"/>
          <p:cNvSpPr/>
          <p:nvPr/>
        </p:nvSpPr>
        <p:spPr>
          <a:xfrm>
            <a:off x="9189720" y="4572000"/>
            <a:ext cx="2286000" cy="365760"/>
          </a:xfrm>
          <a:prstGeom prst="rect">
            <a:avLst/>
          </a:prstGeom>
          <a:noFill/>
          <a:ln/>
        </p:spPr>
        <p:txBody>
          <a:bodyPr wrap="square" lIns="0" tIns="0" rIns="0" bIns="0" rtlCol="0" anchor="ctr"/>
          <a:lstStyle/>
          <a:p>
            <a:pPr indent="0" marL="0">
              <a:buNone/>
            </a:pPr>
            <a:r>
              <a:rPr lang="en-US" sz="1250" i="1" dirty="0">
                <a:solidFill>
                  <a:srgbClr val="2E8BA8"/>
                </a:solidFill>
                <a:latin typeface="Calibri" pitchFamily="34" charset="0"/>
                <a:ea typeface="Calibri" pitchFamily="34" charset="-122"/>
                <a:cs typeface="Calibri" pitchFamily="34" charset="-120"/>
              </a:rPr>
              <a:t>less again</a:t>
            </a:r>
            <a:endParaRPr lang="en-US" sz="1250" dirty="0"/>
          </a:p>
        </p:txBody>
      </p:sp>
      <p:sp>
        <p:nvSpPr>
          <p:cNvPr id="20" name="Shape 18"/>
          <p:cNvSpPr/>
          <p:nvPr/>
        </p:nvSpPr>
        <p:spPr>
          <a:xfrm>
            <a:off x="548640" y="5294376"/>
            <a:ext cx="11082528" cy="896112"/>
          </a:xfrm>
          <a:prstGeom prst="roundRect">
            <a:avLst>
              <a:gd name="adj" fmla="val 8163"/>
            </a:avLst>
          </a:prstGeom>
          <a:solidFill>
            <a:srgbClr val="F7F3EA"/>
          </a:solidFill>
          <a:ln w="12700">
            <a:solidFill>
              <a:srgbClr val="E2E8EE"/>
            </a:solidFill>
            <a:prstDash val="solid"/>
          </a:ln>
        </p:spPr>
      </p:sp>
      <p:sp>
        <p:nvSpPr>
          <p:cNvPr id="21" name="Text 19"/>
          <p:cNvSpPr/>
          <p:nvPr/>
        </p:nvSpPr>
        <p:spPr>
          <a:xfrm>
            <a:off x="868680" y="5541264"/>
            <a:ext cx="1554480" cy="411480"/>
          </a:xfrm>
          <a:prstGeom prst="rect">
            <a:avLst/>
          </a:prstGeom>
          <a:noFill/>
          <a:ln/>
        </p:spPr>
        <p:txBody>
          <a:bodyPr wrap="square" lIns="0" tIns="0" rIns="0" bIns="0" rtlCol="0" anchor="ctr"/>
          <a:lstStyle/>
          <a:p>
            <a:pPr indent="0" marL="0">
              <a:buNone/>
            </a:pPr>
            <a:r>
              <a:rPr lang="en-US" sz="1600" b="1" dirty="0">
                <a:solidFill>
                  <a:srgbClr val="0F2942"/>
                </a:solidFill>
                <a:latin typeface="Cambria" pitchFamily="34" charset="0"/>
                <a:ea typeface="Cambria" pitchFamily="34" charset="-122"/>
                <a:cs typeface="Cambria" pitchFamily="34" charset="-120"/>
              </a:rPr>
              <a:t>Model 28</a:t>
            </a:r>
            <a:endParaRPr lang="en-US" sz="1600" dirty="0"/>
          </a:p>
        </p:txBody>
      </p:sp>
      <p:sp>
        <p:nvSpPr>
          <p:cNvPr id="22" name="Text 20"/>
          <p:cNvSpPr/>
          <p:nvPr/>
        </p:nvSpPr>
        <p:spPr>
          <a:xfrm>
            <a:off x="2514600" y="5559552"/>
            <a:ext cx="2743200" cy="365760"/>
          </a:xfrm>
          <a:prstGeom prst="rect">
            <a:avLst/>
          </a:prstGeom>
          <a:noFill/>
          <a:ln/>
        </p:spPr>
        <p:txBody>
          <a:bodyPr wrap="square" lIns="0" tIns="0" rIns="0" bIns="0" rtlCol="0" anchor="ctr"/>
          <a:lstStyle/>
          <a:p>
            <a:pPr indent="0" marL="0">
              <a:buNone/>
            </a:pPr>
            <a:r>
              <a:rPr lang="en-US" sz="1350" dirty="0">
                <a:solidFill>
                  <a:srgbClr val="0F2942"/>
                </a:solidFill>
                <a:latin typeface="Calibri" pitchFamily="34" charset="0"/>
                <a:ea typeface="Calibri" pitchFamily="34" charset="-122"/>
                <a:cs typeface="Calibri" pitchFamily="34" charset="-120"/>
              </a:rPr>
              <a:t>predicts four weeks out</a:t>
            </a:r>
            <a:endParaRPr lang="en-US" sz="1350" dirty="0"/>
          </a:p>
        </p:txBody>
      </p:sp>
      <p:sp>
        <p:nvSpPr>
          <p:cNvPr id="23" name="Text 21"/>
          <p:cNvSpPr/>
          <p:nvPr/>
        </p:nvSpPr>
        <p:spPr>
          <a:xfrm>
            <a:off x="5349240" y="5559552"/>
            <a:ext cx="3749040" cy="365760"/>
          </a:xfrm>
          <a:prstGeom prst="rect">
            <a:avLst/>
          </a:prstGeom>
          <a:noFill/>
          <a:ln/>
        </p:spPr>
        <p:txBody>
          <a:bodyPr wrap="square" lIns="0" tIns="0" rIns="0" bIns="0" rtlCol="0" anchor="ctr"/>
          <a:lstStyle/>
          <a:p>
            <a:pPr indent="0" marL="0">
              <a:buNone/>
            </a:pPr>
            <a:r>
              <a:rPr lang="en-US" sz="1300" dirty="0">
                <a:solidFill>
                  <a:srgbClr val="5F7183"/>
                </a:solidFill>
                <a:latin typeface="Calibri" pitchFamily="34" charset="0"/>
                <a:ea typeface="Calibri" pitchFamily="34" charset="-122"/>
                <a:cs typeface="Calibri" pitchFamily="34" charset="-120"/>
              </a:rPr>
              <a:t>nothing from the last 28 days</a:t>
            </a:r>
            <a:endParaRPr lang="en-US" sz="1300" dirty="0"/>
          </a:p>
        </p:txBody>
      </p:sp>
      <p:sp>
        <p:nvSpPr>
          <p:cNvPr id="24" name="Text 22"/>
          <p:cNvSpPr/>
          <p:nvPr/>
        </p:nvSpPr>
        <p:spPr>
          <a:xfrm>
            <a:off x="9189720" y="5559552"/>
            <a:ext cx="2286000" cy="365760"/>
          </a:xfrm>
          <a:prstGeom prst="rect">
            <a:avLst/>
          </a:prstGeom>
          <a:noFill/>
          <a:ln/>
        </p:spPr>
        <p:txBody>
          <a:bodyPr wrap="square" lIns="0" tIns="0" rIns="0" bIns="0" rtlCol="0" anchor="ctr"/>
          <a:lstStyle/>
          <a:p>
            <a:pPr indent="0" marL="0">
              <a:buNone/>
            </a:pPr>
            <a:r>
              <a:rPr lang="en-US" sz="1250" i="1" dirty="0">
                <a:solidFill>
                  <a:srgbClr val="2E8BA8"/>
                </a:solidFill>
                <a:latin typeface="Calibri" pitchFamily="34" charset="0"/>
                <a:ea typeface="Calibri" pitchFamily="34" charset="-122"/>
                <a:cs typeface="Calibri" pitchFamily="34" charset="-120"/>
              </a:rPr>
              <a:t>the least information</a:t>
            </a:r>
            <a:endParaRPr lang="en-US" sz="1250" dirty="0"/>
          </a:p>
        </p:txBody>
      </p:sp>
      <p:sp>
        <p:nvSpPr>
          <p:cNvPr id="25" name="Text 23"/>
          <p:cNvSpPr/>
          <p:nvPr/>
        </p:nvSpPr>
        <p:spPr>
          <a:xfrm>
            <a:off x="548640" y="6355080"/>
            <a:ext cx="11064240" cy="411480"/>
          </a:xfrm>
          <a:prstGeom prst="rect">
            <a:avLst/>
          </a:prstGeom>
          <a:noFill/>
          <a:ln/>
        </p:spPr>
        <p:txBody>
          <a:bodyPr wrap="square" lIns="0" tIns="0" rIns="0" bIns="0" rtlCol="0" anchor="ctr"/>
          <a:lstStyle/>
          <a:p>
            <a:pPr indent="0" marL="0">
              <a:buNone/>
            </a:pPr>
            <a:r>
              <a:rPr lang="en-US" sz="1400" dirty="0">
                <a:solidFill>
                  <a:srgbClr val="0F2942"/>
                </a:solidFill>
                <a:latin typeface="Calibri" pitchFamily="34" charset="0"/>
                <a:ea typeface="Calibri" pitchFamily="34" charset="-122"/>
                <a:cs typeface="Calibri" pitchFamily="34" charset="-120"/>
              </a:rPr>
              <a:t>This is why accuracy gets worse the further out you look — there is simply less to go on. The next section shows exactly how much worse.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942"/>
        </a:solidFill>
      </p:bgPr>
    </p:bg>
    <p:spTree>
      <p:nvGrpSpPr>
        <p:cNvPr id="1" name=""/>
        <p:cNvGrpSpPr/>
        <p:nvPr/>
      </p:nvGrpSpPr>
      <p:grpSpPr>
        <a:xfrm>
          <a:off x="0" y="0"/>
          <a:ext cx="0" cy="0"/>
          <a:chOff x="0" y="0"/>
          <a:chExt cx="0" cy="0"/>
        </a:xfrm>
      </p:grpSpPr>
      <p:sp>
        <p:nvSpPr>
          <p:cNvPr id="2" name="Shape 0"/>
          <p:cNvSpPr/>
          <p:nvPr/>
        </p:nvSpPr>
        <p:spPr>
          <a:xfrm>
            <a:off x="822960" y="2286000"/>
            <a:ext cx="1051560" cy="1051560"/>
          </a:xfrm>
          <a:prstGeom prst="ellipse">
            <a:avLst/>
          </a:prstGeom>
          <a:solidFill>
            <a:srgbClr val="E8B547"/>
          </a:solidFill>
          <a:ln/>
        </p:spPr>
      </p:sp>
      <p:sp>
        <p:nvSpPr>
          <p:cNvPr id="3" name="Text 1"/>
          <p:cNvSpPr/>
          <p:nvPr/>
        </p:nvSpPr>
        <p:spPr>
          <a:xfrm>
            <a:off x="822960" y="2286000"/>
            <a:ext cx="1051560" cy="1051560"/>
          </a:xfrm>
          <a:prstGeom prst="rect">
            <a:avLst/>
          </a:prstGeom>
          <a:noFill/>
          <a:ln/>
        </p:spPr>
        <p:txBody>
          <a:bodyPr wrap="square" lIns="0" tIns="0" rIns="0" bIns="0" rtlCol="0" anchor="ctr"/>
          <a:lstStyle/>
          <a:p>
            <a:pPr algn="ctr" indent="0" marL="0">
              <a:buNone/>
            </a:pPr>
            <a:r>
              <a:rPr lang="en-US" sz="4000" b="1" dirty="0">
                <a:solidFill>
                  <a:srgbClr val="0F2942"/>
                </a:solidFill>
                <a:latin typeface="Cambria" pitchFamily="34" charset="0"/>
                <a:ea typeface="Cambria" pitchFamily="34" charset="-122"/>
                <a:cs typeface="Cambria" pitchFamily="34" charset="-120"/>
              </a:rPr>
              <a:t>3</a:t>
            </a:r>
            <a:endParaRPr lang="en-US" sz="4000" dirty="0"/>
          </a:p>
        </p:txBody>
      </p:sp>
      <p:sp>
        <p:nvSpPr>
          <p:cNvPr id="4" name="Text 2"/>
          <p:cNvSpPr/>
          <p:nvPr/>
        </p:nvSpPr>
        <p:spPr>
          <a:xfrm>
            <a:off x="2240280" y="2194560"/>
            <a:ext cx="896112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Actual versus forecast</a:t>
            </a:r>
            <a:endParaRPr lang="en-US" sz="3800" dirty="0"/>
          </a:p>
        </p:txBody>
      </p:sp>
      <p:sp>
        <p:nvSpPr>
          <p:cNvPr id="5" name="Text 3"/>
          <p:cNvSpPr/>
          <p:nvPr/>
        </p:nvSpPr>
        <p:spPr>
          <a:xfrm>
            <a:off x="2286000" y="3127248"/>
            <a:ext cx="8778240" cy="777240"/>
          </a:xfrm>
          <a:prstGeom prst="rect">
            <a:avLst/>
          </a:prstGeom>
          <a:noFill/>
          <a:ln/>
        </p:spPr>
        <p:txBody>
          <a:bodyPr wrap="square" lIns="0" tIns="0" rIns="0" bIns="0" rtlCol="0" anchor="t"/>
          <a:lstStyle/>
          <a:p>
            <a:pPr indent="0" marL="0">
              <a:buNone/>
            </a:pPr>
            <a:r>
              <a:rPr lang="en-US" sz="1650" dirty="0">
                <a:solidFill>
                  <a:srgbClr val="AEC3D6"/>
                </a:solidFill>
                <a:latin typeface="Calibri" pitchFamily="34" charset="0"/>
                <a:ea typeface="Calibri" pitchFamily="34" charset="-122"/>
                <a:cs typeface="Calibri" pitchFamily="34" charset="-120"/>
              </a:rPr>
              <a:t>Every chart that follows is held-out: the model had never seen these days when it predicted them.</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One day ahead</a:t>
            </a:r>
            <a:endParaRPr lang="en-US" sz="3100" dirty="0"/>
          </a:p>
        </p:txBody>
      </p:sp>
      <p:sp>
        <p:nvSpPr>
          <p:cNvPr id="4"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Forecast made the day before. 2026 so far — the easiest case, and the ceiling on what is achievable.</a:t>
            </a:r>
            <a:endParaRPr lang="en-US" sz="1500" dirty="0"/>
          </a:p>
        </p:txBody>
      </p:sp>
      <p:graphicFrame>
        <p:nvGraphicFramePr>
          <p:cNvPr id="5" name="Chart 0" descr=""/>
          <p:cNvGraphicFramePr/>
          <p:nvPr/>
        </p:nvGraphicFramePr>
        <p:xfrm>
          <a:off x="457200" y="1554480"/>
          <a:ext cx="8549640" cy="46177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p:nvPr/>
        </p:nvSpPr>
        <p:spPr>
          <a:xfrm>
            <a:off x="9098280" y="1691640"/>
            <a:ext cx="2606040" cy="868680"/>
          </a:xfrm>
          <a:prstGeom prst="rect">
            <a:avLst/>
          </a:prstGeom>
          <a:noFill/>
          <a:ln/>
        </p:spPr>
        <p:txBody>
          <a:bodyPr wrap="square" lIns="0" tIns="0" rIns="0" bIns="0" rtlCol="0" anchor="ctr"/>
          <a:lstStyle/>
          <a:p>
            <a:pPr algn="ctr" indent="0" marL="0">
              <a:buNone/>
            </a:pPr>
            <a:r>
              <a:rPr lang="en-US" sz="4600" b="1" dirty="0">
                <a:solidFill>
                  <a:srgbClr val="2E8BA8"/>
                </a:solidFill>
                <a:latin typeface="Cambria" pitchFamily="34" charset="0"/>
                <a:ea typeface="Cambria" pitchFamily="34" charset="-122"/>
                <a:cs typeface="Cambria" pitchFamily="34" charset="-120"/>
              </a:rPr>
              <a:t>3.78%</a:t>
            </a:r>
            <a:endParaRPr lang="en-US" sz="4600" dirty="0"/>
          </a:p>
        </p:txBody>
      </p:sp>
      <p:sp>
        <p:nvSpPr>
          <p:cNvPr id="7" name="Text 3"/>
          <p:cNvSpPr/>
          <p:nvPr/>
        </p:nvSpPr>
        <p:spPr>
          <a:xfrm>
            <a:off x="9098280" y="2560320"/>
            <a:ext cx="2606040" cy="502920"/>
          </a:xfrm>
          <a:prstGeom prst="rect">
            <a:avLst/>
          </a:prstGeom>
          <a:noFill/>
          <a:ln/>
        </p:spPr>
        <p:txBody>
          <a:bodyPr wrap="square" lIns="0" tIns="0" rIns="0" bIns="0" rtlCol="0" anchor="t"/>
          <a:lstStyle/>
          <a:p>
            <a:pPr algn="ctr" indent="0" marL="0">
              <a:buNone/>
            </a:pPr>
            <a:r>
              <a:rPr lang="en-US" sz="1250" dirty="0">
                <a:solidFill>
                  <a:srgbClr val="5F7183"/>
                </a:solidFill>
                <a:latin typeface="Calibri" pitchFamily="34" charset="0"/>
                <a:ea typeface="Calibri" pitchFamily="34" charset="-122"/>
                <a:cs typeface="Calibri" pitchFamily="34" charset="-120"/>
              </a:rPr>
              <a:t>average miss</a:t>
            </a:r>
            <a:endParaRPr lang="en-US" sz="1250" dirty="0"/>
          </a:p>
        </p:txBody>
      </p:sp>
      <p:sp>
        <p:nvSpPr>
          <p:cNvPr id="8" name="Text 4"/>
          <p:cNvSpPr/>
          <p:nvPr/>
        </p:nvSpPr>
        <p:spPr>
          <a:xfrm>
            <a:off x="9098280" y="3154680"/>
            <a:ext cx="2606040" cy="868680"/>
          </a:xfrm>
          <a:prstGeom prst="rect">
            <a:avLst/>
          </a:prstGeom>
          <a:noFill/>
          <a:ln/>
        </p:spPr>
        <p:txBody>
          <a:bodyPr wrap="square" lIns="0" tIns="0" rIns="0" bIns="0" rtlCol="0" anchor="ctr"/>
          <a:lstStyle/>
          <a:p>
            <a:pPr algn="ctr" indent="0" marL="0">
              <a:buNone/>
            </a:pPr>
            <a:r>
              <a:rPr lang="en-US" sz="4600" b="1" dirty="0">
                <a:solidFill>
                  <a:srgbClr val="2FA87C"/>
                </a:solidFill>
                <a:latin typeface="Cambria" pitchFamily="34" charset="0"/>
                <a:ea typeface="Cambria" pitchFamily="34" charset="-122"/>
                <a:cs typeface="Cambria" pitchFamily="34" charset="-120"/>
              </a:rPr>
              <a:t>79.1%</a:t>
            </a:r>
            <a:endParaRPr lang="en-US" sz="4600" dirty="0"/>
          </a:p>
        </p:txBody>
      </p:sp>
      <p:sp>
        <p:nvSpPr>
          <p:cNvPr id="9" name="Text 5"/>
          <p:cNvSpPr/>
          <p:nvPr/>
        </p:nvSpPr>
        <p:spPr>
          <a:xfrm>
            <a:off x="9098280" y="4023360"/>
            <a:ext cx="2606040" cy="502920"/>
          </a:xfrm>
          <a:prstGeom prst="rect">
            <a:avLst/>
          </a:prstGeom>
          <a:noFill/>
          <a:ln/>
        </p:spPr>
        <p:txBody>
          <a:bodyPr wrap="square" lIns="0" tIns="0" rIns="0" bIns="0" rtlCol="0" anchor="t"/>
          <a:lstStyle/>
          <a:p>
            <a:pPr algn="ctr" indent="0" marL="0">
              <a:buNone/>
            </a:pPr>
            <a:r>
              <a:rPr lang="en-US" sz="1250" dirty="0">
                <a:solidFill>
                  <a:srgbClr val="5F7183"/>
                </a:solidFill>
                <a:latin typeface="Calibri" pitchFamily="34" charset="0"/>
                <a:ea typeface="Calibri" pitchFamily="34" charset="-122"/>
                <a:cs typeface="Calibri" pitchFamily="34" charset="-120"/>
              </a:rPr>
              <a:t>of days within 5%</a:t>
            </a:r>
            <a:endParaRPr lang="en-US" sz="1250" dirty="0"/>
          </a:p>
        </p:txBody>
      </p:sp>
      <p:sp>
        <p:nvSpPr>
          <p:cNvPr id="10" name="Text 6"/>
          <p:cNvSpPr/>
          <p:nvPr/>
        </p:nvSpPr>
        <p:spPr>
          <a:xfrm>
            <a:off x="9098280" y="4617720"/>
            <a:ext cx="2606040" cy="868680"/>
          </a:xfrm>
          <a:prstGeom prst="rect">
            <a:avLst/>
          </a:prstGeom>
          <a:noFill/>
          <a:ln/>
        </p:spPr>
        <p:txBody>
          <a:bodyPr wrap="square" lIns="0" tIns="0" rIns="0" bIns="0" rtlCol="0" anchor="ctr"/>
          <a:lstStyle/>
          <a:p>
            <a:pPr algn="ctr" indent="0" marL="0">
              <a:buNone/>
            </a:pPr>
            <a:r>
              <a:rPr lang="en-US" sz="4600" b="1" dirty="0">
                <a:solidFill>
                  <a:srgbClr val="E8B547"/>
                </a:solidFill>
                <a:latin typeface="Cambria" pitchFamily="34" charset="0"/>
                <a:ea typeface="Cambria" pitchFamily="34" charset="-122"/>
                <a:cs typeface="Cambria" pitchFamily="34" charset="-120"/>
              </a:rPr>
              <a:t>+0.3%</a:t>
            </a:r>
            <a:endParaRPr lang="en-US" sz="4600" dirty="0"/>
          </a:p>
        </p:txBody>
      </p:sp>
      <p:sp>
        <p:nvSpPr>
          <p:cNvPr id="11" name="Text 7"/>
          <p:cNvSpPr/>
          <p:nvPr/>
        </p:nvSpPr>
        <p:spPr>
          <a:xfrm>
            <a:off x="9098280" y="5486400"/>
            <a:ext cx="2606040" cy="502920"/>
          </a:xfrm>
          <a:prstGeom prst="rect">
            <a:avLst/>
          </a:prstGeom>
          <a:noFill/>
          <a:ln/>
        </p:spPr>
        <p:txBody>
          <a:bodyPr wrap="square" lIns="0" tIns="0" rIns="0" bIns="0" rtlCol="0" anchor="t"/>
          <a:lstStyle/>
          <a:p>
            <a:pPr algn="ctr" indent="0" marL="0">
              <a:buNone/>
            </a:pPr>
            <a:r>
              <a:rPr lang="en-US" sz="1250" dirty="0">
                <a:solidFill>
                  <a:srgbClr val="5F7183"/>
                </a:solidFill>
                <a:latin typeface="Calibri" pitchFamily="34" charset="0"/>
                <a:ea typeface="Calibri" pitchFamily="34" charset="-122"/>
                <a:cs typeface="Calibri" pitchFamily="34" charset="-120"/>
              </a:rPr>
              <a:t>bias — runs slightly high</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One week ahead</a:t>
            </a:r>
            <a:endParaRPr lang="en-US" sz="3100" dirty="0"/>
          </a:p>
        </p:txBody>
      </p:sp>
      <p:sp>
        <p:nvSpPr>
          <p:cNvPr id="4"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Forecast made 7 days before. This is the realistic scheduling horizon.</a:t>
            </a:r>
            <a:endParaRPr lang="en-US" sz="1500" dirty="0"/>
          </a:p>
        </p:txBody>
      </p:sp>
      <p:graphicFrame>
        <p:nvGraphicFramePr>
          <p:cNvPr id="5" name="Chart 0" descr=""/>
          <p:cNvGraphicFramePr/>
          <p:nvPr/>
        </p:nvGraphicFramePr>
        <p:xfrm>
          <a:off x="457200" y="1554480"/>
          <a:ext cx="8549640" cy="46177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p:nvPr/>
        </p:nvSpPr>
        <p:spPr>
          <a:xfrm>
            <a:off x="9098280" y="1691640"/>
            <a:ext cx="2606040" cy="868680"/>
          </a:xfrm>
          <a:prstGeom prst="rect">
            <a:avLst/>
          </a:prstGeom>
          <a:noFill/>
          <a:ln/>
        </p:spPr>
        <p:txBody>
          <a:bodyPr wrap="square" lIns="0" tIns="0" rIns="0" bIns="0" rtlCol="0" anchor="ctr"/>
          <a:lstStyle/>
          <a:p>
            <a:pPr algn="ctr" indent="0" marL="0">
              <a:buNone/>
            </a:pPr>
            <a:r>
              <a:rPr lang="en-US" sz="4600" b="1" dirty="0">
                <a:solidFill>
                  <a:srgbClr val="2E8BA8"/>
                </a:solidFill>
                <a:latin typeface="Cambria" pitchFamily="34" charset="0"/>
                <a:ea typeface="Cambria" pitchFamily="34" charset="-122"/>
                <a:cs typeface="Cambria" pitchFamily="34" charset="-120"/>
              </a:rPr>
              <a:t>4.07%</a:t>
            </a:r>
            <a:endParaRPr lang="en-US" sz="4600" dirty="0"/>
          </a:p>
        </p:txBody>
      </p:sp>
      <p:sp>
        <p:nvSpPr>
          <p:cNvPr id="7" name="Text 3"/>
          <p:cNvSpPr/>
          <p:nvPr/>
        </p:nvSpPr>
        <p:spPr>
          <a:xfrm>
            <a:off x="9098280" y="2560320"/>
            <a:ext cx="2606040" cy="502920"/>
          </a:xfrm>
          <a:prstGeom prst="rect">
            <a:avLst/>
          </a:prstGeom>
          <a:noFill/>
          <a:ln/>
        </p:spPr>
        <p:txBody>
          <a:bodyPr wrap="square" lIns="0" tIns="0" rIns="0" bIns="0" rtlCol="0" anchor="t"/>
          <a:lstStyle/>
          <a:p>
            <a:pPr algn="ctr" indent="0" marL="0">
              <a:buNone/>
            </a:pPr>
            <a:r>
              <a:rPr lang="en-US" sz="1250" dirty="0">
                <a:solidFill>
                  <a:srgbClr val="5F7183"/>
                </a:solidFill>
                <a:latin typeface="Calibri" pitchFamily="34" charset="0"/>
                <a:ea typeface="Calibri" pitchFamily="34" charset="-122"/>
                <a:cs typeface="Calibri" pitchFamily="34" charset="-120"/>
              </a:rPr>
              <a:t>average miss</a:t>
            </a:r>
            <a:endParaRPr lang="en-US" sz="1250" dirty="0"/>
          </a:p>
        </p:txBody>
      </p:sp>
      <p:sp>
        <p:nvSpPr>
          <p:cNvPr id="8" name="Text 4"/>
          <p:cNvSpPr/>
          <p:nvPr/>
        </p:nvSpPr>
        <p:spPr>
          <a:xfrm>
            <a:off x="9098280" y="3154680"/>
            <a:ext cx="2606040" cy="868680"/>
          </a:xfrm>
          <a:prstGeom prst="rect">
            <a:avLst/>
          </a:prstGeom>
          <a:noFill/>
          <a:ln/>
        </p:spPr>
        <p:txBody>
          <a:bodyPr wrap="square" lIns="0" tIns="0" rIns="0" bIns="0" rtlCol="0" anchor="ctr"/>
          <a:lstStyle/>
          <a:p>
            <a:pPr algn="ctr" indent="0" marL="0">
              <a:buNone/>
            </a:pPr>
            <a:r>
              <a:rPr lang="en-US" sz="4600" b="1" dirty="0">
                <a:solidFill>
                  <a:srgbClr val="2FA87C"/>
                </a:solidFill>
                <a:latin typeface="Cambria" pitchFamily="34" charset="0"/>
                <a:ea typeface="Cambria" pitchFamily="34" charset="-122"/>
                <a:cs typeface="Cambria" pitchFamily="34" charset="-120"/>
              </a:rPr>
              <a:t>70.9%</a:t>
            </a:r>
            <a:endParaRPr lang="en-US" sz="4600" dirty="0"/>
          </a:p>
        </p:txBody>
      </p:sp>
      <p:sp>
        <p:nvSpPr>
          <p:cNvPr id="9" name="Text 5"/>
          <p:cNvSpPr/>
          <p:nvPr/>
        </p:nvSpPr>
        <p:spPr>
          <a:xfrm>
            <a:off x="9098280" y="4023360"/>
            <a:ext cx="2606040" cy="502920"/>
          </a:xfrm>
          <a:prstGeom prst="rect">
            <a:avLst/>
          </a:prstGeom>
          <a:noFill/>
          <a:ln/>
        </p:spPr>
        <p:txBody>
          <a:bodyPr wrap="square" lIns="0" tIns="0" rIns="0" bIns="0" rtlCol="0" anchor="t"/>
          <a:lstStyle/>
          <a:p>
            <a:pPr algn="ctr" indent="0" marL="0">
              <a:buNone/>
            </a:pPr>
            <a:r>
              <a:rPr lang="en-US" sz="1250" dirty="0">
                <a:solidFill>
                  <a:srgbClr val="5F7183"/>
                </a:solidFill>
                <a:latin typeface="Calibri" pitchFamily="34" charset="0"/>
                <a:ea typeface="Calibri" pitchFamily="34" charset="-122"/>
                <a:cs typeface="Calibri" pitchFamily="34" charset="-120"/>
              </a:rPr>
              <a:t>of days within 5%</a:t>
            </a:r>
            <a:endParaRPr lang="en-US" sz="1250" dirty="0"/>
          </a:p>
        </p:txBody>
      </p:sp>
      <p:sp>
        <p:nvSpPr>
          <p:cNvPr id="10" name="Text 6"/>
          <p:cNvSpPr/>
          <p:nvPr/>
        </p:nvSpPr>
        <p:spPr>
          <a:xfrm>
            <a:off x="9098280" y="4617720"/>
            <a:ext cx="2606040" cy="868680"/>
          </a:xfrm>
          <a:prstGeom prst="rect">
            <a:avLst/>
          </a:prstGeom>
          <a:noFill/>
          <a:ln/>
        </p:spPr>
        <p:txBody>
          <a:bodyPr wrap="square" lIns="0" tIns="0" rIns="0" bIns="0" rtlCol="0" anchor="ctr"/>
          <a:lstStyle/>
          <a:p>
            <a:pPr algn="ctr" indent="0" marL="0">
              <a:buNone/>
            </a:pPr>
            <a:r>
              <a:rPr lang="en-US" sz="4600" b="1" dirty="0">
                <a:solidFill>
                  <a:srgbClr val="E8B547"/>
                </a:solidFill>
                <a:latin typeface="Cambria" pitchFamily="34" charset="0"/>
                <a:ea typeface="Cambria" pitchFamily="34" charset="-122"/>
                <a:cs typeface="Cambria" pitchFamily="34" charset="-120"/>
              </a:rPr>
              <a:t>+0.17%</a:t>
            </a:r>
            <a:endParaRPr lang="en-US" sz="4600" dirty="0"/>
          </a:p>
        </p:txBody>
      </p:sp>
      <p:sp>
        <p:nvSpPr>
          <p:cNvPr id="11" name="Text 7"/>
          <p:cNvSpPr/>
          <p:nvPr/>
        </p:nvSpPr>
        <p:spPr>
          <a:xfrm>
            <a:off x="9098280" y="5486400"/>
            <a:ext cx="2606040" cy="502920"/>
          </a:xfrm>
          <a:prstGeom prst="rect">
            <a:avLst/>
          </a:prstGeom>
          <a:noFill/>
          <a:ln/>
        </p:spPr>
        <p:txBody>
          <a:bodyPr wrap="square" lIns="0" tIns="0" rIns="0" bIns="0" rtlCol="0" anchor="t"/>
          <a:lstStyle/>
          <a:p>
            <a:pPr algn="ctr" indent="0" marL="0">
              <a:buNone/>
            </a:pPr>
            <a:r>
              <a:rPr lang="en-US" sz="1250" dirty="0">
                <a:solidFill>
                  <a:srgbClr val="5F7183"/>
                </a:solidFill>
                <a:latin typeface="Calibri" pitchFamily="34" charset="0"/>
                <a:ea typeface="Calibri" pitchFamily="34" charset="-122"/>
                <a:cs typeface="Calibri" pitchFamily="34" charset="-120"/>
              </a:rPr>
              <a:t>bias — runs slightly high</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Two weeks ahead</a:t>
            </a:r>
            <a:endParaRPr lang="en-US" sz="3100" dirty="0"/>
          </a:p>
        </p:txBody>
      </p:sp>
      <p:sp>
        <p:nvSpPr>
          <p:cNvPr id="4"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Forecast made 14 days before. Now the model cannot see anything from the previous fortnight.</a:t>
            </a:r>
            <a:endParaRPr lang="en-US" sz="1500" dirty="0"/>
          </a:p>
        </p:txBody>
      </p:sp>
      <p:graphicFrame>
        <p:nvGraphicFramePr>
          <p:cNvPr id="5" name="Chart 0" descr=""/>
          <p:cNvGraphicFramePr/>
          <p:nvPr/>
        </p:nvGraphicFramePr>
        <p:xfrm>
          <a:off x="457200" y="1554480"/>
          <a:ext cx="8549640" cy="46177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p:nvPr/>
        </p:nvSpPr>
        <p:spPr>
          <a:xfrm>
            <a:off x="9098280" y="1691640"/>
            <a:ext cx="2606040" cy="868680"/>
          </a:xfrm>
          <a:prstGeom prst="rect">
            <a:avLst/>
          </a:prstGeom>
          <a:noFill/>
          <a:ln/>
        </p:spPr>
        <p:txBody>
          <a:bodyPr wrap="square" lIns="0" tIns="0" rIns="0" bIns="0" rtlCol="0" anchor="ctr"/>
          <a:lstStyle/>
          <a:p>
            <a:pPr algn="ctr" indent="0" marL="0">
              <a:buNone/>
            </a:pPr>
            <a:r>
              <a:rPr lang="en-US" sz="4600" b="1" dirty="0">
                <a:solidFill>
                  <a:srgbClr val="2E8BA8"/>
                </a:solidFill>
                <a:latin typeface="Cambria" pitchFamily="34" charset="0"/>
                <a:ea typeface="Cambria" pitchFamily="34" charset="-122"/>
                <a:cs typeface="Cambria" pitchFamily="34" charset="-120"/>
              </a:rPr>
              <a:t>4.96%</a:t>
            </a:r>
            <a:endParaRPr lang="en-US" sz="4600" dirty="0"/>
          </a:p>
        </p:txBody>
      </p:sp>
      <p:sp>
        <p:nvSpPr>
          <p:cNvPr id="7" name="Text 3"/>
          <p:cNvSpPr/>
          <p:nvPr/>
        </p:nvSpPr>
        <p:spPr>
          <a:xfrm>
            <a:off x="9098280" y="2560320"/>
            <a:ext cx="2606040" cy="502920"/>
          </a:xfrm>
          <a:prstGeom prst="rect">
            <a:avLst/>
          </a:prstGeom>
          <a:noFill/>
          <a:ln/>
        </p:spPr>
        <p:txBody>
          <a:bodyPr wrap="square" lIns="0" tIns="0" rIns="0" bIns="0" rtlCol="0" anchor="t"/>
          <a:lstStyle/>
          <a:p>
            <a:pPr algn="ctr" indent="0" marL="0">
              <a:buNone/>
            </a:pPr>
            <a:r>
              <a:rPr lang="en-US" sz="1250" dirty="0">
                <a:solidFill>
                  <a:srgbClr val="5F7183"/>
                </a:solidFill>
                <a:latin typeface="Calibri" pitchFamily="34" charset="0"/>
                <a:ea typeface="Calibri" pitchFamily="34" charset="-122"/>
                <a:cs typeface="Calibri" pitchFamily="34" charset="-120"/>
              </a:rPr>
              <a:t>average miss</a:t>
            </a:r>
            <a:endParaRPr lang="en-US" sz="1250" dirty="0"/>
          </a:p>
        </p:txBody>
      </p:sp>
      <p:sp>
        <p:nvSpPr>
          <p:cNvPr id="8" name="Text 4"/>
          <p:cNvSpPr/>
          <p:nvPr/>
        </p:nvSpPr>
        <p:spPr>
          <a:xfrm>
            <a:off x="9098280" y="3154680"/>
            <a:ext cx="2606040" cy="868680"/>
          </a:xfrm>
          <a:prstGeom prst="rect">
            <a:avLst/>
          </a:prstGeom>
          <a:noFill/>
          <a:ln/>
        </p:spPr>
        <p:txBody>
          <a:bodyPr wrap="square" lIns="0" tIns="0" rIns="0" bIns="0" rtlCol="0" anchor="ctr"/>
          <a:lstStyle/>
          <a:p>
            <a:pPr algn="ctr" indent="0" marL="0">
              <a:buNone/>
            </a:pPr>
            <a:r>
              <a:rPr lang="en-US" sz="4600" b="1" dirty="0">
                <a:solidFill>
                  <a:srgbClr val="2FA87C"/>
                </a:solidFill>
                <a:latin typeface="Cambria" pitchFamily="34" charset="0"/>
                <a:ea typeface="Cambria" pitchFamily="34" charset="-122"/>
                <a:cs typeface="Cambria" pitchFamily="34" charset="-120"/>
              </a:rPr>
              <a:t>62.8%</a:t>
            </a:r>
            <a:endParaRPr lang="en-US" sz="4600" dirty="0"/>
          </a:p>
        </p:txBody>
      </p:sp>
      <p:sp>
        <p:nvSpPr>
          <p:cNvPr id="9" name="Text 5"/>
          <p:cNvSpPr/>
          <p:nvPr/>
        </p:nvSpPr>
        <p:spPr>
          <a:xfrm>
            <a:off x="9098280" y="4023360"/>
            <a:ext cx="2606040" cy="502920"/>
          </a:xfrm>
          <a:prstGeom prst="rect">
            <a:avLst/>
          </a:prstGeom>
          <a:noFill/>
          <a:ln/>
        </p:spPr>
        <p:txBody>
          <a:bodyPr wrap="square" lIns="0" tIns="0" rIns="0" bIns="0" rtlCol="0" anchor="t"/>
          <a:lstStyle/>
          <a:p>
            <a:pPr algn="ctr" indent="0" marL="0">
              <a:buNone/>
            </a:pPr>
            <a:r>
              <a:rPr lang="en-US" sz="1250" dirty="0">
                <a:solidFill>
                  <a:srgbClr val="5F7183"/>
                </a:solidFill>
                <a:latin typeface="Calibri" pitchFamily="34" charset="0"/>
                <a:ea typeface="Calibri" pitchFamily="34" charset="-122"/>
                <a:cs typeface="Calibri" pitchFamily="34" charset="-120"/>
              </a:rPr>
              <a:t>of days within 5%</a:t>
            </a:r>
            <a:endParaRPr lang="en-US" sz="1250" dirty="0"/>
          </a:p>
        </p:txBody>
      </p:sp>
      <p:sp>
        <p:nvSpPr>
          <p:cNvPr id="10" name="Text 6"/>
          <p:cNvSpPr/>
          <p:nvPr/>
        </p:nvSpPr>
        <p:spPr>
          <a:xfrm>
            <a:off x="9098280" y="4617720"/>
            <a:ext cx="2606040" cy="868680"/>
          </a:xfrm>
          <a:prstGeom prst="rect">
            <a:avLst/>
          </a:prstGeom>
          <a:noFill/>
          <a:ln/>
        </p:spPr>
        <p:txBody>
          <a:bodyPr wrap="square" lIns="0" tIns="0" rIns="0" bIns="0" rtlCol="0" anchor="ctr"/>
          <a:lstStyle/>
          <a:p>
            <a:pPr algn="ctr" indent="0" marL="0">
              <a:buNone/>
            </a:pPr>
            <a:r>
              <a:rPr lang="en-US" sz="4600" b="1" dirty="0">
                <a:solidFill>
                  <a:srgbClr val="E8B547"/>
                </a:solidFill>
                <a:latin typeface="Cambria" pitchFamily="34" charset="0"/>
                <a:ea typeface="Cambria" pitchFamily="34" charset="-122"/>
                <a:cs typeface="Cambria" pitchFamily="34" charset="-120"/>
              </a:rPr>
              <a:t>-0.14%</a:t>
            </a:r>
            <a:endParaRPr lang="en-US" sz="4600" dirty="0"/>
          </a:p>
        </p:txBody>
      </p:sp>
      <p:sp>
        <p:nvSpPr>
          <p:cNvPr id="11" name="Text 7"/>
          <p:cNvSpPr/>
          <p:nvPr/>
        </p:nvSpPr>
        <p:spPr>
          <a:xfrm>
            <a:off x="9098280" y="5486400"/>
            <a:ext cx="2606040" cy="502920"/>
          </a:xfrm>
          <a:prstGeom prst="rect">
            <a:avLst/>
          </a:prstGeom>
          <a:noFill/>
          <a:ln/>
        </p:spPr>
        <p:txBody>
          <a:bodyPr wrap="square" lIns="0" tIns="0" rIns="0" bIns="0" rtlCol="0" anchor="t"/>
          <a:lstStyle/>
          <a:p>
            <a:pPr algn="ctr" indent="0" marL="0">
              <a:buNone/>
            </a:pPr>
            <a:r>
              <a:rPr lang="en-US" sz="1250" dirty="0">
                <a:solidFill>
                  <a:srgbClr val="5F7183"/>
                </a:solidFill>
                <a:latin typeface="Calibri" pitchFamily="34" charset="0"/>
                <a:ea typeface="Calibri" pitchFamily="34" charset="-122"/>
                <a:cs typeface="Calibri" pitchFamily="34" charset="-120"/>
              </a:rPr>
              <a:t>bias — runs slightly low</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Four weeks ahead</a:t>
            </a:r>
            <a:endParaRPr lang="en-US" sz="3100" dirty="0"/>
          </a:p>
        </p:txBody>
      </p:sp>
      <p:sp>
        <p:nvSpPr>
          <p:cNvPr id="4"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Forecast made 28 days before — the full planning horizon, and the hardest test.</a:t>
            </a:r>
            <a:endParaRPr lang="en-US" sz="1500" dirty="0"/>
          </a:p>
        </p:txBody>
      </p:sp>
      <p:graphicFrame>
        <p:nvGraphicFramePr>
          <p:cNvPr id="5" name="Chart 0" descr=""/>
          <p:cNvGraphicFramePr/>
          <p:nvPr/>
        </p:nvGraphicFramePr>
        <p:xfrm>
          <a:off x="457200" y="1554480"/>
          <a:ext cx="8549640" cy="46177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p:nvPr/>
        </p:nvSpPr>
        <p:spPr>
          <a:xfrm>
            <a:off x="9098280" y="1691640"/>
            <a:ext cx="2606040" cy="868680"/>
          </a:xfrm>
          <a:prstGeom prst="rect">
            <a:avLst/>
          </a:prstGeom>
          <a:noFill/>
          <a:ln/>
        </p:spPr>
        <p:txBody>
          <a:bodyPr wrap="square" lIns="0" tIns="0" rIns="0" bIns="0" rtlCol="0" anchor="ctr"/>
          <a:lstStyle/>
          <a:p>
            <a:pPr algn="ctr" indent="0" marL="0">
              <a:buNone/>
            </a:pPr>
            <a:r>
              <a:rPr lang="en-US" sz="4600" b="1" dirty="0">
                <a:solidFill>
                  <a:srgbClr val="2E8BA8"/>
                </a:solidFill>
                <a:latin typeface="Cambria" pitchFamily="34" charset="0"/>
                <a:ea typeface="Cambria" pitchFamily="34" charset="-122"/>
                <a:cs typeface="Cambria" pitchFamily="34" charset="-120"/>
              </a:rPr>
              <a:t>4.84%</a:t>
            </a:r>
            <a:endParaRPr lang="en-US" sz="4600" dirty="0"/>
          </a:p>
        </p:txBody>
      </p:sp>
      <p:sp>
        <p:nvSpPr>
          <p:cNvPr id="7" name="Text 3"/>
          <p:cNvSpPr/>
          <p:nvPr/>
        </p:nvSpPr>
        <p:spPr>
          <a:xfrm>
            <a:off x="9098280" y="2560320"/>
            <a:ext cx="2606040" cy="502920"/>
          </a:xfrm>
          <a:prstGeom prst="rect">
            <a:avLst/>
          </a:prstGeom>
          <a:noFill/>
          <a:ln/>
        </p:spPr>
        <p:txBody>
          <a:bodyPr wrap="square" lIns="0" tIns="0" rIns="0" bIns="0" rtlCol="0" anchor="t"/>
          <a:lstStyle/>
          <a:p>
            <a:pPr algn="ctr" indent="0" marL="0">
              <a:buNone/>
            </a:pPr>
            <a:r>
              <a:rPr lang="en-US" sz="1250" dirty="0">
                <a:solidFill>
                  <a:srgbClr val="5F7183"/>
                </a:solidFill>
                <a:latin typeface="Calibri" pitchFamily="34" charset="0"/>
                <a:ea typeface="Calibri" pitchFamily="34" charset="-122"/>
                <a:cs typeface="Calibri" pitchFamily="34" charset="-120"/>
              </a:rPr>
              <a:t>average miss</a:t>
            </a:r>
            <a:endParaRPr lang="en-US" sz="1250" dirty="0"/>
          </a:p>
        </p:txBody>
      </p:sp>
      <p:sp>
        <p:nvSpPr>
          <p:cNvPr id="8" name="Text 4"/>
          <p:cNvSpPr/>
          <p:nvPr/>
        </p:nvSpPr>
        <p:spPr>
          <a:xfrm>
            <a:off x="9098280" y="3154680"/>
            <a:ext cx="2606040" cy="868680"/>
          </a:xfrm>
          <a:prstGeom prst="rect">
            <a:avLst/>
          </a:prstGeom>
          <a:noFill/>
          <a:ln/>
        </p:spPr>
        <p:txBody>
          <a:bodyPr wrap="square" lIns="0" tIns="0" rIns="0" bIns="0" rtlCol="0" anchor="ctr"/>
          <a:lstStyle/>
          <a:p>
            <a:pPr algn="ctr" indent="0" marL="0">
              <a:buNone/>
            </a:pPr>
            <a:r>
              <a:rPr lang="en-US" sz="4600" b="1" dirty="0">
                <a:solidFill>
                  <a:srgbClr val="2FA87C"/>
                </a:solidFill>
                <a:latin typeface="Cambria" pitchFamily="34" charset="0"/>
                <a:ea typeface="Cambria" pitchFamily="34" charset="-122"/>
                <a:cs typeface="Cambria" pitchFamily="34" charset="-120"/>
              </a:rPr>
              <a:t>61.5%</a:t>
            </a:r>
            <a:endParaRPr lang="en-US" sz="4600" dirty="0"/>
          </a:p>
        </p:txBody>
      </p:sp>
      <p:sp>
        <p:nvSpPr>
          <p:cNvPr id="9" name="Text 5"/>
          <p:cNvSpPr/>
          <p:nvPr/>
        </p:nvSpPr>
        <p:spPr>
          <a:xfrm>
            <a:off x="9098280" y="4023360"/>
            <a:ext cx="2606040" cy="502920"/>
          </a:xfrm>
          <a:prstGeom prst="rect">
            <a:avLst/>
          </a:prstGeom>
          <a:noFill/>
          <a:ln/>
        </p:spPr>
        <p:txBody>
          <a:bodyPr wrap="square" lIns="0" tIns="0" rIns="0" bIns="0" rtlCol="0" anchor="t"/>
          <a:lstStyle/>
          <a:p>
            <a:pPr algn="ctr" indent="0" marL="0">
              <a:buNone/>
            </a:pPr>
            <a:r>
              <a:rPr lang="en-US" sz="1250" dirty="0">
                <a:solidFill>
                  <a:srgbClr val="5F7183"/>
                </a:solidFill>
                <a:latin typeface="Calibri" pitchFamily="34" charset="0"/>
                <a:ea typeface="Calibri" pitchFamily="34" charset="-122"/>
                <a:cs typeface="Calibri" pitchFamily="34" charset="-120"/>
              </a:rPr>
              <a:t>of days within 5%</a:t>
            </a:r>
            <a:endParaRPr lang="en-US" sz="1250" dirty="0"/>
          </a:p>
        </p:txBody>
      </p:sp>
      <p:sp>
        <p:nvSpPr>
          <p:cNvPr id="10" name="Text 6"/>
          <p:cNvSpPr/>
          <p:nvPr/>
        </p:nvSpPr>
        <p:spPr>
          <a:xfrm>
            <a:off x="9098280" y="4617720"/>
            <a:ext cx="2606040" cy="868680"/>
          </a:xfrm>
          <a:prstGeom prst="rect">
            <a:avLst/>
          </a:prstGeom>
          <a:noFill/>
          <a:ln/>
        </p:spPr>
        <p:txBody>
          <a:bodyPr wrap="square" lIns="0" tIns="0" rIns="0" bIns="0" rtlCol="0" anchor="ctr"/>
          <a:lstStyle/>
          <a:p>
            <a:pPr algn="ctr" indent="0" marL="0">
              <a:buNone/>
            </a:pPr>
            <a:r>
              <a:rPr lang="en-US" sz="4600" b="1" dirty="0">
                <a:solidFill>
                  <a:srgbClr val="E8B547"/>
                </a:solidFill>
                <a:latin typeface="Cambria" pitchFamily="34" charset="0"/>
                <a:ea typeface="Cambria" pitchFamily="34" charset="-122"/>
                <a:cs typeface="Cambria" pitchFamily="34" charset="-120"/>
              </a:rPr>
              <a:t>+0.74%</a:t>
            </a:r>
            <a:endParaRPr lang="en-US" sz="4600" dirty="0"/>
          </a:p>
        </p:txBody>
      </p:sp>
      <p:sp>
        <p:nvSpPr>
          <p:cNvPr id="11" name="Text 7"/>
          <p:cNvSpPr/>
          <p:nvPr/>
        </p:nvSpPr>
        <p:spPr>
          <a:xfrm>
            <a:off x="9098280" y="5486400"/>
            <a:ext cx="2606040" cy="502920"/>
          </a:xfrm>
          <a:prstGeom prst="rect">
            <a:avLst/>
          </a:prstGeom>
          <a:noFill/>
          <a:ln/>
        </p:spPr>
        <p:txBody>
          <a:bodyPr wrap="square" lIns="0" tIns="0" rIns="0" bIns="0" rtlCol="0" anchor="t"/>
          <a:lstStyle/>
          <a:p>
            <a:pPr algn="ctr" indent="0" marL="0">
              <a:buNone/>
            </a:pPr>
            <a:r>
              <a:rPr lang="en-US" sz="1250" dirty="0">
                <a:solidFill>
                  <a:srgbClr val="5F7183"/>
                </a:solidFill>
                <a:latin typeface="Calibri" pitchFamily="34" charset="0"/>
                <a:ea typeface="Calibri" pitchFamily="34" charset="-122"/>
                <a:cs typeface="Calibri" pitchFamily="34" charset="-120"/>
              </a:rPr>
              <a:t>bias — runs slightly high</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All four distances, side by side</a:t>
            </a:r>
            <a:endParaRPr lang="en-US" sz="31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The same period and the same model — only how far ahead it was asked changes.</a:t>
            </a:r>
            <a:endParaRPr lang="en-US" sz="1500" dirty="0"/>
          </a:p>
        </p:txBody>
      </p:sp>
      <p:graphicFrame>
        <p:nvGraphicFramePr>
          <p:cNvPr id="4" name="Chart 0" descr=""/>
          <p:cNvGraphicFramePr/>
          <p:nvPr/>
        </p:nvGraphicFramePr>
        <p:xfrm>
          <a:off x="457200" y="1600200"/>
          <a:ext cx="5760720" cy="44348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400800" y="1600200"/>
          <a:ext cx="5230368" cy="4434840"/>
        </p:xfrm>
        <a:graphic xmlns:a="http://schemas.openxmlformats.org/drawingml/2006/main">
          <a:graphicData uri="http://schemas.openxmlformats.org/drawingml/2006/chart">
            <c:chart xmlns:c="http://schemas.openxmlformats.org/drawingml/2006/chart" r:id="rId2"/>
          </a:graphicData>
        </a:graphic>
      </p:graphicFrame>
      <p:sp>
        <p:nvSpPr>
          <p:cNvPr id="6" name="Text 2"/>
          <p:cNvSpPr/>
          <p:nvPr/>
        </p:nvSpPr>
        <p:spPr>
          <a:xfrm>
            <a:off x="548640" y="6126480"/>
            <a:ext cx="11064240" cy="45720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Never quote an accuracy figure without saying how far ahead it was measured — the same model ranges across these numbers depending only on that.</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Long memory versus short memory, day by day</a:t>
            </a:r>
            <a:endParaRPr lang="en-US" sz="31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Identical protocol: same days, same 7-day lead, same test. Only the training history differs.</a:t>
            </a:r>
            <a:endParaRPr lang="en-US" sz="1500" dirty="0"/>
          </a:p>
        </p:txBody>
      </p:sp>
      <p:graphicFrame>
        <p:nvGraphicFramePr>
          <p:cNvPr id="4" name="Chart 0" descr=""/>
          <p:cNvGraphicFramePr/>
          <p:nvPr/>
        </p:nvGraphicFramePr>
        <p:xfrm>
          <a:off x="457200" y="1554480"/>
          <a:ext cx="8549640" cy="46177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9098280" y="1691640"/>
            <a:ext cx="2606040" cy="1417320"/>
          </a:xfrm>
          <a:prstGeom prst="roundRect">
            <a:avLst>
              <a:gd name="adj" fmla="val 5161"/>
            </a:avLst>
          </a:prstGeom>
          <a:solidFill>
            <a:srgbClr val="F4F6F8"/>
          </a:solidFill>
          <a:ln w="12700">
            <a:solidFill>
              <a:srgbClr val="E2E8EE"/>
            </a:solidFill>
            <a:prstDash val="solid"/>
          </a:ln>
        </p:spPr>
      </p:sp>
      <p:sp>
        <p:nvSpPr>
          <p:cNvPr id="6" name="Text 3"/>
          <p:cNvSpPr/>
          <p:nvPr/>
        </p:nvSpPr>
        <p:spPr>
          <a:xfrm>
            <a:off x="9281160" y="1801368"/>
            <a:ext cx="2240280" cy="274320"/>
          </a:xfrm>
          <a:prstGeom prst="rect">
            <a:avLst/>
          </a:prstGeom>
          <a:noFill/>
          <a:ln/>
        </p:spPr>
        <p:txBody>
          <a:bodyPr wrap="square" lIns="0" tIns="0" rIns="0" bIns="0" rtlCol="0" anchor="ctr"/>
          <a:lstStyle/>
          <a:p>
            <a:pPr algn="ctr" indent="0" marL="0">
              <a:buNone/>
            </a:pPr>
            <a:r>
              <a:rPr lang="en-US" sz="1150" dirty="0">
                <a:solidFill>
                  <a:srgbClr val="5F7183"/>
                </a:solidFill>
                <a:latin typeface="Calibri" pitchFamily="34" charset="0"/>
                <a:ea typeface="Calibri" pitchFamily="34" charset="-122"/>
                <a:cs typeface="Calibri" pitchFamily="34" charset="-120"/>
              </a:rPr>
              <a:t>average miss</a:t>
            </a:r>
            <a:endParaRPr lang="en-US" sz="1150" dirty="0"/>
          </a:p>
        </p:txBody>
      </p:sp>
      <p:sp>
        <p:nvSpPr>
          <p:cNvPr id="7" name="Text 4"/>
          <p:cNvSpPr/>
          <p:nvPr/>
        </p:nvSpPr>
        <p:spPr>
          <a:xfrm>
            <a:off x="9281160" y="2103120"/>
            <a:ext cx="2240280" cy="457200"/>
          </a:xfrm>
          <a:prstGeom prst="rect">
            <a:avLst/>
          </a:prstGeom>
          <a:noFill/>
          <a:ln/>
        </p:spPr>
        <p:txBody>
          <a:bodyPr wrap="square" lIns="0" tIns="0" rIns="0" bIns="0" rtlCol="0" anchor="ctr"/>
          <a:lstStyle/>
          <a:p>
            <a:pPr algn="ctr" indent="0" marL="0">
              <a:buNone/>
            </a:pPr>
            <a:r>
              <a:rPr lang="en-US" sz="2400" b="1" dirty="0">
                <a:solidFill>
                  <a:srgbClr val="2E8BA8"/>
                </a:solidFill>
                <a:latin typeface="Cambria" pitchFamily="34" charset="0"/>
                <a:ea typeface="Cambria" pitchFamily="34" charset="-122"/>
                <a:cs typeface="Cambria" pitchFamily="34" charset="-120"/>
              </a:rPr>
              <a:t>4.07%</a:t>
            </a:r>
            <a:pPr algn="ctr" indent="0" marL="0">
              <a:buNone/>
            </a:pPr>
            <a:r>
              <a:rPr lang="en-US" sz="1300" dirty="0">
                <a:solidFill>
                  <a:srgbClr val="5F7183"/>
                </a:solidFill>
                <a:latin typeface="Cambria" pitchFamily="34" charset="0"/>
                <a:ea typeface="Cambria" pitchFamily="34" charset="-122"/>
                <a:cs typeface="Cambria" pitchFamily="34" charset="-120"/>
              </a:rPr>
              <a:t>   vs   </a:t>
            </a:r>
            <a:pPr algn="ctr" indent="0" marL="0">
              <a:buNone/>
            </a:pPr>
            <a:r>
              <a:rPr lang="en-US" sz="2400" b="1" dirty="0">
                <a:solidFill>
                  <a:srgbClr val="C74B4B"/>
                </a:solidFill>
                <a:latin typeface="Cambria" pitchFamily="34" charset="0"/>
                <a:ea typeface="Cambria" pitchFamily="34" charset="-122"/>
                <a:cs typeface="Cambria" pitchFamily="34" charset="-120"/>
              </a:rPr>
              <a:t>5.08%</a:t>
            </a:r>
            <a:endParaRPr lang="en-US" sz="2400" dirty="0"/>
          </a:p>
        </p:txBody>
      </p:sp>
      <p:sp>
        <p:nvSpPr>
          <p:cNvPr id="8" name="Text 5"/>
          <p:cNvSpPr/>
          <p:nvPr/>
        </p:nvSpPr>
        <p:spPr>
          <a:xfrm>
            <a:off x="9281160" y="2606040"/>
            <a:ext cx="2240280" cy="320040"/>
          </a:xfrm>
          <a:prstGeom prst="rect">
            <a:avLst/>
          </a:prstGeom>
          <a:noFill/>
          <a:ln/>
        </p:spPr>
        <p:txBody>
          <a:bodyPr wrap="square" lIns="0" tIns="0" rIns="0" bIns="0" rtlCol="0" anchor="ctr"/>
          <a:lstStyle/>
          <a:p>
            <a:pPr algn="ctr" indent="0" marL="0">
              <a:buNone/>
            </a:pPr>
            <a:r>
              <a:rPr lang="en-US" sz="950" dirty="0">
                <a:solidFill>
                  <a:srgbClr val="5F7183"/>
                </a:solidFill>
                <a:latin typeface="Calibri" pitchFamily="34" charset="0"/>
                <a:ea typeface="Calibri" pitchFamily="34" charset="-122"/>
                <a:cs typeface="Calibri" pitchFamily="34" charset="-120"/>
              </a:rPr>
              <a:t>long history   ·   short memory</a:t>
            </a:r>
            <a:endParaRPr lang="en-US" sz="950" dirty="0"/>
          </a:p>
        </p:txBody>
      </p:sp>
      <p:sp>
        <p:nvSpPr>
          <p:cNvPr id="9" name="Shape 6"/>
          <p:cNvSpPr/>
          <p:nvPr/>
        </p:nvSpPr>
        <p:spPr>
          <a:xfrm>
            <a:off x="9098280" y="3246120"/>
            <a:ext cx="2606040" cy="1417320"/>
          </a:xfrm>
          <a:prstGeom prst="roundRect">
            <a:avLst>
              <a:gd name="adj" fmla="val 5161"/>
            </a:avLst>
          </a:prstGeom>
          <a:solidFill>
            <a:srgbClr val="F7E9E9"/>
          </a:solidFill>
          <a:ln w="12700">
            <a:solidFill>
              <a:srgbClr val="E2E8EE"/>
            </a:solidFill>
            <a:prstDash val="solid"/>
          </a:ln>
        </p:spPr>
      </p:sp>
      <p:sp>
        <p:nvSpPr>
          <p:cNvPr id="10" name="Text 7"/>
          <p:cNvSpPr/>
          <p:nvPr/>
        </p:nvSpPr>
        <p:spPr>
          <a:xfrm>
            <a:off x="9281160" y="3355848"/>
            <a:ext cx="2240280" cy="274320"/>
          </a:xfrm>
          <a:prstGeom prst="rect">
            <a:avLst/>
          </a:prstGeom>
          <a:noFill/>
          <a:ln/>
        </p:spPr>
        <p:txBody>
          <a:bodyPr wrap="square" lIns="0" tIns="0" rIns="0" bIns="0" rtlCol="0" anchor="ctr"/>
          <a:lstStyle/>
          <a:p>
            <a:pPr algn="ctr" indent="0" marL="0">
              <a:buNone/>
            </a:pPr>
            <a:r>
              <a:rPr lang="en-US" sz="1150" dirty="0">
                <a:solidFill>
                  <a:srgbClr val="5F7183"/>
                </a:solidFill>
                <a:latin typeface="Calibri" pitchFamily="34" charset="0"/>
                <a:ea typeface="Calibri" pitchFamily="34" charset="-122"/>
                <a:cs typeface="Calibri" pitchFamily="34" charset="-120"/>
              </a:rPr>
              <a:t>days missed by over 15%</a:t>
            </a:r>
            <a:endParaRPr lang="en-US" sz="1150" dirty="0"/>
          </a:p>
        </p:txBody>
      </p:sp>
      <p:sp>
        <p:nvSpPr>
          <p:cNvPr id="11" name="Text 8"/>
          <p:cNvSpPr/>
          <p:nvPr/>
        </p:nvSpPr>
        <p:spPr>
          <a:xfrm>
            <a:off x="9281160" y="3657600"/>
            <a:ext cx="2240280" cy="548640"/>
          </a:xfrm>
          <a:prstGeom prst="rect">
            <a:avLst/>
          </a:prstGeom>
          <a:noFill/>
          <a:ln/>
        </p:spPr>
        <p:txBody>
          <a:bodyPr wrap="square" lIns="0" tIns="0" rIns="0" bIns="0" rtlCol="0" anchor="ctr"/>
          <a:lstStyle/>
          <a:p>
            <a:pPr algn="ctr" indent="0" marL="0">
              <a:buNone/>
            </a:pPr>
            <a:r>
              <a:rPr lang="en-US" sz="3000" b="1" dirty="0">
                <a:solidFill>
                  <a:srgbClr val="2E8BA8"/>
                </a:solidFill>
                <a:latin typeface="Cambria" pitchFamily="34" charset="0"/>
                <a:ea typeface="Cambria" pitchFamily="34" charset="-122"/>
                <a:cs typeface="Cambria" pitchFamily="34" charset="-120"/>
              </a:rPr>
              <a:t>4</a:t>
            </a:r>
            <a:pPr algn="ctr" indent="0" marL="0">
              <a:buNone/>
            </a:pPr>
            <a:r>
              <a:rPr lang="en-US" sz="1300" dirty="0">
                <a:solidFill>
                  <a:srgbClr val="5F7183"/>
                </a:solidFill>
                <a:latin typeface="Cambria" pitchFamily="34" charset="0"/>
                <a:ea typeface="Cambria" pitchFamily="34" charset="-122"/>
                <a:cs typeface="Cambria" pitchFamily="34" charset="-120"/>
              </a:rPr>
              <a:t>   vs   </a:t>
            </a:r>
            <a:pPr algn="ctr" indent="0" marL="0">
              <a:buNone/>
            </a:pPr>
            <a:r>
              <a:rPr lang="en-US" sz="3000" b="1" dirty="0">
                <a:solidFill>
                  <a:srgbClr val="C74B4B"/>
                </a:solidFill>
                <a:latin typeface="Cambria" pitchFamily="34" charset="0"/>
                <a:ea typeface="Cambria" pitchFamily="34" charset="-122"/>
                <a:cs typeface="Cambria" pitchFamily="34" charset="-120"/>
              </a:rPr>
              <a:t>8</a:t>
            </a:r>
            <a:endParaRPr lang="en-US" sz="3000" dirty="0"/>
          </a:p>
        </p:txBody>
      </p:sp>
      <p:sp>
        <p:nvSpPr>
          <p:cNvPr id="12" name="Text 9"/>
          <p:cNvSpPr/>
          <p:nvPr/>
        </p:nvSpPr>
        <p:spPr>
          <a:xfrm>
            <a:off x="9281160" y="4224528"/>
            <a:ext cx="2240280" cy="320040"/>
          </a:xfrm>
          <a:prstGeom prst="rect">
            <a:avLst/>
          </a:prstGeom>
          <a:noFill/>
          <a:ln/>
        </p:spPr>
        <p:txBody>
          <a:bodyPr wrap="square" lIns="0" tIns="0" rIns="0" bIns="0" rtlCol="0" anchor="ctr"/>
          <a:lstStyle/>
          <a:p>
            <a:pPr algn="ctr" indent="0" marL="0">
              <a:buNone/>
            </a:pPr>
            <a:r>
              <a:rPr lang="en-US" sz="1050" b="1" dirty="0">
                <a:solidFill>
                  <a:srgbClr val="0F2942"/>
                </a:solidFill>
                <a:latin typeface="Calibri" pitchFamily="34" charset="0"/>
                <a:ea typeface="Calibri" pitchFamily="34" charset="-122"/>
                <a:cs typeface="Calibri" pitchFamily="34" charset="-120"/>
              </a:rPr>
              <a:t>half as many bad days</a:t>
            </a:r>
            <a:endParaRPr lang="en-US" sz="1050" dirty="0"/>
          </a:p>
        </p:txBody>
      </p:sp>
      <p:sp>
        <p:nvSpPr>
          <p:cNvPr id="13" name="Shape 10"/>
          <p:cNvSpPr/>
          <p:nvPr/>
        </p:nvSpPr>
        <p:spPr>
          <a:xfrm>
            <a:off x="9098280" y="4800600"/>
            <a:ext cx="2606040" cy="1371600"/>
          </a:xfrm>
          <a:prstGeom prst="roundRect">
            <a:avLst>
              <a:gd name="adj" fmla="val 5333"/>
            </a:avLst>
          </a:prstGeom>
          <a:solidFill>
            <a:srgbClr val="FBF6E9"/>
          </a:solidFill>
          <a:ln w="12700">
            <a:solidFill>
              <a:srgbClr val="E2E8EE"/>
            </a:solidFill>
            <a:prstDash val="solid"/>
          </a:ln>
        </p:spPr>
      </p:sp>
      <p:sp>
        <p:nvSpPr>
          <p:cNvPr id="14" name="Text 11"/>
          <p:cNvSpPr/>
          <p:nvPr/>
        </p:nvSpPr>
        <p:spPr>
          <a:xfrm>
            <a:off x="9281160" y="4919472"/>
            <a:ext cx="2240280" cy="292608"/>
          </a:xfrm>
          <a:prstGeom prst="rect">
            <a:avLst/>
          </a:prstGeom>
          <a:noFill/>
          <a:ln/>
        </p:spPr>
        <p:txBody>
          <a:bodyPr wrap="square" lIns="0" tIns="0" rIns="0" bIns="0" rtlCol="0" anchor="ctr"/>
          <a:lstStyle/>
          <a:p>
            <a:pPr indent="0" marL="0">
              <a:buNone/>
            </a:pPr>
            <a:r>
              <a:rPr lang="en-US" sz="1300" b="1" dirty="0">
                <a:solidFill>
                  <a:srgbClr val="0F2942"/>
                </a:solidFill>
                <a:latin typeface="Cambria" pitchFamily="34" charset="0"/>
                <a:ea typeface="Cambria" pitchFamily="34" charset="-122"/>
                <a:cs typeface="Cambria" pitchFamily="34" charset="-120"/>
              </a:rPr>
              <a:t>This is the real argument</a:t>
            </a:r>
            <a:endParaRPr lang="en-US" sz="1300" dirty="0"/>
          </a:p>
        </p:txBody>
      </p:sp>
      <p:sp>
        <p:nvSpPr>
          <p:cNvPr id="15" name="Text 12"/>
          <p:cNvSpPr/>
          <p:nvPr/>
        </p:nvSpPr>
        <p:spPr>
          <a:xfrm>
            <a:off x="9281160" y="5212080"/>
            <a:ext cx="2240280" cy="914400"/>
          </a:xfrm>
          <a:prstGeom prst="rect">
            <a:avLst/>
          </a:prstGeom>
          <a:noFill/>
          <a:ln/>
        </p:spPr>
        <p:txBody>
          <a:bodyPr wrap="square" lIns="0" tIns="0" rIns="0" bIns="0" rtlCol="0" anchor="ctr"/>
          <a:lstStyle/>
          <a:p>
            <a:pPr indent="0" marL="0">
              <a:lnSpc>
                <a:spcPct val="112000"/>
              </a:lnSpc>
              <a:buNone/>
            </a:pPr>
            <a:r>
              <a:rPr lang="en-US" sz="1050" dirty="0">
                <a:solidFill>
                  <a:srgbClr val="0F2942"/>
                </a:solidFill>
                <a:latin typeface="Calibri" pitchFamily="34" charset="0"/>
                <a:ea typeface="Calibri" pitchFamily="34" charset="-122"/>
                <a:cs typeface="Calibri" pitchFamily="34" charset="-120"/>
              </a:rPr>
              <a:t>On a typical day the two are close. The gap opens at Chinese New Year: on 16 Feb the actual was 3,518 — long history said 3,550, short memory said 5,414.</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A full year, one week ahead</a:t>
            </a:r>
            <a:endParaRPr lang="en-US" sz="31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All of 2025 — and one event that dominates the whole year's average.</a:t>
            </a:r>
            <a:endParaRPr lang="en-US" sz="1500" dirty="0"/>
          </a:p>
        </p:txBody>
      </p:sp>
      <p:graphicFrame>
        <p:nvGraphicFramePr>
          <p:cNvPr id="4" name="Chart 0" descr=""/>
          <p:cNvGraphicFramePr/>
          <p:nvPr/>
        </p:nvGraphicFramePr>
        <p:xfrm>
          <a:off x="457200" y="1554480"/>
          <a:ext cx="8549640" cy="46177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720840" y="4864608"/>
            <a:ext cx="1828800" cy="320040"/>
          </a:xfrm>
          <a:prstGeom prst="rect">
            <a:avLst/>
          </a:prstGeom>
          <a:noFill/>
          <a:ln/>
        </p:spPr>
        <p:txBody>
          <a:bodyPr wrap="square" lIns="0" tIns="0" rIns="0" bIns="0" rtlCol="0" anchor="ctr"/>
          <a:lstStyle/>
          <a:p>
            <a:pPr algn="l" indent="0" marL="0">
              <a:buNone/>
            </a:pPr>
            <a:r>
              <a:rPr lang="en-US" sz="1100" b="1" dirty="0">
                <a:solidFill>
                  <a:srgbClr val="C74B4B"/>
                </a:solidFill>
                <a:latin typeface="Calibri" pitchFamily="34" charset="0"/>
                <a:ea typeface="Calibri" pitchFamily="34" charset="-122"/>
                <a:cs typeface="Calibri" pitchFamily="34" charset="-120"/>
              </a:rPr>
              <a:t>← Typhoon RAGASA</a:t>
            </a:r>
            <a:endParaRPr lang="en-US" sz="1100" dirty="0"/>
          </a:p>
        </p:txBody>
      </p:sp>
      <p:sp>
        <p:nvSpPr>
          <p:cNvPr id="6" name="Text 3"/>
          <p:cNvSpPr/>
          <p:nvPr/>
        </p:nvSpPr>
        <p:spPr>
          <a:xfrm>
            <a:off x="9098280" y="1645920"/>
            <a:ext cx="2606040" cy="868680"/>
          </a:xfrm>
          <a:prstGeom prst="rect">
            <a:avLst/>
          </a:prstGeom>
          <a:noFill/>
          <a:ln/>
        </p:spPr>
        <p:txBody>
          <a:bodyPr wrap="square" lIns="0" tIns="0" rIns="0" bIns="0" rtlCol="0" anchor="ctr"/>
          <a:lstStyle/>
          <a:p>
            <a:pPr algn="ctr" indent="0" marL="0">
              <a:buNone/>
            </a:pPr>
            <a:r>
              <a:rPr lang="en-US" sz="4600" b="1" dirty="0">
                <a:solidFill>
                  <a:srgbClr val="C74B4B"/>
                </a:solidFill>
                <a:latin typeface="Cambria" pitchFamily="34" charset="0"/>
                <a:ea typeface="Cambria" pitchFamily="34" charset="-122"/>
                <a:cs typeface="Cambria" pitchFamily="34" charset="-120"/>
              </a:rPr>
              <a:t>7.71%</a:t>
            </a:r>
            <a:endParaRPr lang="en-US" sz="4600" dirty="0"/>
          </a:p>
        </p:txBody>
      </p:sp>
      <p:sp>
        <p:nvSpPr>
          <p:cNvPr id="7" name="Text 4"/>
          <p:cNvSpPr/>
          <p:nvPr/>
        </p:nvSpPr>
        <p:spPr>
          <a:xfrm>
            <a:off x="9098280" y="2514600"/>
            <a:ext cx="2606040" cy="502920"/>
          </a:xfrm>
          <a:prstGeom prst="rect">
            <a:avLst/>
          </a:prstGeom>
          <a:noFill/>
          <a:ln/>
        </p:spPr>
        <p:txBody>
          <a:bodyPr wrap="square" lIns="0" tIns="0" rIns="0" bIns="0" rtlCol="0" anchor="t"/>
          <a:lstStyle/>
          <a:p>
            <a:pPr algn="ctr" indent="0" marL="0">
              <a:buNone/>
            </a:pPr>
            <a:r>
              <a:rPr lang="en-US" sz="1250" dirty="0">
                <a:solidFill>
                  <a:srgbClr val="5F7183"/>
                </a:solidFill>
                <a:latin typeface="Calibri" pitchFamily="34" charset="0"/>
                <a:ea typeface="Calibri" pitchFamily="34" charset="-122"/>
                <a:cs typeface="Calibri" pitchFamily="34" charset="-120"/>
              </a:rPr>
              <a:t>all 365 days</a:t>
            </a:r>
            <a:endParaRPr lang="en-US" sz="1250" dirty="0"/>
          </a:p>
        </p:txBody>
      </p:sp>
      <p:sp>
        <p:nvSpPr>
          <p:cNvPr id="8" name="Text 5"/>
          <p:cNvSpPr/>
          <p:nvPr/>
        </p:nvSpPr>
        <p:spPr>
          <a:xfrm>
            <a:off x="9098280" y="3017520"/>
            <a:ext cx="2606040" cy="868680"/>
          </a:xfrm>
          <a:prstGeom prst="rect">
            <a:avLst/>
          </a:prstGeom>
          <a:noFill/>
          <a:ln/>
        </p:spPr>
        <p:txBody>
          <a:bodyPr wrap="square" lIns="0" tIns="0" rIns="0" bIns="0" rtlCol="0" anchor="ctr"/>
          <a:lstStyle/>
          <a:p>
            <a:pPr algn="ctr" indent="0" marL="0">
              <a:buNone/>
            </a:pPr>
            <a:r>
              <a:rPr lang="en-US" sz="4600" b="1" dirty="0">
                <a:solidFill>
                  <a:srgbClr val="2E8BA8"/>
                </a:solidFill>
                <a:latin typeface="Cambria" pitchFamily="34" charset="0"/>
                <a:ea typeface="Cambria" pitchFamily="34" charset="-122"/>
                <a:cs typeface="Cambria" pitchFamily="34" charset="-120"/>
              </a:rPr>
              <a:t>4.94%</a:t>
            </a:r>
            <a:endParaRPr lang="en-US" sz="4600" dirty="0"/>
          </a:p>
        </p:txBody>
      </p:sp>
      <p:sp>
        <p:nvSpPr>
          <p:cNvPr id="9" name="Text 6"/>
          <p:cNvSpPr/>
          <p:nvPr/>
        </p:nvSpPr>
        <p:spPr>
          <a:xfrm>
            <a:off x="9098280" y="3886200"/>
            <a:ext cx="2606040" cy="502920"/>
          </a:xfrm>
          <a:prstGeom prst="rect">
            <a:avLst/>
          </a:prstGeom>
          <a:noFill/>
          <a:ln/>
        </p:spPr>
        <p:txBody>
          <a:bodyPr wrap="square" lIns="0" tIns="0" rIns="0" bIns="0" rtlCol="0" anchor="t"/>
          <a:lstStyle/>
          <a:p>
            <a:pPr algn="ctr" indent="0" marL="0">
              <a:buNone/>
            </a:pPr>
            <a:r>
              <a:rPr lang="en-US" sz="1250" dirty="0">
                <a:solidFill>
                  <a:srgbClr val="5F7183"/>
                </a:solidFill>
                <a:latin typeface="Calibri" pitchFamily="34" charset="0"/>
                <a:ea typeface="Calibri" pitchFamily="34" charset="-122"/>
                <a:cs typeface="Calibri" pitchFamily="34" charset="-120"/>
              </a:rPr>
              <a:t>excluding the storm week</a:t>
            </a:r>
            <a:endParaRPr lang="en-US" sz="1250" dirty="0"/>
          </a:p>
        </p:txBody>
      </p:sp>
      <p:sp>
        <p:nvSpPr>
          <p:cNvPr id="10" name="Shape 7"/>
          <p:cNvSpPr/>
          <p:nvPr/>
        </p:nvSpPr>
        <p:spPr>
          <a:xfrm>
            <a:off x="9098280" y="4434840"/>
            <a:ext cx="2606040" cy="1737360"/>
          </a:xfrm>
          <a:prstGeom prst="roundRect">
            <a:avLst>
              <a:gd name="adj" fmla="val 4211"/>
            </a:avLst>
          </a:prstGeom>
          <a:solidFill>
            <a:srgbClr val="F7E9E9"/>
          </a:solidFill>
          <a:ln w="12700">
            <a:solidFill>
              <a:srgbClr val="E2E8EE"/>
            </a:solidFill>
            <a:prstDash val="solid"/>
          </a:ln>
        </p:spPr>
      </p:sp>
      <p:sp>
        <p:nvSpPr>
          <p:cNvPr id="11" name="Text 8"/>
          <p:cNvSpPr/>
          <p:nvPr/>
        </p:nvSpPr>
        <p:spPr>
          <a:xfrm>
            <a:off x="9326880" y="4572000"/>
            <a:ext cx="2194560" cy="457200"/>
          </a:xfrm>
          <a:prstGeom prst="rect">
            <a:avLst/>
          </a:prstGeom>
          <a:noFill/>
          <a:ln/>
        </p:spPr>
        <p:txBody>
          <a:bodyPr wrap="square" lIns="0" tIns="0" rIns="0" bIns="0" rtlCol="0" anchor="ctr"/>
          <a:lstStyle/>
          <a:p>
            <a:pPr indent="0" marL="0">
              <a:buNone/>
            </a:pPr>
            <a:r>
              <a:rPr lang="en-US" sz="1350" b="1" dirty="0">
                <a:solidFill>
                  <a:srgbClr val="0F2942"/>
                </a:solidFill>
                <a:latin typeface="Cambria" pitchFamily="34" charset="0"/>
                <a:ea typeface="Cambria" pitchFamily="34" charset="-122"/>
                <a:cs typeface="Cambria" pitchFamily="34" charset="-120"/>
              </a:rPr>
              <a:t>Two days, one fifth of the year's error</a:t>
            </a:r>
            <a:endParaRPr lang="en-US" sz="1350" dirty="0"/>
          </a:p>
        </p:txBody>
      </p:sp>
      <p:sp>
        <p:nvSpPr>
          <p:cNvPr id="12" name="Text 9"/>
          <p:cNvSpPr/>
          <p:nvPr/>
        </p:nvSpPr>
        <p:spPr>
          <a:xfrm>
            <a:off x="9326880" y="5074920"/>
            <a:ext cx="2194560" cy="1005840"/>
          </a:xfrm>
          <a:prstGeom prst="rect">
            <a:avLst/>
          </a:prstGeom>
          <a:noFill/>
          <a:ln/>
        </p:spPr>
        <p:txBody>
          <a:bodyPr wrap="square" lIns="0" tIns="0" rIns="0" bIns="0" rtlCol="0" anchor="ctr"/>
          <a:lstStyle/>
          <a:p>
            <a:pPr indent="0" marL="0">
              <a:lnSpc>
                <a:spcPct val="115000"/>
              </a:lnSpc>
              <a:buNone/>
            </a:pPr>
            <a:r>
              <a:rPr lang="en-US" sz="1150" dirty="0">
                <a:solidFill>
                  <a:srgbClr val="0F2942"/>
                </a:solidFill>
                <a:latin typeface="Calibri" pitchFamily="34" charset="0"/>
                <a:ea typeface="Calibri" pitchFamily="34" charset="-122"/>
                <a:cs typeface="Calibri" pitchFamily="34" charset="-120"/>
              </a:rPr>
              <a:t>A typhoon shut the floor on 23–24 September. Those two days alone move the annual figure from 4.94% to 7.71%.</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What a typhoon does — and why it is not the model's fault</a:t>
            </a:r>
            <a:endParaRPr lang="en-US" sz="31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Late September 2025, one week ahead. The single worst forecast in the whole eleven years.</a:t>
            </a:r>
            <a:endParaRPr lang="en-US" sz="1500" dirty="0"/>
          </a:p>
        </p:txBody>
      </p:sp>
      <p:graphicFrame>
        <p:nvGraphicFramePr>
          <p:cNvPr id="4" name="Chart 0" descr=""/>
          <p:cNvGraphicFramePr/>
          <p:nvPr/>
        </p:nvGraphicFramePr>
        <p:xfrm>
          <a:off x="457200" y="1554480"/>
          <a:ext cx="7772400" cy="46177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412480" y="1691640"/>
            <a:ext cx="3218688" cy="1965960"/>
          </a:xfrm>
          <a:prstGeom prst="roundRect">
            <a:avLst>
              <a:gd name="adj" fmla="val 3721"/>
            </a:avLst>
          </a:prstGeom>
          <a:solidFill>
            <a:srgbClr val="F7E9E9"/>
          </a:solidFill>
          <a:ln w="12700">
            <a:solidFill>
              <a:srgbClr val="E2E8EE"/>
            </a:solidFill>
            <a:prstDash val="solid"/>
          </a:ln>
        </p:spPr>
      </p:sp>
      <p:sp>
        <p:nvSpPr>
          <p:cNvPr id="6" name="Text 3"/>
          <p:cNvSpPr/>
          <p:nvPr/>
        </p:nvSpPr>
        <p:spPr>
          <a:xfrm>
            <a:off x="8641080" y="1847088"/>
            <a:ext cx="2743200" cy="320040"/>
          </a:xfrm>
          <a:prstGeom prst="rect">
            <a:avLst/>
          </a:prstGeom>
          <a:noFill/>
          <a:ln/>
        </p:spPr>
        <p:txBody>
          <a:bodyPr wrap="square" lIns="0" tIns="0" rIns="0" bIns="0" rtlCol="0" anchor="ctr"/>
          <a:lstStyle/>
          <a:p>
            <a:pPr indent="0" marL="0">
              <a:buNone/>
            </a:pPr>
            <a:r>
              <a:rPr lang="en-US" sz="1500" b="1" dirty="0">
                <a:solidFill>
                  <a:srgbClr val="0F2942"/>
                </a:solidFill>
                <a:latin typeface="Cambria" pitchFamily="34" charset="0"/>
                <a:ea typeface="Cambria" pitchFamily="34" charset="-122"/>
                <a:cs typeface="Cambria" pitchFamily="34" charset="-120"/>
              </a:rPr>
              <a:t>23–24 September</a:t>
            </a:r>
            <a:endParaRPr lang="en-US" sz="1500" dirty="0"/>
          </a:p>
        </p:txBody>
      </p:sp>
      <p:sp>
        <p:nvSpPr>
          <p:cNvPr id="7" name="Text 4"/>
          <p:cNvSpPr/>
          <p:nvPr/>
        </p:nvSpPr>
        <p:spPr>
          <a:xfrm>
            <a:off x="8641080" y="2212848"/>
            <a:ext cx="2788920" cy="1325880"/>
          </a:xfrm>
          <a:prstGeom prst="rect">
            <a:avLst/>
          </a:prstGeom>
          <a:noFill/>
          <a:ln/>
        </p:spPr>
        <p:txBody>
          <a:bodyPr wrap="square" lIns="0" tIns="0" rIns="0" bIns="0" rtlCol="0" anchor="ctr"/>
          <a:lstStyle/>
          <a:p>
            <a:pPr indent="0" marL="0">
              <a:lnSpc>
                <a:spcPct val="120000"/>
              </a:lnSpc>
              <a:buNone/>
            </a:pPr>
            <a:r>
              <a:rPr lang="en-US" sz="1200" dirty="0">
                <a:solidFill>
                  <a:srgbClr val="0F2942"/>
                </a:solidFill>
                <a:latin typeface="Calibri" pitchFamily="34" charset="0"/>
                <a:ea typeface="Calibri" pitchFamily="34" charset="-122"/>
                <a:cs typeface="Calibri" pitchFamily="34" charset="-120"/>
              </a:rPr>
              <a:t>Demand fell to 879 against a normal 7,000 — an 87% drop. The forecast said about 5,000.</a:t>
            </a:r>
            <a:endParaRPr lang="en-US" sz="1200" dirty="0"/>
          </a:p>
          <a:p>
            <a:pPr indent="0" marL="0">
              <a:lnSpc>
                <a:spcPct val="120000"/>
              </a:lnSpc>
              <a:buNone/>
            </a:pPr>
            <a:endParaRPr lang="en-US" sz="1200" dirty="0"/>
          </a:p>
          <a:p>
            <a:pPr indent="0" marL="0">
              <a:lnSpc>
                <a:spcPct val="120000"/>
              </a:lnSpc>
              <a:buNone/>
            </a:pPr>
            <a:r>
              <a:rPr lang="en-US" sz="1200" dirty="0">
                <a:solidFill>
                  <a:srgbClr val="0F2942"/>
                </a:solidFill>
                <a:latin typeface="Calibri" pitchFamily="34" charset="0"/>
                <a:ea typeface="Calibri" pitchFamily="34" charset="-122"/>
                <a:cs typeface="Calibri" pitchFamily="34" charset="-120"/>
              </a:rPr>
              <a:t>Nothing in eleven years of demand history predicts a storm. The model had no way to know.</a:t>
            </a:r>
            <a:endParaRPr lang="en-US" sz="1200" dirty="0"/>
          </a:p>
        </p:txBody>
      </p:sp>
      <p:sp>
        <p:nvSpPr>
          <p:cNvPr id="8" name="Shape 5"/>
          <p:cNvSpPr/>
          <p:nvPr/>
        </p:nvSpPr>
        <p:spPr>
          <a:xfrm>
            <a:off x="8412480" y="3794760"/>
            <a:ext cx="3218688" cy="2377440"/>
          </a:xfrm>
          <a:prstGeom prst="roundRect">
            <a:avLst>
              <a:gd name="adj" fmla="val 3077"/>
            </a:avLst>
          </a:prstGeom>
          <a:solidFill>
            <a:srgbClr val="FBF6E9"/>
          </a:solidFill>
          <a:ln w="12700">
            <a:solidFill>
              <a:srgbClr val="E2E8EE"/>
            </a:solidFill>
            <a:prstDash val="solid"/>
          </a:ln>
        </p:spPr>
      </p:sp>
      <p:sp>
        <p:nvSpPr>
          <p:cNvPr id="9" name="Text 6"/>
          <p:cNvSpPr/>
          <p:nvPr/>
        </p:nvSpPr>
        <p:spPr>
          <a:xfrm>
            <a:off x="8641080" y="3959352"/>
            <a:ext cx="2743200" cy="320040"/>
          </a:xfrm>
          <a:prstGeom prst="rect">
            <a:avLst/>
          </a:prstGeom>
          <a:noFill/>
          <a:ln/>
        </p:spPr>
        <p:txBody>
          <a:bodyPr wrap="square" lIns="0" tIns="0" rIns="0" bIns="0" rtlCol="0" anchor="ctr"/>
          <a:lstStyle/>
          <a:p>
            <a:pPr indent="0" marL="0">
              <a:buNone/>
            </a:pPr>
            <a:r>
              <a:rPr lang="en-US" sz="1500" b="1" dirty="0">
                <a:solidFill>
                  <a:srgbClr val="0F2942"/>
                </a:solidFill>
                <a:latin typeface="Cambria" pitchFamily="34" charset="0"/>
                <a:ea typeface="Cambria" pitchFamily="34" charset="-122"/>
                <a:cs typeface="Cambria" pitchFamily="34" charset="-120"/>
              </a:rPr>
              <a:t>The knock-on effect</a:t>
            </a:r>
            <a:endParaRPr lang="en-US" sz="1500" dirty="0"/>
          </a:p>
        </p:txBody>
      </p:sp>
      <p:sp>
        <p:nvSpPr>
          <p:cNvPr id="10" name="Text 7"/>
          <p:cNvSpPr/>
          <p:nvPr/>
        </p:nvSpPr>
        <p:spPr>
          <a:xfrm>
            <a:off x="8641080" y="4315968"/>
            <a:ext cx="2788920" cy="1737360"/>
          </a:xfrm>
          <a:prstGeom prst="rect">
            <a:avLst/>
          </a:prstGeom>
          <a:noFill/>
          <a:ln/>
        </p:spPr>
        <p:txBody>
          <a:bodyPr wrap="square" lIns="0" tIns="0" rIns="0" bIns="0" rtlCol="0" anchor="ctr"/>
          <a:lstStyle/>
          <a:p>
            <a:pPr indent="0" marL="0">
              <a:lnSpc>
                <a:spcPct val="115000"/>
              </a:lnSpc>
              <a:buNone/>
            </a:pPr>
            <a:r>
              <a:rPr lang="en-US" sz="1150" dirty="0">
                <a:solidFill>
                  <a:srgbClr val="0F2942"/>
                </a:solidFill>
                <a:latin typeface="Calibri" pitchFamily="34" charset="0"/>
                <a:ea typeface="Calibri" pitchFamily="34" charset="-122"/>
                <a:cs typeface="Calibri" pitchFamily="34" charset="-120"/>
              </a:rPr>
              <a:t>Look at the week AFTER. Trade recovered, but the forecast stayed low — because the model's "how busy have we been lately" inputs were themselves poisoned by the two collapsed days.</a:t>
            </a:r>
            <a:endParaRPr lang="en-US" sz="1150" dirty="0"/>
          </a:p>
          <a:p>
            <a:pPr indent="0" marL="0">
              <a:lnSpc>
                <a:spcPct val="115000"/>
              </a:lnSpc>
              <a:buNone/>
            </a:pPr>
            <a:endParaRPr lang="en-US" sz="1150" dirty="0"/>
          </a:p>
          <a:p>
            <a:pPr indent="0" marL="0">
              <a:lnSpc>
                <a:spcPct val="115000"/>
              </a:lnSpc>
              <a:buNone/>
            </a:pPr>
            <a:r>
              <a:rPr lang="en-US" sz="1150" dirty="0">
                <a:solidFill>
                  <a:srgbClr val="0F2942"/>
                </a:solidFill>
                <a:latin typeface="Calibri" pitchFamily="34" charset="0"/>
                <a:ea typeface="Calibri" pitchFamily="34" charset="-122"/>
                <a:cs typeface="Calibri" pitchFamily="34" charset="-120"/>
              </a:rPr>
              <a:t>One shock damages the following week too. This is the same mechanism that makes Chinese New Year hard.</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2942"/>
        </a:solidFill>
      </p:bgPr>
    </p:bg>
    <p:spTree>
      <p:nvGrpSpPr>
        <p:cNvPr id="1" name=""/>
        <p:cNvGrpSpPr/>
        <p:nvPr/>
      </p:nvGrpSpPr>
      <p:grpSpPr>
        <a:xfrm>
          <a:off x="0" y="0"/>
          <a:ext cx="0" cy="0"/>
          <a:chOff x="0" y="0"/>
          <a:chExt cx="0" cy="0"/>
        </a:xfrm>
      </p:grpSpPr>
      <p:sp>
        <p:nvSpPr>
          <p:cNvPr id="2" name="Shape 0"/>
          <p:cNvSpPr/>
          <p:nvPr/>
        </p:nvSpPr>
        <p:spPr>
          <a:xfrm>
            <a:off x="822960" y="2286000"/>
            <a:ext cx="1051560" cy="1051560"/>
          </a:xfrm>
          <a:prstGeom prst="ellipse">
            <a:avLst/>
          </a:prstGeom>
          <a:solidFill>
            <a:srgbClr val="E8B547"/>
          </a:solidFill>
          <a:ln/>
        </p:spPr>
      </p:sp>
      <p:sp>
        <p:nvSpPr>
          <p:cNvPr id="3" name="Text 1"/>
          <p:cNvSpPr/>
          <p:nvPr/>
        </p:nvSpPr>
        <p:spPr>
          <a:xfrm>
            <a:off x="822960" y="2286000"/>
            <a:ext cx="1051560" cy="1051560"/>
          </a:xfrm>
          <a:prstGeom prst="rect">
            <a:avLst/>
          </a:prstGeom>
          <a:noFill/>
          <a:ln/>
        </p:spPr>
        <p:txBody>
          <a:bodyPr wrap="square" lIns="0" tIns="0" rIns="0" bIns="0" rtlCol="0" anchor="ctr"/>
          <a:lstStyle/>
          <a:p>
            <a:pPr algn="ctr" indent="0" marL="0">
              <a:buNone/>
            </a:pPr>
            <a:r>
              <a:rPr lang="en-US" sz="4000" b="1" dirty="0">
                <a:solidFill>
                  <a:srgbClr val="0F2942"/>
                </a:solidFill>
                <a:latin typeface="Cambria" pitchFamily="34" charset="0"/>
                <a:ea typeface="Cambria" pitchFamily="34" charset="-122"/>
                <a:cs typeface="Cambria" pitchFamily="34" charset="-120"/>
              </a:rPr>
              <a:t>4</a:t>
            </a:r>
            <a:endParaRPr lang="en-US" sz="4000" dirty="0"/>
          </a:p>
        </p:txBody>
      </p:sp>
      <p:sp>
        <p:nvSpPr>
          <p:cNvPr id="4" name="Text 2"/>
          <p:cNvSpPr/>
          <p:nvPr/>
        </p:nvSpPr>
        <p:spPr>
          <a:xfrm>
            <a:off x="2240280" y="2194560"/>
            <a:ext cx="896112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What the model looks at</a:t>
            </a:r>
            <a:endParaRPr lang="en-US" sz="3800" dirty="0"/>
          </a:p>
        </p:txBody>
      </p:sp>
      <p:sp>
        <p:nvSpPr>
          <p:cNvPr id="5" name="Text 3"/>
          <p:cNvSpPr/>
          <p:nvPr/>
        </p:nvSpPr>
        <p:spPr>
          <a:xfrm>
            <a:off x="2286000" y="3127248"/>
            <a:ext cx="8778240" cy="777240"/>
          </a:xfrm>
          <a:prstGeom prst="rect">
            <a:avLst/>
          </a:prstGeom>
          <a:noFill/>
          <a:ln/>
        </p:spPr>
        <p:txBody>
          <a:bodyPr wrap="square" lIns="0" tIns="0" rIns="0" bIns="0" rtlCol="0" anchor="t"/>
          <a:lstStyle/>
          <a:p>
            <a:pPr indent="0" marL="0">
              <a:buNone/>
            </a:pPr>
            <a:r>
              <a:rPr lang="en-US" sz="1650" dirty="0">
                <a:solidFill>
                  <a:srgbClr val="AEC3D6"/>
                </a:solidFill>
                <a:latin typeface="Calibri" pitchFamily="34" charset="0"/>
                <a:ea typeface="Calibri" pitchFamily="34" charset="-122"/>
                <a:cs typeface="Calibri" pitchFamily="34" charset="-120"/>
              </a:rPr>
              <a:t>About 170 pieces of information per day — and they are not equally important.</a:t>
            </a:r>
            <a:endParaRPr lang="en-US" sz="16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Half the model is holidays</a:t>
            </a:r>
            <a:endParaRPr lang="en-US" sz="31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Share of the model's decision-making, measured.</a:t>
            </a:r>
            <a:endParaRPr lang="en-US" sz="1500" dirty="0"/>
          </a:p>
        </p:txBody>
      </p:sp>
      <p:graphicFrame>
        <p:nvGraphicFramePr>
          <p:cNvPr id="4" name="Chart 0" descr=""/>
          <p:cNvGraphicFramePr/>
          <p:nvPr/>
        </p:nvGraphicFramePr>
        <p:xfrm>
          <a:off x="457200" y="1554480"/>
          <a:ext cx="5120640" cy="46634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989320" y="1837944"/>
            <a:ext cx="201168" cy="201168"/>
          </a:xfrm>
          <a:prstGeom prst="ellipse">
            <a:avLst/>
          </a:prstGeom>
          <a:solidFill>
            <a:srgbClr val="E8B547"/>
          </a:solidFill>
          <a:ln/>
        </p:spPr>
      </p:sp>
      <p:sp>
        <p:nvSpPr>
          <p:cNvPr id="6" name="Text 3"/>
          <p:cNvSpPr/>
          <p:nvPr/>
        </p:nvSpPr>
        <p:spPr>
          <a:xfrm>
            <a:off x="6355080" y="1783080"/>
            <a:ext cx="5303520" cy="320040"/>
          </a:xfrm>
          <a:prstGeom prst="rect">
            <a:avLst/>
          </a:prstGeom>
          <a:noFill/>
          <a:ln/>
        </p:spPr>
        <p:txBody>
          <a:bodyPr wrap="square" lIns="0" tIns="0" rIns="0" bIns="0" rtlCol="0" anchor="ctr"/>
          <a:lstStyle/>
          <a:p>
            <a:pPr indent="0" marL="0">
              <a:buNone/>
            </a:pPr>
            <a:r>
              <a:rPr lang="en-US" sz="1500" b="1" dirty="0">
                <a:solidFill>
                  <a:srgbClr val="0F2942"/>
                </a:solidFill>
                <a:latin typeface="Cambria" pitchFamily="34" charset="0"/>
                <a:ea typeface="Cambria" pitchFamily="34" charset="-122"/>
                <a:cs typeface="Cambria" pitchFamily="34" charset="-120"/>
              </a:rPr>
              <a:t>Holidays — 47%</a:t>
            </a:r>
            <a:endParaRPr lang="en-US" sz="1500" dirty="0"/>
          </a:p>
        </p:txBody>
      </p:sp>
      <p:sp>
        <p:nvSpPr>
          <p:cNvPr id="7" name="Text 4"/>
          <p:cNvSpPr/>
          <p:nvPr/>
        </p:nvSpPr>
        <p:spPr>
          <a:xfrm>
            <a:off x="6355080" y="2112264"/>
            <a:ext cx="5276088" cy="777240"/>
          </a:xfrm>
          <a:prstGeom prst="rect">
            <a:avLst/>
          </a:prstGeom>
          <a:noFill/>
          <a:ln/>
        </p:spPr>
        <p:txBody>
          <a:bodyPr wrap="square" lIns="0" tIns="0" rIns="0" bIns="0" rtlCol="0" anchor="ctr"/>
          <a:lstStyle/>
          <a:p>
            <a:pPr indent="0" marL="0">
              <a:lnSpc>
                <a:spcPct val="115000"/>
              </a:lnSpc>
              <a:buNone/>
            </a:pPr>
            <a:r>
              <a:rPr lang="en-US" sz="1200" dirty="0">
                <a:solidFill>
                  <a:srgbClr val="5F7183"/>
                </a:solidFill>
                <a:latin typeface="Calibri" pitchFamily="34" charset="0"/>
                <a:ea typeface="Calibri" pitchFamily="34" charset="-122"/>
                <a:cs typeface="Calibri" pitchFamily="34" charset="-120"/>
              </a:rPr>
              <a:t>Nine of them. Not single days but windows: Chinese New Year disrupts trade for about three weeks.</a:t>
            </a:r>
            <a:endParaRPr lang="en-US" sz="1200" dirty="0"/>
          </a:p>
        </p:txBody>
      </p:sp>
      <p:sp>
        <p:nvSpPr>
          <p:cNvPr id="8" name="Shape 5"/>
          <p:cNvSpPr/>
          <p:nvPr/>
        </p:nvSpPr>
        <p:spPr>
          <a:xfrm>
            <a:off x="5989320" y="3008376"/>
            <a:ext cx="201168" cy="201168"/>
          </a:xfrm>
          <a:prstGeom prst="ellipse">
            <a:avLst/>
          </a:prstGeom>
          <a:solidFill>
            <a:srgbClr val="2E8BA8"/>
          </a:solidFill>
          <a:ln/>
        </p:spPr>
      </p:sp>
      <p:sp>
        <p:nvSpPr>
          <p:cNvPr id="9" name="Text 6"/>
          <p:cNvSpPr/>
          <p:nvPr/>
        </p:nvSpPr>
        <p:spPr>
          <a:xfrm>
            <a:off x="6355080" y="2953512"/>
            <a:ext cx="5303520" cy="320040"/>
          </a:xfrm>
          <a:prstGeom prst="rect">
            <a:avLst/>
          </a:prstGeom>
          <a:noFill/>
          <a:ln/>
        </p:spPr>
        <p:txBody>
          <a:bodyPr wrap="square" lIns="0" tIns="0" rIns="0" bIns="0" rtlCol="0" anchor="ctr"/>
          <a:lstStyle/>
          <a:p>
            <a:pPr indent="0" marL="0">
              <a:buNone/>
            </a:pPr>
            <a:r>
              <a:rPr lang="en-US" sz="1500" b="1" dirty="0">
                <a:solidFill>
                  <a:srgbClr val="0F2942"/>
                </a:solidFill>
                <a:latin typeface="Cambria" pitchFamily="34" charset="0"/>
                <a:ea typeface="Cambria" pitchFamily="34" charset="-122"/>
                <a:cs typeface="Cambria" pitchFamily="34" charset="-120"/>
              </a:rPr>
              <a:t>Recent history — 15%</a:t>
            </a:r>
            <a:endParaRPr lang="en-US" sz="1500" dirty="0"/>
          </a:p>
        </p:txBody>
      </p:sp>
      <p:sp>
        <p:nvSpPr>
          <p:cNvPr id="10" name="Text 7"/>
          <p:cNvSpPr/>
          <p:nvPr/>
        </p:nvSpPr>
        <p:spPr>
          <a:xfrm>
            <a:off x="6355080" y="3282696"/>
            <a:ext cx="5276088" cy="777240"/>
          </a:xfrm>
          <a:prstGeom prst="rect">
            <a:avLst/>
          </a:prstGeom>
          <a:noFill/>
          <a:ln/>
        </p:spPr>
        <p:txBody>
          <a:bodyPr wrap="square" lIns="0" tIns="0" rIns="0" bIns="0" rtlCol="0" anchor="ctr"/>
          <a:lstStyle/>
          <a:p>
            <a:pPr indent="0" marL="0">
              <a:lnSpc>
                <a:spcPct val="115000"/>
              </a:lnSpc>
              <a:buNone/>
            </a:pPr>
            <a:r>
              <a:rPr lang="en-US" sz="1200" dirty="0">
                <a:solidFill>
                  <a:srgbClr val="5F7183"/>
                </a:solidFill>
                <a:latin typeface="Calibri" pitchFamily="34" charset="0"/>
                <a:ea typeface="Calibri" pitchFamily="34" charset="-122"/>
                <a:cs typeface="Calibri" pitchFamily="34" charset="-120"/>
              </a:rPr>
              <a:t>What demand did 2, 7, 28, 365 days ago; rolling averages; the last few same-weekdays.</a:t>
            </a:r>
            <a:endParaRPr lang="en-US" sz="1200" dirty="0"/>
          </a:p>
        </p:txBody>
      </p:sp>
      <p:sp>
        <p:nvSpPr>
          <p:cNvPr id="11" name="Shape 8"/>
          <p:cNvSpPr/>
          <p:nvPr/>
        </p:nvSpPr>
        <p:spPr>
          <a:xfrm>
            <a:off x="5989320" y="4178808"/>
            <a:ext cx="201168" cy="201168"/>
          </a:xfrm>
          <a:prstGeom prst="ellipse">
            <a:avLst/>
          </a:prstGeom>
          <a:solidFill>
            <a:srgbClr val="0F2942"/>
          </a:solidFill>
          <a:ln/>
        </p:spPr>
      </p:sp>
      <p:sp>
        <p:nvSpPr>
          <p:cNvPr id="12" name="Text 9"/>
          <p:cNvSpPr/>
          <p:nvPr/>
        </p:nvSpPr>
        <p:spPr>
          <a:xfrm>
            <a:off x="6355080" y="4123944"/>
            <a:ext cx="5303520" cy="320040"/>
          </a:xfrm>
          <a:prstGeom prst="rect">
            <a:avLst/>
          </a:prstGeom>
          <a:noFill/>
          <a:ln/>
        </p:spPr>
        <p:txBody>
          <a:bodyPr wrap="square" lIns="0" tIns="0" rIns="0" bIns="0" rtlCol="0" anchor="ctr"/>
          <a:lstStyle/>
          <a:p>
            <a:pPr indent="0" marL="0">
              <a:buNone/>
            </a:pPr>
            <a:r>
              <a:rPr lang="en-US" sz="1500" b="1" dirty="0">
                <a:solidFill>
                  <a:srgbClr val="0F2942"/>
                </a:solidFill>
                <a:latin typeface="Cambria" pitchFamily="34" charset="0"/>
                <a:ea typeface="Cambria" pitchFamily="34" charset="-122"/>
                <a:cs typeface="Cambria" pitchFamily="34" charset="-120"/>
              </a:rPr>
              <a:t>Calendar — 12%</a:t>
            </a:r>
            <a:endParaRPr lang="en-US" sz="1500" dirty="0"/>
          </a:p>
        </p:txBody>
      </p:sp>
      <p:sp>
        <p:nvSpPr>
          <p:cNvPr id="13" name="Text 10"/>
          <p:cNvSpPr/>
          <p:nvPr/>
        </p:nvSpPr>
        <p:spPr>
          <a:xfrm>
            <a:off x="6355080" y="4453128"/>
            <a:ext cx="5276088" cy="777240"/>
          </a:xfrm>
          <a:prstGeom prst="rect">
            <a:avLst/>
          </a:prstGeom>
          <a:noFill/>
          <a:ln/>
        </p:spPr>
        <p:txBody>
          <a:bodyPr wrap="square" lIns="0" tIns="0" rIns="0" bIns="0" rtlCol="0" anchor="ctr"/>
          <a:lstStyle/>
          <a:p>
            <a:pPr indent="0" marL="0">
              <a:lnSpc>
                <a:spcPct val="115000"/>
              </a:lnSpc>
              <a:buNone/>
            </a:pPr>
            <a:r>
              <a:rPr lang="en-US" sz="1200" dirty="0">
                <a:solidFill>
                  <a:srgbClr val="5F7183"/>
                </a:solidFill>
                <a:latin typeface="Calibri" pitchFamily="34" charset="0"/>
                <a:ea typeface="Calibri" pitchFamily="34" charset="-122"/>
                <a:cs typeface="Calibri" pitchFamily="34" charset="-120"/>
              </a:rPr>
              <a:t>Day of week, month, position in the year. Saturday is a different business from Tuesday.</a:t>
            </a:r>
            <a:endParaRPr lang="en-US" sz="1200" dirty="0"/>
          </a:p>
        </p:txBody>
      </p:sp>
      <p:sp>
        <p:nvSpPr>
          <p:cNvPr id="14" name="Shape 11"/>
          <p:cNvSpPr/>
          <p:nvPr/>
        </p:nvSpPr>
        <p:spPr>
          <a:xfrm>
            <a:off x="5989320" y="5349240"/>
            <a:ext cx="201168" cy="201168"/>
          </a:xfrm>
          <a:prstGeom prst="ellipse">
            <a:avLst/>
          </a:prstGeom>
          <a:solidFill>
            <a:srgbClr val="8A94A0"/>
          </a:solidFill>
          <a:ln/>
        </p:spPr>
      </p:sp>
      <p:sp>
        <p:nvSpPr>
          <p:cNvPr id="15" name="Text 12"/>
          <p:cNvSpPr/>
          <p:nvPr/>
        </p:nvSpPr>
        <p:spPr>
          <a:xfrm>
            <a:off x="6355080" y="5294376"/>
            <a:ext cx="5303520" cy="320040"/>
          </a:xfrm>
          <a:prstGeom prst="rect">
            <a:avLst/>
          </a:prstGeom>
          <a:noFill/>
          <a:ln/>
        </p:spPr>
        <p:txBody>
          <a:bodyPr wrap="square" lIns="0" tIns="0" rIns="0" bIns="0" rtlCol="0" anchor="ctr"/>
          <a:lstStyle/>
          <a:p>
            <a:pPr indent="0" marL="0">
              <a:buNone/>
            </a:pPr>
            <a:r>
              <a:rPr lang="en-US" sz="1500" b="1" dirty="0">
                <a:solidFill>
                  <a:srgbClr val="0F2942"/>
                </a:solidFill>
                <a:latin typeface="Cambria" pitchFamily="34" charset="0"/>
                <a:ea typeface="Cambria" pitchFamily="34" charset="-122"/>
                <a:cs typeface="Cambria" pitchFamily="34" charset="-120"/>
              </a:rPr>
              <a:t>Everything else — 26%</a:t>
            </a:r>
            <a:endParaRPr lang="en-US" sz="1500" dirty="0"/>
          </a:p>
        </p:txBody>
      </p:sp>
      <p:sp>
        <p:nvSpPr>
          <p:cNvPr id="16" name="Text 13"/>
          <p:cNvSpPr/>
          <p:nvPr/>
        </p:nvSpPr>
        <p:spPr>
          <a:xfrm>
            <a:off x="6355080" y="5623560"/>
            <a:ext cx="5276088" cy="777240"/>
          </a:xfrm>
          <a:prstGeom prst="rect">
            <a:avLst/>
          </a:prstGeom>
          <a:noFill/>
          <a:ln/>
        </p:spPr>
        <p:txBody>
          <a:bodyPr wrap="square" lIns="0" tIns="0" rIns="0" bIns="0" rtlCol="0" anchor="ctr"/>
          <a:lstStyle/>
          <a:p>
            <a:pPr indent="0" marL="0">
              <a:lnSpc>
                <a:spcPct val="115000"/>
              </a:lnSpc>
              <a:buNone/>
            </a:pPr>
            <a:r>
              <a:rPr lang="en-US" sz="1200" dirty="0">
                <a:solidFill>
                  <a:srgbClr val="5F7183"/>
                </a:solidFill>
                <a:latin typeface="Calibri" pitchFamily="34" charset="0"/>
                <a:ea typeface="Calibri" pitchFamily="34" charset="-122"/>
                <a:cs typeface="Calibri" pitchFamily="34" charset="-120"/>
              </a:rPr>
              <a:t>Tables open on the floor, the Mainland-China working calendar, and combinations of the above.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Chinese New Year — the hardest part</a:t>
            </a:r>
            <a:endParaRPr lang="en-US" sz="31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Real demand around CNY 2025. Trade does not dip; it collapses, then rebounds.</a:t>
            </a:r>
            <a:endParaRPr lang="en-US" sz="1500" dirty="0"/>
          </a:p>
        </p:txBody>
      </p:sp>
      <p:graphicFrame>
        <p:nvGraphicFramePr>
          <p:cNvPr id="4" name="Chart 0" descr=""/>
          <p:cNvGraphicFramePr/>
          <p:nvPr/>
        </p:nvGraphicFramePr>
        <p:xfrm>
          <a:off x="457200" y="1554480"/>
          <a:ext cx="7589520" cy="4572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691640"/>
            <a:ext cx="3355848" cy="1691640"/>
          </a:xfrm>
          <a:prstGeom prst="roundRect">
            <a:avLst>
              <a:gd name="adj" fmla="val 4324"/>
            </a:avLst>
          </a:prstGeom>
          <a:solidFill>
            <a:srgbClr val="F7E9E9"/>
          </a:solidFill>
          <a:ln w="12700">
            <a:solidFill>
              <a:srgbClr val="E2E8EE"/>
            </a:solidFill>
            <a:prstDash val="solid"/>
          </a:ln>
        </p:spPr>
      </p:sp>
      <p:sp>
        <p:nvSpPr>
          <p:cNvPr id="6" name="Text 3"/>
          <p:cNvSpPr/>
          <p:nvPr/>
        </p:nvSpPr>
        <p:spPr>
          <a:xfrm>
            <a:off x="8503920" y="1847088"/>
            <a:ext cx="2880360" cy="320040"/>
          </a:xfrm>
          <a:prstGeom prst="rect">
            <a:avLst/>
          </a:prstGeom>
          <a:noFill/>
          <a:ln/>
        </p:spPr>
        <p:txBody>
          <a:bodyPr wrap="square" lIns="0" tIns="0" rIns="0" bIns="0" rtlCol="0" anchor="ctr"/>
          <a:lstStyle/>
          <a:p>
            <a:pPr indent="0" marL="0">
              <a:buNone/>
            </a:pPr>
            <a:r>
              <a:rPr lang="en-US" sz="1600" b="1" dirty="0">
                <a:solidFill>
                  <a:srgbClr val="0F2942"/>
                </a:solidFill>
                <a:latin typeface="Cambria" pitchFamily="34" charset="0"/>
                <a:ea typeface="Cambria" pitchFamily="34" charset="-122"/>
                <a:cs typeface="Cambria" pitchFamily="34" charset="-120"/>
              </a:rPr>
              <a:t>The collapse</a:t>
            </a:r>
            <a:endParaRPr lang="en-US" sz="1600" dirty="0"/>
          </a:p>
        </p:txBody>
      </p:sp>
      <p:sp>
        <p:nvSpPr>
          <p:cNvPr id="7" name="Text 4"/>
          <p:cNvSpPr/>
          <p:nvPr/>
        </p:nvSpPr>
        <p:spPr>
          <a:xfrm>
            <a:off x="8503920" y="2194560"/>
            <a:ext cx="2898648" cy="1097280"/>
          </a:xfrm>
          <a:prstGeom prst="rect">
            <a:avLst/>
          </a:prstGeom>
          <a:noFill/>
          <a:ln/>
        </p:spPr>
        <p:txBody>
          <a:bodyPr wrap="square" lIns="0" tIns="0" rIns="0" bIns="0" rtlCol="0" anchor="ctr"/>
          <a:lstStyle/>
          <a:p>
            <a:pPr indent="0" marL="0">
              <a:lnSpc>
                <a:spcPct val="120000"/>
              </a:lnSpc>
              <a:buNone/>
            </a:pPr>
            <a:r>
              <a:rPr lang="en-US" sz="1250" dirty="0">
                <a:solidFill>
                  <a:srgbClr val="0F2942"/>
                </a:solidFill>
                <a:latin typeface="Calibri" pitchFamily="34" charset="0"/>
                <a:ea typeface="Calibri" pitchFamily="34" charset="-122"/>
                <a:cs typeface="Calibri" pitchFamily="34" charset="-120"/>
              </a:rPr>
              <a:t>On the eve of CNY demand falls to roughly HALF of normal — 3,331 against a typical 7,300.</a:t>
            </a:r>
            <a:endParaRPr lang="en-US" sz="1250" dirty="0"/>
          </a:p>
        </p:txBody>
      </p:sp>
      <p:sp>
        <p:nvSpPr>
          <p:cNvPr id="8" name="Shape 5"/>
          <p:cNvSpPr/>
          <p:nvPr/>
        </p:nvSpPr>
        <p:spPr>
          <a:xfrm>
            <a:off x="8275320" y="3657600"/>
            <a:ext cx="3355848" cy="2468880"/>
          </a:xfrm>
          <a:prstGeom prst="roundRect">
            <a:avLst>
              <a:gd name="adj" fmla="val 2963"/>
            </a:avLst>
          </a:prstGeom>
          <a:solidFill>
            <a:srgbClr val="FBF6E9"/>
          </a:solidFill>
          <a:ln w="12700">
            <a:solidFill>
              <a:srgbClr val="E2E8EE"/>
            </a:solidFill>
            <a:prstDash val="solid"/>
          </a:ln>
        </p:spPr>
      </p:sp>
      <p:sp>
        <p:nvSpPr>
          <p:cNvPr id="9" name="Text 6"/>
          <p:cNvSpPr/>
          <p:nvPr/>
        </p:nvSpPr>
        <p:spPr>
          <a:xfrm>
            <a:off x="8503920" y="3840480"/>
            <a:ext cx="2880360" cy="320040"/>
          </a:xfrm>
          <a:prstGeom prst="rect">
            <a:avLst/>
          </a:prstGeom>
          <a:noFill/>
          <a:ln/>
        </p:spPr>
        <p:txBody>
          <a:bodyPr wrap="square" lIns="0" tIns="0" rIns="0" bIns="0" rtlCol="0" anchor="ctr"/>
          <a:lstStyle/>
          <a:p>
            <a:pPr indent="0" marL="0">
              <a:buNone/>
            </a:pPr>
            <a:r>
              <a:rPr lang="en-US" sz="1600" b="1" dirty="0">
                <a:solidFill>
                  <a:srgbClr val="0F2942"/>
                </a:solidFill>
                <a:latin typeface="Cambria" pitchFamily="34" charset="0"/>
                <a:ea typeface="Cambria" pitchFamily="34" charset="-122"/>
                <a:cs typeface="Cambria" pitchFamily="34" charset="-120"/>
              </a:rPr>
              <a:t>The fix</a:t>
            </a:r>
            <a:endParaRPr lang="en-US" sz="1600" dirty="0"/>
          </a:p>
        </p:txBody>
      </p:sp>
      <p:sp>
        <p:nvSpPr>
          <p:cNvPr id="10" name="Text 7"/>
          <p:cNvSpPr/>
          <p:nvPr/>
        </p:nvSpPr>
        <p:spPr>
          <a:xfrm>
            <a:off x="8503920" y="4224528"/>
            <a:ext cx="2898648" cy="1828800"/>
          </a:xfrm>
          <a:prstGeom prst="rect">
            <a:avLst/>
          </a:prstGeom>
          <a:noFill/>
          <a:ln/>
        </p:spPr>
        <p:txBody>
          <a:bodyPr wrap="square" lIns="0" tIns="0" rIns="0" bIns="0" rtlCol="0" anchor="ctr"/>
          <a:lstStyle/>
          <a:p>
            <a:pPr indent="0" marL="0">
              <a:lnSpc>
                <a:spcPct val="115000"/>
              </a:lnSpc>
              <a:buNone/>
            </a:pPr>
            <a:r>
              <a:rPr lang="en-US" sz="1150" dirty="0">
                <a:solidFill>
                  <a:srgbClr val="5F7183"/>
                </a:solidFill>
                <a:latin typeface="Calibri" pitchFamily="34" charset="0"/>
                <a:ea typeface="Calibri" pitchFamily="34" charset="-122"/>
                <a:cs typeface="Calibri" pitchFamily="34" charset="-120"/>
              </a:rPr>
              <a:t>The collapse is dramatic but consistent year to year, so it is looked up rather than learned.</a:t>
            </a:r>
            <a:endParaRPr lang="en-US" sz="1150" dirty="0"/>
          </a:p>
          <a:p>
            <a:pPr indent="0" marL="0">
              <a:lnSpc>
                <a:spcPct val="115000"/>
              </a:lnSpc>
              <a:buNone/>
            </a:pPr>
            <a:endParaRPr lang="en-US" sz="1150" dirty="0"/>
          </a:p>
          <a:p>
            <a:pPr indent="0" marL="0">
              <a:lnSpc>
                <a:spcPct val="115000"/>
              </a:lnSpc>
              <a:buNone/>
            </a:pPr>
            <a:r>
              <a:rPr lang="en-US" sz="1150" dirty="0">
                <a:solidFill>
                  <a:srgbClr val="5F7183"/>
                </a:solidFill>
                <a:latin typeface="Calibri" pitchFamily="34" charset="0"/>
                <a:ea typeface="Calibri" pitchFamily="34" charset="-122"/>
                <a:cs typeface="Calibri" pitchFamily="34" charset="-120"/>
              </a:rPr>
              <a:t>Find the matching day last year by POSITION ("three days before CNY"), take the ratio it ran at, apply it to this year's normal level, and blend 80% of that into the answer.</a:t>
            </a:r>
            <a:endParaRPr lang="en-US" sz="1150" dirty="0"/>
          </a:p>
          <a:p>
            <a:pPr indent="0" marL="0">
              <a:lnSpc>
                <a:spcPct val="115000"/>
              </a:lnSpc>
              <a:buNone/>
            </a:pPr>
            <a:endParaRPr lang="en-US" sz="1150" dirty="0"/>
          </a:p>
          <a:p>
            <a:pPr indent="0" marL="0">
              <a:lnSpc>
                <a:spcPct val="115000"/>
              </a:lnSpc>
              <a:buNone/>
            </a:pPr>
            <a:r>
              <a:rPr lang="en-US" sz="1150" dirty="0">
                <a:solidFill>
                  <a:srgbClr val="5F7183"/>
                </a:solidFill>
                <a:latin typeface="Calibri" pitchFamily="34" charset="0"/>
                <a:ea typeface="Calibri" pitchFamily="34" charset="-122"/>
                <a:cs typeface="Calibri" pitchFamily="34" charset="-120"/>
              </a:rPr>
              <a:t>CNY error roughly halved.</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Two kinds of holiday — and a bug this version fixes</a:t>
            </a:r>
            <a:endParaRPr lang="en-US" sz="31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This distinction causes more subtle errors than anything else in the system.</a:t>
            </a:r>
            <a:endParaRPr lang="en-US" sz="1500" dirty="0"/>
          </a:p>
        </p:txBody>
      </p:sp>
      <p:sp>
        <p:nvSpPr>
          <p:cNvPr id="4" name="Shape 2"/>
          <p:cNvSpPr/>
          <p:nvPr/>
        </p:nvSpPr>
        <p:spPr>
          <a:xfrm>
            <a:off x="548640" y="1645920"/>
            <a:ext cx="5440680" cy="2103120"/>
          </a:xfrm>
          <a:prstGeom prst="roundRect">
            <a:avLst>
              <a:gd name="adj" fmla="val 3478"/>
            </a:avLst>
          </a:prstGeom>
          <a:solidFill>
            <a:srgbClr val="EAF2F5"/>
          </a:solidFill>
          <a:ln w="12700">
            <a:solidFill>
              <a:srgbClr val="E2E8EE"/>
            </a:solidFill>
            <a:prstDash val="solid"/>
          </a:ln>
        </p:spPr>
      </p:sp>
      <p:sp>
        <p:nvSpPr>
          <p:cNvPr id="5" name="Shape 3"/>
          <p:cNvSpPr/>
          <p:nvPr/>
        </p:nvSpPr>
        <p:spPr>
          <a:xfrm>
            <a:off x="822960" y="1874520"/>
            <a:ext cx="457200" cy="457200"/>
          </a:xfrm>
          <a:prstGeom prst="ellipse">
            <a:avLst/>
          </a:prstGeom>
          <a:solidFill>
            <a:srgbClr val="2E8BA8"/>
          </a:solidFill>
          <a:ln/>
        </p:spPr>
      </p:sp>
      <p:sp>
        <p:nvSpPr>
          <p:cNvPr id="6" name="Text 4"/>
          <p:cNvSpPr/>
          <p:nvPr/>
        </p:nvSpPr>
        <p:spPr>
          <a:xfrm>
            <a:off x="822960" y="18745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F</a:t>
            </a:r>
            <a:endParaRPr lang="en-US" sz="1800" dirty="0"/>
          </a:p>
        </p:txBody>
      </p:sp>
      <p:sp>
        <p:nvSpPr>
          <p:cNvPr id="7" name="Text 5"/>
          <p:cNvSpPr/>
          <p:nvPr/>
        </p:nvSpPr>
        <p:spPr>
          <a:xfrm>
            <a:off x="1417320" y="1901952"/>
            <a:ext cx="4206240" cy="365760"/>
          </a:xfrm>
          <a:prstGeom prst="rect">
            <a:avLst/>
          </a:prstGeom>
          <a:noFill/>
          <a:ln/>
        </p:spPr>
        <p:txBody>
          <a:bodyPr wrap="square" lIns="0" tIns="0" rIns="0" bIns="0" rtlCol="0" anchor="ctr"/>
          <a:lstStyle/>
          <a:p>
            <a:pPr indent="0" marL="0">
              <a:buNone/>
            </a:pPr>
            <a:r>
              <a:rPr lang="en-US" sz="1800" b="1" dirty="0">
                <a:solidFill>
                  <a:srgbClr val="0F2942"/>
                </a:solidFill>
                <a:latin typeface="Cambria" pitchFamily="34" charset="0"/>
                <a:ea typeface="Cambria" pitchFamily="34" charset="-122"/>
                <a:cs typeface="Cambria" pitchFamily="34" charset="-120"/>
              </a:rPr>
              <a:t>Fixed holidays</a:t>
            </a:r>
            <a:endParaRPr lang="en-US" sz="1800" dirty="0"/>
          </a:p>
        </p:txBody>
      </p:sp>
      <p:sp>
        <p:nvSpPr>
          <p:cNvPr id="8" name="Text 6"/>
          <p:cNvSpPr/>
          <p:nvPr/>
        </p:nvSpPr>
        <p:spPr>
          <a:xfrm>
            <a:off x="822960" y="2423160"/>
            <a:ext cx="4892040" cy="1188720"/>
          </a:xfrm>
          <a:prstGeom prst="rect">
            <a:avLst/>
          </a:prstGeom>
          <a:noFill/>
          <a:ln/>
        </p:spPr>
        <p:txBody>
          <a:bodyPr wrap="square" lIns="0" tIns="0" rIns="0" bIns="0" rtlCol="0" anchor="ctr"/>
          <a:lstStyle/>
          <a:p>
            <a:pPr indent="0" marL="0">
              <a:lnSpc>
                <a:spcPct val="120000"/>
              </a:lnSpc>
              <a:buNone/>
            </a:pPr>
            <a:r>
              <a:rPr lang="en-US" sz="1250" dirty="0">
                <a:solidFill>
                  <a:srgbClr val="5F7183"/>
                </a:solidFill>
                <a:latin typeface="Calibri" pitchFamily="34" charset="0"/>
                <a:ea typeface="Calibri" pitchFamily="34" charset="-122"/>
                <a:cs typeface="Calibri" pitchFamily="34" charset="-120"/>
              </a:rPr>
              <a:t>Christmas, New Year, Labour Day, Golden Week, Ching Ming.</a:t>
            </a:r>
            <a:endParaRPr lang="en-US" sz="1250" dirty="0"/>
          </a:p>
          <a:p>
            <a:pPr indent="0" marL="0">
              <a:lnSpc>
                <a:spcPct val="120000"/>
              </a:lnSpc>
              <a:buNone/>
            </a:pPr>
            <a:r>
              <a:rPr lang="en-US" sz="1250" dirty="0">
                <a:solidFill>
                  <a:srgbClr val="5F7183"/>
                </a:solidFill>
                <a:latin typeface="Calibri" pitchFamily="34" charset="0"/>
                <a:ea typeface="Calibri" pitchFamily="34" charset="-122"/>
                <a:cs typeface="Calibri" pitchFamily="34" charset="-120"/>
              </a:rPr>
              <a:t>Same date every year — count back 364 days and you land on the same day of the week.</a:t>
            </a:r>
            <a:endParaRPr lang="en-US" sz="1250" dirty="0"/>
          </a:p>
        </p:txBody>
      </p:sp>
      <p:sp>
        <p:nvSpPr>
          <p:cNvPr id="9" name="Shape 7"/>
          <p:cNvSpPr/>
          <p:nvPr/>
        </p:nvSpPr>
        <p:spPr>
          <a:xfrm>
            <a:off x="6172200" y="1645920"/>
            <a:ext cx="5458968" cy="2103120"/>
          </a:xfrm>
          <a:prstGeom prst="roundRect">
            <a:avLst>
              <a:gd name="adj" fmla="val 3478"/>
            </a:avLst>
          </a:prstGeom>
          <a:solidFill>
            <a:srgbClr val="FBF6E9"/>
          </a:solidFill>
          <a:ln w="12700">
            <a:solidFill>
              <a:srgbClr val="E2E8EE"/>
            </a:solidFill>
            <a:prstDash val="solid"/>
          </a:ln>
        </p:spPr>
      </p:sp>
      <p:sp>
        <p:nvSpPr>
          <p:cNvPr id="10" name="Shape 8"/>
          <p:cNvSpPr/>
          <p:nvPr/>
        </p:nvSpPr>
        <p:spPr>
          <a:xfrm>
            <a:off x="6446520" y="1874520"/>
            <a:ext cx="457200" cy="457200"/>
          </a:xfrm>
          <a:prstGeom prst="ellipse">
            <a:avLst/>
          </a:prstGeom>
          <a:solidFill>
            <a:srgbClr val="E8B547"/>
          </a:solidFill>
          <a:ln/>
        </p:spPr>
      </p:sp>
      <p:sp>
        <p:nvSpPr>
          <p:cNvPr id="11" name="Text 9"/>
          <p:cNvSpPr/>
          <p:nvPr/>
        </p:nvSpPr>
        <p:spPr>
          <a:xfrm>
            <a:off x="6446520" y="1874520"/>
            <a:ext cx="457200" cy="457200"/>
          </a:xfrm>
          <a:prstGeom prst="rect">
            <a:avLst/>
          </a:prstGeom>
          <a:noFill/>
          <a:ln/>
        </p:spPr>
        <p:txBody>
          <a:bodyPr wrap="square" lIns="0" tIns="0" rIns="0" bIns="0" rtlCol="0" anchor="ctr"/>
          <a:lstStyle/>
          <a:p>
            <a:pPr algn="ctr" indent="0" marL="0">
              <a:buNone/>
            </a:pPr>
            <a:r>
              <a:rPr lang="en-US" sz="1800" b="1" dirty="0">
                <a:solidFill>
                  <a:srgbClr val="0F2942"/>
                </a:solidFill>
                <a:latin typeface="Cambria" pitchFamily="34" charset="0"/>
                <a:ea typeface="Cambria" pitchFamily="34" charset="-122"/>
                <a:cs typeface="Cambria" pitchFamily="34" charset="-120"/>
              </a:rPr>
              <a:t>M</a:t>
            </a:r>
            <a:endParaRPr lang="en-US" sz="1800" dirty="0"/>
          </a:p>
        </p:txBody>
      </p:sp>
      <p:sp>
        <p:nvSpPr>
          <p:cNvPr id="12" name="Text 10"/>
          <p:cNvSpPr/>
          <p:nvPr/>
        </p:nvSpPr>
        <p:spPr>
          <a:xfrm>
            <a:off x="7040880" y="1901952"/>
            <a:ext cx="4206240" cy="365760"/>
          </a:xfrm>
          <a:prstGeom prst="rect">
            <a:avLst/>
          </a:prstGeom>
          <a:noFill/>
          <a:ln/>
        </p:spPr>
        <p:txBody>
          <a:bodyPr wrap="square" lIns="0" tIns="0" rIns="0" bIns="0" rtlCol="0" anchor="ctr"/>
          <a:lstStyle/>
          <a:p>
            <a:pPr indent="0" marL="0">
              <a:buNone/>
            </a:pPr>
            <a:r>
              <a:rPr lang="en-US" sz="1800" b="1" dirty="0">
                <a:solidFill>
                  <a:srgbClr val="0F2942"/>
                </a:solidFill>
                <a:latin typeface="Cambria" pitchFamily="34" charset="0"/>
                <a:ea typeface="Cambria" pitchFamily="34" charset="-122"/>
                <a:cs typeface="Cambria" pitchFamily="34" charset="-120"/>
              </a:rPr>
              <a:t>Moving holidays</a:t>
            </a:r>
            <a:endParaRPr lang="en-US" sz="1800" dirty="0"/>
          </a:p>
        </p:txBody>
      </p:sp>
      <p:sp>
        <p:nvSpPr>
          <p:cNvPr id="13" name="Text 11"/>
          <p:cNvSpPr/>
          <p:nvPr/>
        </p:nvSpPr>
        <p:spPr>
          <a:xfrm>
            <a:off x="6446520" y="2423160"/>
            <a:ext cx="4910328" cy="1188720"/>
          </a:xfrm>
          <a:prstGeom prst="rect">
            <a:avLst/>
          </a:prstGeom>
          <a:noFill/>
          <a:ln/>
        </p:spPr>
        <p:txBody>
          <a:bodyPr wrap="square" lIns="0" tIns="0" rIns="0" bIns="0" rtlCol="0" anchor="ctr"/>
          <a:lstStyle/>
          <a:p>
            <a:pPr indent="0" marL="0">
              <a:lnSpc>
                <a:spcPct val="120000"/>
              </a:lnSpc>
              <a:buNone/>
            </a:pPr>
            <a:r>
              <a:rPr lang="en-US" sz="1250" dirty="0">
                <a:solidFill>
                  <a:srgbClr val="5F7183"/>
                </a:solidFill>
                <a:latin typeface="Calibri" pitchFamily="34" charset="0"/>
                <a:ea typeface="Calibri" pitchFamily="34" charset="-122"/>
                <a:cs typeface="Calibri" pitchFamily="34" charset="-120"/>
              </a:rPr>
              <a:t>Chinese New Year, Mid-Autumn, Dragon Boat, Easter.</a:t>
            </a:r>
            <a:endParaRPr lang="en-US" sz="1250" dirty="0"/>
          </a:p>
          <a:p>
            <a:pPr indent="0" marL="0">
              <a:lnSpc>
                <a:spcPct val="120000"/>
              </a:lnSpc>
              <a:buNone/>
            </a:pPr>
            <a:r>
              <a:rPr lang="en-US" sz="1250" dirty="0">
                <a:solidFill>
                  <a:srgbClr val="5F7183"/>
                </a:solidFill>
                <a:latin typeface="Calibri" pitchFamily="34" charset="0"/>
                <a:ea typeface="Calibri" pitchFamily="34" charset="-122"/>
                <a:cs typeface="Calibri" pitchFamily="34" charset="-120"/>
              </a:rPr>
              <a:t>They follow the lunar calendar and shift by up to three weeks, so a 364-day lookback lands on the wrong part of the holiday.</a:t>
            </a:r>
            <a:endParaRPr lang="en-US" sz="1250" dirty="0"/>
          </a:p>
        </p:txBody>
      </p:sp>
      <p:sp>
        <p:nvSpPr>
          <p:cNvPr id="14" name="Shape 12"/>
          <p:cNvSpPr/>
          <p:nvPr/>
        </p:nvSpPr>
        <p:spPr>
          <a:xfrm>
            <a:off x="548640" y="3977640"/>
            <a:ext cx="11082528" cy="2194560"/>
          </a:xfrm>
          <a:prstGeom prst="roundRect">
            <a:avLst>
              <a:gd name="adj" fmla="val 3333"/>
            </a:avLst>
          </a:prstGeom>
          <a:solidFill>
            <a:srgbClr val="E9F4EF"/>
          </a:solidFill>
          <a:ln w="12700">
            <a:solidFill>
              <a:srgbClr val="E2E8EE"/>
            </a:solidFill>
            <a:prstDash val="solid"/>
          </a:ln>
        </p:spPr>
      </p:sp>
      <p:sp>
        <p:nvSpPr>
          <p:cNvPr id="15" name="Shape 13"/>
          <p:cNvSpPr/>
          <p:nvPr/>
        </p:nvSpPr>
        <p:spPr>
          <a:xfrm>
            <a:off x="868680" y="4224528"/>
            <a:ext cx="502920" cy="502920"/>
          </a:xfrm>
          <a:prstGeom prst="ellipse">
            <a:avLst/>
          </a:prstGeom>
          <a:solidFill>
            <a:srgbClr val="2FA87C"/>
          </a:solidFill>
          <a:ln/>
        </p:spPr>
      </p:sp>
      <p:sp>
        <p:nvSpPr>
          <p:cNvPr id="16" name="Text 14"/>
          <p:cNvSpPr/>
          <p:nvPr/>
        </p:nvSpPr>
        <p:spPr>
          <a:xfrm>
            <a:off x="868680" y="422452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7" name="Text 15"/>
          <p:cNvSpPr/>
          <p:nvPr/>
        </p:nvSpPr>
        <p:spPr>
          <a:xfrm>
            <a:off x="1600200" y="4206240"/>
            <a:ext cx="9692640" cy="365760"/>
          </a:xfrm>
          <a:prstGeom prst="rect">
            <a:avLst/>
          </a:prstGeom>
          <a:noFill/>
          <a:ln/>
        </p:spPr>
        <p:txBody>
          <a:bodyPr wrap="square" lIns="0" tIns="0" rIns="0" bIns="0" rtlCol="0" anchor="ctr"/>
          <a:lstStyle/>
          <a:p>
            <a:pPr indent="0" marL="0">
              <a:buNone/>
            </a:pPr>
            <a:r>
              <a:rPr lang="en-US" sz="1700" b="1" dirty="0">
                <a:solidFill>
                  <a:srgbClr val="0F2942"/>
                </a:solidFill>
                <a:latin typeface="Cambria" pitchFamily="34" charset="0"/>
                <a:ea typeface="Cambria" pitchFamily="34" charset="-122"/>
                <a:cs typeface="Cambria" pitchFamily="34" charset="-120"/>
              </a:rPr>
              <a:t>A real calendar bug, found and corrected here</a:t>
            </a:r>
            <a:endParaRPr lang="en-US" sz="1700" dirty="0"/>
          </a:p>
        </p:txBody>
      </p:sp>
      <p:sp>
        <p:nvSpPr>
          <p:cNvPr id="18" name="Text 16"/>
          <p:cNvSpPr/>
          <p:nvPr/>
        </p:nvSpPr>
        <p:spPr>
          <a:xfrm>
            <a:off x="1600200" y="4617720"/>
            <a:ext cx="9692640" cy="1417320"/>
          </a:xfrm>
          <a:prstGeom prst="rect">
            <a:avLst/>
          </a:prstGeom>
          <a:noFill/>
          <a:ln/>
        </p:spPr>
        <p:txBody>
          <a:bodyPr wrap="square" lIns="0" tIns="0" rIns="0" bIns="0" rtlCol="0" anchor="ctr"/>
          <a:lstStyle/>
          <a:p>
            <a:pPr indent="0" marL="0">
              <a:lnSpc>
                <a:spcPct val="125000"/>
              </a:lnSpc>
              <a:buNone/>
            </a:pPr>
            <a:r>
              <a:rPr lang="en-US" sz="1300" dirty="0">
                <a:solidFill>
                  <a:srgbClr val="0F2942"/>
                </a:solidFill>
                <a:latin typeface="Calibri" pitchFamily="34" charset="0"/>
                <a:ea typeface="Calibri" pitchFamily="34" charset="-122"/>
                <a:cs typeface="Calibri" pitchFamily="34" charset="-120"/>
              </a:rPr>
              <a:t>Ching Ming is treated as 4 April every year. It is not a fixed date — it is a solar term, and it actually falls on 5 April in 2018, 2019, 2022 and 2023.</a:t>
            </a:r>
            <a:endParaRPr lang="en-US" sz="1300" dirty="0"/>
          </a:p>
          <a:p>
            <a:pPr indent="0" marL="0">
              <a:lnSpc>
                <a:spcPct val="125000"/>
              </a:lnSpc>
              <a:buNone/>
            </a:pPr>
            <a:endParaRPr lang="en-US" sz="1300" dirty="0"/>
          </a:p>
          <a:p>
            <a:pPr indent="0" marL="0">
              <a:lnSpc>
                <a:spcPct val="125000"/>
              </a:lnSpc>
              <a:buNone/>
            </a:pPr>
            <a:r>
              <a:rPr lang="en-US" sz="1300" dirty="0">
                <a:solidFill>
                  <a:srgbClr val="0F2942"/>
                </a:solidFill>
                <a:latin typeface="Calibri" pitchFamily="34" charset="0"/>
                <a:ea typeface="Calibri" pitchFamily="34" charset="-122"/>
                <a:cs typeface="Calibri" pitchFamily="34" charset="-120"/>
              </a:rPr>
              <a:t>The long-history version corrects this, and extends every holiday date back to 2016, each one checked against an independent calendar library rather than typed in by hand.</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2942"/>
        </a:solidFill>
      </p:bgPr>
    </p:bg>
    <p:spTree>
      <p:nvGrpSpPr>
        <p:cNvPr id="1" name=""/>
        <p:cNvGrpSpPr/>
        <p:nvPr/>
      </p:nvGrpSpPr>
      <p:grpSpPr>
        <a:xfrm>
          <a:off x="0" y="0"/>
          <a:ext cx="0" cy="0"/>
          <a:chOff x="0" y="0"/>
          <a:chExt cx="0" cy="0"/>
        </a:xfrm>
      </p:grpSpPr>
      <p:sp>
        <p:nvSpPr>
          <p:cNvPr id="2" name="Shape 0"/>
          <p:cNvSpPr/>
          <p:nvPr/>
        </p:nvSpPr>
        <p:spPr>
          <a:xfrm>
            <a:off x="822960" y="2286000"/>
            <a:ext cx="1051560" cy="1051560"/>
          </a:xfrm>
          <a:prstGeom prst="ellipse">
            <a:avLst/>
          </a:prstGeom>
          <a:solidFill>
            <a:srgbClr val="E8B547"/>
          </a:solidFill>
          <a:ln/>
        </p:spPr>
      </p:sp>
      <p:sp>
        <p:nvSpPr>
          <p:cNvPr id="3" name="Text 1"/>
          <p:cNvSpPr/>
          <p:nvPr/>
        </p:nvSpPr>
        <p:spPr>
          <a:xfrm>
            <a:off x="822960" y="2286000"/>
            <a:ext cx="1051560" cy="1051560"/>
          </a:xfrm>
          <a:prstGeom prst="rect">
            <a:avLst/>
          </a:prstGeom>
          <a:noFill/>
          <a:ln/>
        </p:spPr>
        <p:txBody>
          <a:bodyPr wrap="square" lIns="0" tIns="0" rIns="0" bIns="0" rtlCol="0" anchor="ctr"/>
          <a:lstStyle/>
          <a:p>
            <a:pPr algn="ctr" indent="0" marL="0">
              <a:buNone/>
            </a:pPr>
            <a:r>
              <a:rPr lang="en-US" sz="4000" b="1" dirty="0">
                <a:solidFill>
                  <a:srgbClr val="0F2942"/>
                </a:solidFill>
                <a:latin typeface="Cambria" pitchFamily="34" charset="0"/>
                <a:ea typeface="Cambria" pitchFamily="34" charset="-122"/>
                <a:cs typeface="Cambria" pitchFamily="34" charset="-120"/>
              </a:rPr>
              <a:t>5</a:t>
            </a:r>
            <a:endParaRPr lang="en-US" sz="4000" dirty="0"/>
          </a:p>
        </p:txBody>
      </p:sp>
      <p:sp>
        <p:nvSpPr>
          <p:cNvPr id="4" name="Text 2"/>
          <p:cNvSpPr/>
          <p:nvPr/>
        </p:nvSpPr>
        <p:spPr>
          <a:xfrm>
            <a:off x="2240280" y="2194560"/>
            <a:ext cx="896112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How the model actually decides</a:t>
            </a:r>
            <a:endParaRPr lang="en-US" sz="3800" dirty="0"/>
          </a:p>
        </p:txBody>
      </p:sp>
      <p:sp>
        <p:nvSpPr>
          <p:cNvPr id="5" name="Text 3"/>
          <p:cNvSpPr/>
          <p:nvPr/>
        </p:nvSpPr>
        <p:spPr>
          <a:xfrm>
            <a:off x="2286000" y="3127248"/>
            <a:ext cx="8778240" cy="777240"/>
          </a:xfrm>
          <a:prstGeom prst="rect">
            <a:avLst/>
          </a:prstGeom>
          <a:noFill/>
          <a:ln/>
        </p:spPr>
        <p:txBody>
          <a:bodyPr wrap="square" lIns="0" tIns="0" rIns="0" bIns="0" rtlCol="0" anchor="t"/>
          <a:lstStyle/>
          <a:p>
            <a:pPr indent="0" marL="0">
              <a:buNone/>
            </a:pPr>
            <a:r>
              <a:rPr lang="en-US" sz="1650" dirty="0">
                <a:solidFill>
                  <a:srgbClr val="AEC3D6"/>
                </a:solidFill>
                <a:latin typeface="Calibri" pitchFamily="34" charset="0"/>
                <a:ea typeface="Calibri" pitchFamily="34" charset="-122"/>
                <a:cs typeface="Calibri" pitchFamily="34" charset="-120"/>
              </a:rPr>
              <a:t>No formulas. The whole thing is a very large pile of yes/no questions.</a:t>
            </a:r>
            <a:endParaRPr lang="en-US" sz="1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Step 1: a single yes/no question</a:t>
            </a:r>
            <a:endParaRPr lang="en-US" sz="31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The model's basic building block is called a decision tree. It is simpler than it sounds.</a:t>
            </a:r>
            <a:endParaRPr lang="en-US" sz="1500" dirty="0"/>
          </a:p>
        </p:txBody>
      </p:sp>
      <p:sp>
        <p:nvSpPr>
          <p:cNvPr id="4" name="Text 2"/>
          <p:cNvSpPr/>
          <p:nvPr/>
        </p:nvSpPr>
        <p:spPr>
          <a:xfrm>
            <a:off x="548640" y="1600200"/>
            <a:ext cx="11064240" cy="457200"/>
          </a:xfrm>
          <a:prstGeom prst="rect">
            <a:avLst/>
          </a:prstGeom>
          <a:noFill/>
          <a:ln/>
        </p:spPr>
        <p:txBody>
          <a:bodyPr wrap="square" lIns="0" tIns="0" rIns="0" bIns="0" rtlCol="0" anchor="ctr"/>
          <a:lstStyle/>
          <a:p>
            <a:pPr indent="0" marL="0">
              <a:buNone/>
            </a:pPr>
            <a:r>
              <a:rPr lang="en-US" sz="1450" dirty="0">
                <a:solidFill>
                  <a:srgbClr val="0F2942"/>
                </a:solidFill>
                <a:latin typeface="Calibri" pitchFamily="34" charset="0"/>
                <a:ea typeface="Calibri" pitchFamily="34" charset="-122"/>
                <a:cs typeface="Calibri" pitchFamily="34" charset="-120"/>
              </a:rPr>
              <a:t>A tree asks a question about the day it is trying to predict, follows the answer, and ends at a guess. Here is the FIRST question the real model asked — not an invented example:</a:t>
            </a:r>
            <a:endParaRPr lang="en-US" sz="1450" dirty="0"/>
          </a:p>
        </p:txBody>
      </p:sp>
      <p:sp>
        <p:nvSpPr>
          <p:cNvPr id="5" name="Shape 3"/>
          <p:cNvSpPr/>
          <p:nvPr/>
        </p:nvSpPr>
        <p:spPr>
          <a:xfrm>
            <a:off x="3246120" y="2194560"/>
            <a:ext cx="5669280" cy="868680"/>
          </a:xfrm>
          <a:prstGeom prst="roundRect">
            <a:avLst>
              <a:gd name="adj" fmla="val 8421"/>
            </a:avLst>
          </a:prstGeom>
          <a:solidFill>
            <a:srgbClr val="FBF6E9"/>
          </a:solidFill>
          <a:ln w="12700">
            <a:solidFill>
              <a:srgbClr val="E2E8EE"/>
            </a:solidFill>
            <a:prstDash val="solid"/>
          </a:ln>
        </p:spPr>
      </p:sp>
      <p:sp>
        <p:nvSpPr>
          <p:cNvPr id="6" name="Text 4"/>
          <p:cNvSpPr/>
          <p:nvPr/>
        </p:nvSpPr>
        <p:spPr>
          <a:xfrm>
            <a:off x="3429000" y="2194560"/>
            <a:ext cx="5303520" cy="868680"/>
          </a:xfrm>
          <a:prstGeom prst="rect">
            <a:avLst/>
          </a:prstGeom>
          <a:noFill/>
          <a:ln/>
        </p:spPr>
        <p:txBody>
          <a:bodyPr wrap="square" lIns="0" tIns="0" rIns="0" bIns="0" rtlCol="0" anchor="ctr"/>
          <a:lstStyle/>
          <a:p>
            <a:pPr algn="ctr" indent="0" marL="0">
              <a:buNone/>
            </a:pPr>
            <a:r>
              <a:rPr lang="en-US" sz="1400" b="1" dirty="0">
                <a:solidFill>
                  <a:srgbClr val="0F2942"/>
                </a:solidFill>
                <a:latin typeface="Calibri" pitchFamily="34" charset="0"/>
                <a:ea typeface="Calibri" pitchFamily="34" charset="-122"/>
                <a:cs typeface="Calibri" pitchFamily="34" charset="-120"/>
              </a:rPr>
              <a:t>Was the busiest day in the last two weeks below 6,708 patron hours?</a:t>
            </a:r>
            <a:endParaRPr lang="en-US" sz="1400" dirty="0"/>
          </a:p>
        </p:txBody>
      </p:sp>
      <p:sp>
        <p:nvSpPr>
          <p:cNvPr id="7" name="Text 5"/>
          <p:cNvSpPr/>
          <p:nvPr/>
        </p:nvSpPr>
        <p:spPr>
          <a:xfrm>
            <a:off x="2377440" y="3154680"/>
            <a:ext cx="1463040" cy="320040"/>
          </a:xfrm>
          <a:prstGeom prst="rect">
            <a:avLst/>
          </a:prstGeom>
          <a:noFill/>
          <a:ln/>
        </p:spPr>
        <p:txBody>
          <a:bodyPr wrap="square" lIns="0" tIns="0" rIns="0" bIns="0" rtlCol="0" anchor="ctr"/>
          <a:lstStyle/>
          <a:p>
            <a:pPr algn="ctr" indent="0" marL="0">
              <a:buNone/>
            </a:pPr>
            <a:r>
              <a:rPr lang="en-US" sz="1250" b="1" dirty="0">
                <a:solidFill>
                  <a:srgbClr val="2FA87C"/>
                </a:solidFill>
                <a:latin typeface="Calibri" pitchFamily="34" charset="0"/>
                <a:ea typeface="Calibri" pitchFamily="34" charset="-122"/>
                <a:cs typeface="Calibri" pitchFamily="34" charset="-120"/>
              </a:rPr>
              <a:t>YES</a:t>
            </a:r>
            <a:endParaRPr lang="en-US" sz="1250" dirty="0"/>
          </a:p>
        </p:txBody>
      </p:sp>
      <p:sp>
        <p:nvSpPr>
          <p:cNvPr id="8" name="Text 6"/>
          <p:cNvSpPr/>
          <p:nvPr/>
        </p:nvSpPr>
        <p:spPr>
          <a:xfrm>
            <a:off x="8321040" y="3154680"/>
            <a:ext cx="1463040" cy="320040"/>
          </a:xfrm>
          <a:prstGeom prst="rect">
            <a:avLst/>
          </a:prstGeom>
          <a:noFill/>
          <a:ln/>
        </p:spPr>
        <p:txBody>
          <a:bodyPr wrap="square" lIns="0" tIns="0" rIns="0" bIns="0" rtlCol="0" anchor="ctr"/>
          <a:lstStyle/>
          <a:p>
            <a:pPr algn="ctr" indent="0" marL="0">
              <a:buNone/>
            </a:pPr>
            <a:r>
              <a:rPr lang="en-US" sz="1250" b="1" dirty="0">
                <a:solidFill>
                  <a:srgbClr val="C74B4B"/>
                </a:solidFill>
                <a:latin typeface="Calibri" pitchFamily="34" charset="0"/>
                <a:ea typeface="Calibri" pitchFamily="34" charset="-122"/>
                <a:cs typeface="Calibri" pitchFamily="34" charset="-120"/>
              </a:rPr>
              <a:t>NO</a:t>
            </a:r>
            <a:endParaRPr lang="en-US" sz="1250" dirty="0"/>
          </a:p>
        </p:txBody>
      </p:sp>
      <p:sp>
        <p:nvSpPr>
          <p:cNvPr id="9" name="Shape 7"/>
          <p:cNvSpPr/>
          <p:nvPr/>
        </p:nvSpPr>
        <p:spPr>
          <a:xfrm>
            <a:off x="1051560" y="3566160"/>
            <a:ext cx="4206240" cy="914400"/>
          </a:xfrm>
          <a:prstGeom prst="roundRect">
            <a:avLst>
              <a:gd name="adj" fmla="val 8000"/>
            </a:avLst>
          </a:prstGeom>
          <a:solidFill>
            <a:srgbClr val="E9F4EF"/>
          </a:solidFill>
          <a:ln w="12700">
            <a:solidFill>
              <a:srgbClr val="E2E8EE"/>
            </a:solidFill>
            <a:prstDash val="solid"/>
          </a:ln>
        </p:spPr>
      </p:sp>
      <p:sp>
        <p:nvSpPr>
          <p:cNvPr id="10" name="Text 8"/>
          <p:cNvSpPr/>
          <p:nvPr/>
        </p:nvSpPr>
        <p:spPr>
          <a:xfrm>
            <a:off x="1234440" y="3566160"/>
            <a:ext cx="3840480" cy="914400"/>
          </a:xfrm>
          <a:prstGeom prst="rect">
            <a:avLst/>
          </a:prstGeom>
          <a:noFill/>
          <a:ln/>
        </p:spPr>
        <p:txBody>
          <a:bodyPr wrap="square" lIns="0" tIns="0" rIns="0" bIns="0" rtlCol="0" anchor="ctr"/>
          <a:lstStyle/>
          <a:p>
            <a:pPr algn="ctr" indent="0" marL="0">
              <a:lnSpc>
                <a:spcPct val="115000"/>
              </a:lnSpc>
              <a:buNone/>
            </a:pPr>
            <a:r>
              <a:rPr lang="en-US" sz="1300" dirty="0">
                <a:solidFill>
                  <a:srgbClr val="0F2942"/>
                </a:solidFill>
                <a:latin typeface="Calibri" pitchFamily="34" charset="0"/>
                <a:ea typeface="Calibri" pitchFamily="34" charset="-122"/>
                <a:cs typeface="Calibri" pitchFamily="34" charset="-120"/>
              </a:rPr>
              <a:t>It has been a quiet fortnight</a:t>
            </a:r>
            <a:endParaRPr lang="en-US" sz="1300" dirty="0"/>
          </a:p>
          <a:p>
            <a:pPr algn="ctr" indent="0" marL="0">
              <a:lnSpc>
                <a:spcPct val="115000"/>
              </a:lnSpc>
              <a:buNone/>
            </a:pPr>
            <a:r>
              <a:rPr lang="en-US" sz="1300" dirty="0">
                <a:solidFill>
                  <a:srgbClr val="0F2942"/>
                </a:solidFill>
                <a:latin typeface="Calibri" pitchFamily="34" charset="0"/>
                <a:ea typeface="Calibri" pitchFamily="34" charset="-122"/>
                <a:cs typeface="Calibri" pitchFamily="34" charset="-120"/>
              </a:rPr>
              <a:t>→ expect a quieter day</a:t>
            </a:r>
            <a:endParaRPr lang="en-US" sz="1300" dirty="0"/>
          </a:p>
        </p:txBody>
      </p:sp>
      <p:sp>
        <p:nvSpPr>
          <p:cNvPr id="11" name="Shape 9"/>
          <p:cNvSpPr/>
          <p:nvPr/>
        </p:nvSpPr>
        <p:spPr>
          <a:xfrm>
            <a:off x="6903720" y="3566160"/>
            <a:ext cx="4206240" cy="914400"/>
          </a:xfrm>
          <a:prstGeom prst="roundRect">
            <a:avLst>
              <a:gd name="adj" fmla="val 8000"/>
            </a:avLst>
          </a:prstGeom>
          <a:solidFill>
            <a:srgbClr val="F7E9E9"/>
          </a:solidFill>
          <a:ln w="12700">
            <a:solidFill>
              <a:srgbClr val="E2E8EE"/>
            </a:solidFill>
            <a:prstDash val="solid"/>
          </a:ln>
        </p:spPr>
      </p:sp>
      <p:sp>
        <p:nvSpPr>
          <p:cNvPr id="12" name="Text 10"/>
          <p:cNvSpPr/>
          <p:nvPr/>
        </p:nvSpPr>
        <p:spPr>
          <a:xfrm>
            <a:off x="7086600" y="3566160"/>
            <a:ext cx="3840480" cy="914400"/>
          </a:xfrm>
          <a:prstGeom prst="rect">
            <a:avLst/>
          </a:prstGeom>
          <a:noFill/>
          <a:ln/>
        </p:spPr>
        <p:txBody>
          <a:bodyPr wrap="square" lIns="0" tIns="0" rIns="0" bIns="0" rtlCol="0" anchor="ctr"/>
          <a:lstStyle/>
          <a:p>
            <a:pPr algn="ctr" indent="0" marL="0">
              <a:lnSpc>
                <a:spcPct val="115000"/>
              </a:lnSpc>
              <a:buNone/>
            </a:pPr>
            <a:r>
              <a:rPr lang="en-US" sz="1300" dirty="0">
                <a:solidFill>
                  <a:srgbClr val="0F2942"/>
                </a:solidFill>
                <a:latin typeface="Calibri" pitchFamily="34" charset="0"/>
                <a:ea typeface="Calibri" pitchFamily="34" charset="-122"/>
                <a:cs typeface="Calibri" pitchFamily="34" charset="-120"/>
              </a:rPr>
              <a:t>It has been a busy fortnight</a:t>
            </a:r>
            <a:endParaRPr lang="en-US" sz="1300" dirty="0"/>
          </a:p>
          <a:p>
            <a:pPr algn="ctr" indent="0" marL="0">
              <a:lnSpc>
                <a:spcPct val="115000"/>
              </a:lnSpc>
              <a:buNone/>
            </a:pPr>
            <a:r>
              <a:rPr lang="en-US" sz="1300" dirty="0">
                <a:solidFill>
                  <a:srgbClr val="0F2942"/>
                </a:solidFill>
                <a:latin typeface="Calibri" pitchFamily="34" charset="0"/>
                <a:ea typeface="Calibri" pitchFamily="34" charset="-122"/>
                <a:cs typeface="Calibri" pitchFamily="34" charset="-120"/>
              </a:rPr>
              <a:t>→ expect a busier day</a:t>
            </a:r>
            <a:endParaRPr lang="en-US" sz="1300" dirty="0"/>
          </a:p>
        </p:txBody>
      </p:sp>
      <p:sp>
        <p:nvSpPr>
          <p:cNvPr id="13" name="Text 11"/>
          <p:cNvSpPr/>
          <p:nvPr/>
        </p:nvSpPr>
        <p:spPr>
          <a:xfrm>
            <a:off x="548640" y="4617720"/>
            <a:ext cx="11064240" cy="411480"/>
          </a:xfrm>
          <a:prstGeom prst="rect">
            <a:avLst/>
          </a:prstGeom>
          <a:noFill/>
          <a:ln/>
        </p:spPr>
        <p:txBody>
          <a:bodyPr wrap="square" lIns="0" tIns="0" rIns="0" bIns="0" rtlCol="0" anchor="ctr"/>
          <a:lstStyle/>
          <a:p>
            <a:pPr algn="ctr" indent="0" marL="0">
              <a:buNone/>
            </a:pPr>
            <a:r>
              <a:rPr lang="en-US" sz="1300" i="1" dirty="0">
                <a:solidFill>
                  <a:srgbClr val="5F7183"/>
                </a:solidFill>
                <a:latin typeface="Calibri" pitchFamily="34" charset="0"/>
                <a:ea typeface="Calibri" pitchFamily="34" charset="-122"/>
                <a:cs typeface="Calibri" pitchFamily="34" charset="-120"/>
              </a:rPr>
              <a:t>…then another question, and another — day of week? holiday? how many tables are open? — up to five deep.</a:t>
            </a:r>
            <a:endParaRPr lang="en-US" sz="1300" dirty="0"/>
          </a:p>
        </p:txBody>
      </p:sp>
      <p:sp>
        <p:nvSpPr>
          <p:cNvPr id="14" name="Shape 12"/>
          <p:cNvSpPr/>
          <p:nvPr/>
        </p:nvSpPr>
        <p:spPr>
          <a:xfrm>
            <a:off x="548640" y="5120640"/>
            <a:ext cx="11082528" cy="1325880"/>
          </a:xfrm>
          <a:prstGeom prst="roundRect">
            <a:avLst>
              <a:gd name="adj" fmla="val 5517"/>
            </a:avLst>
          </a:prstGeom>
          <a:solidFill>
            <a:srgbClr val="F4F6F8"/>
          </a:solidFill>
          <a:ln w="12700">
            <a:solidFill>
              <a:srgbClr val="E2E8EE"/>
            </a:solidFill>
            <a:prstDash val="solid"/>
          </a:ln>
        </p:spPr>
      </p:sp>
      <p:sp>
        <p:nvSpPr>
          <p:cNvPr id="15" name="Text 13"/>
          <p:cNvSpPr/>
          <p:nvPr/>
        </p:nvSpPr>
        <p:spPr>
          <a:xfrm>
            <a:off x="868680" y="5257800"/>
            <a:ext cx="10424160" cy="320040"/>
          </a:xfrm>
          <a:prstGeom prst="rect">
            <a:avLst/>
          </a:prstGeom>
          <a:noFill/>
          <a:ln/>
        </p:spPr>
        <p:txBody>
          <a:bodyPr wrap="square" lIns="0" tIns="0" rIns="0" bIns="0" rtlCol="0" anchor="ctr"/>
          <a:lstStyle/>
          <a:p>
            <a:pPr indent="0" marL="0">
              <a:buNone/>
            </a:pPr>
            <a:r>
              <a:rPr lang="en-US" sz="1600" b="1" dirty="0">
                <a:solidFill>
                  <a:srgbClr val="0F2942"/>
                </a:solidFill>
                <a:latin typeface="Cambria" pitchFamily="34" charset="0"/>
                <a:ea typeface="Cambria" pitchFamily="34" charset="-122"/>
                <a:cs typeface="Cambria" pitchFamily="34" charset="-120"/>
              </a:rPr>
              <a:t>Why this is a good fit for the problem</a:t>
            </a:r>
            <a:endParaRPr lang="en-US" sz="1600" dirty="0"/>
          </a:p>
        </p:txBody>
      </p:sp>
      <p:sp>
        <p:nvSpPr>
          <p:cNvPr id="16" name="Text 14"/>
          <p:cNvSpPr/>
          <p:nvPr/>
        </p:nvSpPr>
        <p:spPr>
          <a:xfrm>
            <a:off x="868680" y="5596128"/>
            <a:ext cx="10424160" cy="731520"/>
          </a:xfrm>
          <a:prstGeom prst="rect">
            <a:avLst/>
          </a:prstGeom>
          <a:noFill/>
          <a:ln/>
        </p:spPr>
        <p:txBody>
          <a:bodyPr wrap="square" lIns="0" tIns="0" rIns="0" bIns="0" rtlCol="0" anchor="ctr"/>
          <a:lstStyle/>
          <a:p>
            <a:pPr indent="0" marL="0">
              <a:lnSpc>
                <a:spcPct val="120000"/>
              </a:lnSpc>
              <a:buNone/>
            </a:pPr>
            <a:r>
              <a:rPr lang="en-US" sz="1250" dirty="0">
                <a:solidFill>
                  <a:srgbClr val="5F7183"/>
                </a:solidFill>
                <a:latin typeface="Calibri" pitchFamily="34" charset="0"/>
                <a:ea typeface="Calibri" pitchFamily="34" charset="-122"/>
                <a:cs typeface="Calibri" pitchFamily="34" charset="-120"/>
              </a:rPr>
              <a:t>Nobody wrote that question. The model found it by trying every possible question on eleven years of days and keeping whichever one separated busy days from quiet days best. It works the same way a person would reason about the floor — just far more thoroughly, and without a hunch.</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Step 2: one tree is weak — 500 together are strong</a:t>
            </a:r>
            <a:endParaRPr lang="en-US" sz="31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This is called boosting. Each new tree studies what the previous ones got wrong, and nudges.</a:t>
            </a:r>
            <a:endParaRPr lang="en-US" sz="1500" dirty="0"/>
          </a:p>
        </p:txBody>
      </p:sp>
      <p:graphicFrame>
        <p:nvGraphicFramePr>
          <p:cNvPr id="4" name="Chart 0" descr=""/>
          <p:cNvGraphicFramePr/>
          <p:nvPr/>
        </p:nvGraphicFramePr>
        <p:xfrm>
          <a:off x="457200" y="160020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737360"/>
            <a:ext cx="4041648" cy="2331720"/>
          </a:xfrm>
          <a:prstGeom prst="roundRect">
            <a:avLst>
              <a:gd name="adj" fmla="val 3137"/>
            </a:avLst>
          </a:prstGeom>
          <a:solidFill>
            <a:srgbClr val="F4F6F8"/>
          </a:solidFill>
          <a:ln w="12700">
            <a:solidFill>
              <a:srgbClr val="E2E8EE"/>
            </a:solidFill>
            <a:prstDash val="solid"/>
          </a:ln>
        </p:spPr>
      </p:sp>
      <p:sp>
        <p:nvSpPr>
          <p:cNvPr id="6" name="Text 3"/>
          <p:cNvSpPr/>
          <p:nvPr/>
        </p:nvSpPr>
        <p:spPr>
          <a:xfrm>
            <a:off x="7863840" y="1883664"/>
            <a:ext cx="3520440" cy="320040"/>
          </a:xfrm>
          <a:prstGeom prst="rect">
            <a:avLst/>
          </a:prstGeom>
          <a:noFill/>
          <a:ln/>
        </p:spPr>
        <p:txBody>
          <a:bodyPr wrap="square" lIns="0" tIns="0" rIns="0" bIns="0" rtlCol="0" anchor="ctr"/>
          <a:lstStyle/>
          <a:p>
            <a:pPr indent="0" marL="0">
              <a:buNone/>
            </a:pPr>
            <a:r>
              <a:rPr lang="en-US" sz="1500" b="1" dirty="0">
                <a:solidFill>
                  <a:srgbClr val="0F2942"/>
                </a:solidFill>
                <a:latin typeface="Cambria" pitchFamily="34" charset="0"/>
                <a:ea typeface="Cambria" pitchFamily="34" charset="-122"/>
                <a:cs typeface="Cambria" pitchFamily="34" charset="-120"/>
              </a:rPr>
              <a:t>A real forecast, tree by tree</a:t>
            </a:r>
            <a:endParaRPr lang="en-US" sz="1500" dirty="0"/>
          </a:p>
        </p:txBody>
      </p:sp>
      <p:sp>
        <p:nvSpPr>
          <p:cNvPr id="7" name="Text 4"/>
          <p:cNvSpPr/>
          <p:nvPr/>
        </p:nvSpPr>
        <p:spPr>
          <a:xfrm>
            <a:off x="7863840" y="2240280"/>
            <a:ext cx="3520440" cy="1737360"/>
          </a:xfrm>
          <a:prstGeom prst="rect">
            <a:avLst/>
          </a:prstGeom>
          <a:noFill/>
          <a:ln/>
        </p:spPr>
        <p:txBody>
          <a:bodyPr wrap="square" lIns="0" tIns="0" rIns="0" bIns="0" rtlCol="0" anchor="ctr"/>
          <a:lstStyle/>
          <a:p>
            <a:pPr indent="0" marL="0">
              <a:lnSpc>
                <a:spcPct val="125000"/>
              </a:lnSpc>
              <a:buNone/>
            </a:pPr>
            <a:r>
              <a:rPr lang="en-US" sz="1150" dirty="0">
                <a:solidFill>
                  <a:srgbClr val="0F2942"/>
                </a:solidFill>
                <a:latin typeface="Calibri" pitchFamily="34" charset="0"/>
                <a:ea typeface="Calibri" pitchFamily="34" charset="-122"/>
                <a:cs typeface="Calibri" pitchFamily="34" charset="-120"/>
              </a:rPr>
              <a:t>Predicting 2026-05-28.  The true answer was 6,993.
</a:t>
            </a:r>
            <a:endParaRPr lang="en-US" sz="1150" dirty="0"/>
          </a:p>
          <a:p>
            <a:pPr indent="0" marL="0">
              <a:lnSpc>
                <a:spcPct val="125000"/>
              </a:lnSpc>
              <a:buNone/>
            </a:pPr>
            <a:r>
              <a:rPr lang="en-US" sz="1150" dirty="0">
                <a:solidFill>
                  <a:srgbClr val="5F7183"/>
                </a:solidFill>
                <a:latin typeface="Calibri" pitchFamily="34" charset="0"/>
                <a:ea typeface="Calibri" pitchFamily="34" charset="-122"/>
                <a:cs typeface="Calibri" pitchFamily="34" charset="-120"/>
              </a:rPr>
              <a:t>After 1 tree:      6,025   (13.85% off)
</a:t>
            </a:r>
            <a:endParaRPr lang="en-US" sz="1150" dirty="0"/>
          </a:p>
          <a:p>
            <a:pPr indent="0" marL="0">
              <a:lnSpc>
                <a:spcPct val="125000"/>
              </a:lnSpc>
              <a:buNone/>
            </a:pPr>
            <a:r>
              <a:rPr lang="en-US" sz="1150" dirty="0">
                <a:solidFill>
                  <a:srgbClr val="5F7183"/>
                </a:solidFill>
                <a:latin typeface="Calibri" pitchFamily="34" charset="0"/>
                <a:ea typeface="Calibri" pitchFamily="34" charset="-122"/>
                <a:cs typeface="Calibri" pitchFamily="34" charset="-120"/>
              </a:rPr>
              <a:t>After 20 trees:  6,257   (10.52% off)
</a:t>
            </a:r>
            <a:endParaRPr lang="en-US" sz="1150" dirty="0"/>
          </a:p>
          <a:p>
            <a:pPr indent="0" marL="0">
              <a:lnSpc>
                <a:spcPct val="125000"/>
              </a:lnSpc>
              <a:buNone/>
            </a:pPr>
            <a:r>
              <a:rPr lang="en-US" sz="1150" dirty="0">
                <a:solidFill>
                  <a:srgbClr val="5F7183"/>
                </a:solidFill>
                <a:latin typeface="Calibri" pitchFamily="34" charset="0"/>
                <a:ea typeface="Calibri" pitchFamily="34" charset="-122"/>
                <a:cs typeface="Calibri" pitchFamily="34" charset="-120"/>
              </a:rPr>
              <a:t>After 100 trees: 6,704   (4.14% off)
</a:t>
            </a:r>
            <a:endParaRPr lang="en-US" sz="1150" dirty="0"/>
          </a:p>
          <a:p>
            <a:pPr indent="0" marL="0">
              <a:lnSpc>
                <a:spcPct val="125000"/>
              </a:lnSpc>
              <a:buNone/>
            </a:pPr>
            <a:r>
              <a:rPr lang="en-US" sz="1150" b="1" dirty="0">
                <a:solidFill>
                  <a:srgbClr val="0F2942"/>
                </a:solidFill>
                <a:latin typeface="Calibri" pitchFamily="34" charset="0"/>
                <a:ea typeface="Calibri" pitchFamily="34" charset="-122"/>
                <a:cs typeface="Calibri" pitchFamily="34" charset="-120"/>
              </a:rPr>
              <a:t>All 500 trees:   6,791   (2.9% off)</a:t>
            </a:r>
            <a:endParaRPr lang="en-US" sz="1150" dirty="0"/>
          </a:p>
        </p:txBody>
      </p:sp>
      <p:sp>
        <p:nvSpPr>
          <p:cNvPr id="8" name="Shape 5"/>
          <p:cNvSpPr/>
          <p:nvPr/>
        </p:nvSpPr>
        <p:spPr>
          <a:xfrm>
            <a:off x="7589520" y="4206240"/>
            <a:ext cx="4041648" cy="1965960"/>
          </a:xfrm>
          <a:prstGeom prst="roundRect">
            <a:avLst>
              <a:gd name="adj" fmla="val 3721"/>
            </a:avLst>
          </a:prstGeom>
          <a:solidFill>
            <a:srgbClr val="FBF6E9"/>
          </a:solidFill>
          <a:ln w="12700">
            <a:solidFill>
              <a:srgbClr val="E2E8EE"/>
            </a:solidFill>
            <a:prstDash val="solid"/>
          </a:ln>
        </p:spPr>
      </p:sp>
      <p:sp>
        <p:nvSpPr>
          <p:cNvPr id="9" name="Text 6"/>
          <p:cNvSpPr/>
          <p:nvPr/>
        </p:nvSpPr>
        <p:spPr>
          <a:xfrm>
            <a:off x="7863840" y="4370832"/>
            <a:ext cx="3520440" cy="320040"/>
          </a:xfrm>
          <a:prstGeom prst="rect">
            <a:avLst/>
          </a:prstGeom>
          <a:noFill/>
          <a:ln/>
        </p:spPr>
        <p:txBody>
          <a:bodyPr wrap="square" lIns="0" tIns="0" rIns="0" bIns="0" rtlCol="0" anchor="ctr"/>
          <a:lstStyle/>
          <a:p>
            <a:pPr indent="0" marL="0">
              <a:buNone/>
            </a:pPr>
            <a:r>
              <a:rPr lang="en-US" sz="1500" b="1" dirty="0">
                <a:solidFill>
                  <a:srgbClr val="0F2942"/>
                </a:solidFill>
                <a:latin typeface="Cambria" pitchFamily="34" charset="0"/>
                <a:ea typeface="Cambria" pitchFamily="34" charset="-122"/>
                <a:cs typeface="Cambria" pitchFamily="34" charset="-120"/>
              </a:rPr>
              <a:t>The honest version</a:t>
            </a:r>
            <a:endParaRPr lang="en-US" sz="1500" dirty="0"/>
          </a:p>
        </p:txBody>
      </p:sp>
      <p:sp>
        <p:nvSpPr>
          <p:cNvPr id="10" name="Text 7"/>
          <p:cNvSpPr/>
          <p:nvPr/>
        </p:nvSpPr>
        <p:spPr>
          <a:xfrm>
            <a:off x="7863840" y="4718304"/>
            <a:ext cx="3520440" cy="1371600"/>
          </a:xfrm>
          <a:prstGeom prst="rect">
            <a:avLst/>
          </a:prstGeom>
          <a:noFill/>
          <a:ln/>
        </p:spPr>
        <p:txBody>
          <a:bodyPr wrap="square" lIns="0" tIns="0" rIns="0" bIns="0" rtlCol="0" anchor="ctr"/>
          <a:lstStyle/>
          <a:p>
            <a:pPr indent="0" marL="0">
              <a:lnSpc>
                <a:spcPct val="120000"/>
              </a:lnSpc>
              <a:buNone/>
            </a:pPr>
            <a:r>
              <a:rPr lang="en-US" sz="1200" dirty="0">
                <a:solidFill>
                  <a:srgbClr val="0F2942"/>
                </a:solidFill>
                <a:latin typeface="Calibri" pitchFamily="34" charset="0"/>
                <a:ea typeface="Calibri" pitchFamily="34" charset="-122"/>
                <a:cs typeface="Calibri" pitchFamily="34" charset="-120"/>
              </a:rPr>
              <a:t>Most of the gain arrives early — by 100 trees it is nearly there. The rest make small adjustments, and on this particular day the very last ones drift back a little.</a:t>
            </a:r>
            <a:endParaRPr lang="en-US" sz="1200" dirty="0"/>
          </a:p>
          <a:p>
            <a:pPr indent="0" marL="0">
              <a:lnSpc>
                <a:spcPct val="120000"/>
              </a:lnSpc>
              <a:buNone/>
            </a:pPr>
            <a:endParaRPr lang="en-US" sz="1200" dirty="0"/>
          </a:p>
          <a:p>
            <a:pPr indent="0" marL="0">
              <a:lnSpc>
                <a:spcPct val="120000"/>
              </a:lnSpc>
              <a:buNone/>
            </a:pPr>
            <a:r>
              <a:rPr lang="en-US" sz="1200" dirty="0">
                <a:solidFill>
                  <a:srgbClr val="0F2942"/>
                </a:solidFill>
                <a:latin typeface="Calibri" pitchFamily="34" charset="0"/>
                <a:ea typeface="Calibri" pitchFamily="34" charset="-122"/>
                <a:cs typeface="Calibri" pitchFamily="34" charset="-120"/>
              </a:rPr>
              <a:t>No single tree is clever. Added together, they are.</a:t>
            </a:r>
            <a:endParaRPr lang="en-US" sz="1200" dirty="0"/>
          </a:p>
        </p:txBody>
      </p:sp>
      <p:sp>
        <p:nvSpPr>
          <p:cNvPr id="11" name="Text 8"/>
          <p:cNvSpPr/>
          <p:nvPr/>
        </p:nvSpPr>
        <p:spPr>
          <a:xfrm>
            <a:off x="548640" y="5943600"/>
            <a:ext cx="6949440" cy="411480"/>
          </a:xfrm>
          <a:prstGeom prst="rect">
            <a:avLst/>
          </a:prstGeom>
          <a:noFill/>
          <a:ln/>
        </p:spPr>
        <p:txBody>
          <a:bodyPr wrap="square" lIns="0" tIns="0" rIns="0" bIns="0" rtlCol="0" anchor="ctr"/>
          <a:lstStyle/>
          <a:p>
            <a:pPr indent="0" marL="0">
              <a:buNone/>
            </a:pPr>
            <a:r>
              <a:rPr lang="en-US" sz="1250" i="1" dirty="0">
                <a:solidFill>
                  <a:srgbClr val="5F7183"/>
                </a:solidFill>
                <a:latin typeface="Calibri" pitchFamily="34" charset="0"/>
                <a:ea typeface="Calibri" pitchFamily="34" charset="-122"/>
                <a:cs typeface="Calibri" pitchFamily="34" charset="-120"/>
              </a:rPr>
              <a:t>Think of it as a first rough guess, then 499 small corrections — each one aimed at the mistakes still left over.</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Step 3: why this kind of model, and not another</a:t>
            </a:r>
            <a:endParaRPr lang="en-US" sz="31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The technique is called LightGBM. The name is scarier than the idea.</a:t>
            </a:r>
            <a:endParaRPr lang="en-US" sz="1500" dirty="0"/>
          </a:p>
        </p:txBody>
      </p:sp>
      <p:sp>
        <p:nvSpPr>
          <p:cNvPr id="4" name="Shape 2"/>
          <p:cNvSpPr/>
          <p:nvPr/>
        </p:nvSpPr>
        <p:spPr>
          <a:xfrm>
            <a:off x="548640" y="1645920"/>
            <a:ext cx="5440680" cy="2286000"/>
          </a:xfrm>
          <a:prstGeom prst="roundRect">
            <a:avLst>
              <a:gd name="adj" fmla="val 3200"/>
            </a:avLst>
          </a:prstGeom>
          <a:solidFill>
            <a:srgbClr val="E9F4EF"/>
          </a:solidFill>
          <a:ln w="12700">
            <a:solidFill>
              <a:srgbClr val="E2E8EE"/>
            </a:solidFill>
            <a:prstDash val="solid"/>
          </a:ln>
        </p:spPr>
      </p:sp>
      <p:sp>
        <p:nvSpPr>
          <p:cNvPr id="5" name="Shape 3"/>
          <p:cNvSpPr/>
          <p:nvPr/>
        </p:nvSpPr>
        <p:spPr>
          <a:xfrm>
            <a:off x="822960" y="1874520"/>
            <a:ext cx="475488" cy="475488"/>
          </a:xfrm>
          <a:prstGeom prst="ellipse">
            <a:avLst/>
          </a:prstGeom>
          <a:solidFill>
            <a:srgbClr val="2FA87C"/>
          </a:solidFill>
          <a:ln/>
        </p:spPr>
      </p:sp>
      <p:sp>
        <p:nvSpPr>
          <p:cNvPr id="6" name="Text 4"/>
          <p:cNvSpPr/>
          <p:nvPr/>
        </p:nvSpPr>
        <p:spPr>
          <a:xfrm>
            <a:off x="822960" y="187452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7" name="Text 5"/>
          <p:cNvSpPr/>
          <p:nvPr/>
        </p:nvSpPr>
        <p:spPr>
          <a:xfrm>
            <a:off x="1481328" y="1901952"/>
            <a:ext cx="4206240" cy="365760"/>
          </a:xfrm>
          <a:prstGeom prst="rect">
            <a:avLst/>
          </a:prstGeom>
          <a:noFill/>
          <a:ln/>
        </p:spPr>
        <p:txBody>
          <a:bodyPr wrap="square" lIns="0" tIns="0" rIns="0" bIns="0" rtlCol="0" anchor="ctr"/>
          <a:lstStyle/>
          <a:p>
            <a:pPr indent="0" marL="0">
              <a:buNone/>
            </a:pPr>
            <a:r>
              <a:rPr lang="en-US" sz="1700" b="1" dirty="0">
                <a:solidFill>
                  <a:srgbClr val="0F2942"/>
                </a:solidFill>
                <a:latin typeface="Cambria" pitchFamily="34" charset="0"/>
                <a:ea typeface="Cambria" pitchFamily="34" charset="-122"/>
                <a:cs typeface="Cambria" pitchFamily="34" charset="-120"/>
              </a:rPr>
              <a:t>What it is good at here</a:t>
            </a:r>
            <a:endParaRPr lang="en-US" sz="1700" dirty="0"/>
          </a:p>
        </p:txBody>
      </p:sp>
      <p:sp>
        <p:nvSpPr>
          <p:cNvPr id="8" name="Text 6"/>
          <p:cNvSpPr/>
          <p:nvPr/>
        </p:nvSpPr>
        <p:spPr>
          <a:xfrm>
            <a:off x="868680" y="2395728"/>
            <a:ext cx="4846320" cy="146304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5F7183"/>
                </a:solidFill>
                <a:latin typeface="Calibri" pitchFamily="34" charset="0"/>
                <a:ea typeface="Calibri" pitchFamily="34" charset="-122"/>
                <a:cs typeface="Calibri" pitchFamily="34" charset="-120"/>
              </a:rPr>
              <a:t>Finds combinations by itself — nobody has to say "Saturdays before a holiday are different"</a:t>
            </a:r>
            <a:endParaRPr lang="en-US" sz="1200" dirty="0"/>
          </a:p>
          <a:p>
            <a:pPr marL="342900" indent="-342900">
              <a:spcAft>
                <a:spcPts val="500"/>
              </a:spcAft>
              <a:buSzPct val="100000"/>
              <a:buChar char="•"/>
            </a:pPr>
            <a:r>
              <a:rPr lang="en-US" sz="1200" dirty="0">
                <a:solidFill>
                  <a:srgbClr val="5F7183"/>
                </a:solidFill>
                <a:latin typeface="Calibri" pitchFamily="34" charset="0"/>
                <a:ea typeface="Calibri" pitchFamily="34" charset="-122"/>
                <a:cs typeface="Calibri" pitchFamily="34" charset="-120"/>
              </a:rPr>
              <a:t>Copes with gaps, which matters here because long-range models have data deliberately withheld</a:t>
            </a:r>
            <a:endParaRPr lang="en-US" sz="1200" dirty="0"/>
          </a:p>
          <a:p>
            <a:pPr marL="342900" indent="-342900">
              <a:spcAft>
                <a:spcPts val="500"/>
              </a:spcAft>
              <a:buSzPct val="100000"/>
              <a:buChar char="•"/>
            </a:pPr>
            <a:r>
              <a:rPr lang="en-US" sz="1200" dirty="0">
                <a:solidFill>
                  <a:srgbClr val="5F7183"/>
                </a:solidFill>
                <a:latin typeface="Calibri" pitchFamily="34" charset="0"/>
                <a:ea typeface="Calibri" pitchFamily="34" charset="-122"/>
                <a:cs typeface="Calibri" pitchFamily="34" charset="-120"/>
              </a:rPr>
              <a:t>Trains in minutes on an ordinary laptop</a:t>
            </a:r>
            <a:endParaRPr lang="en-US" sz="1200" dirty="0"/>
          </a:p>
        </p:txBody>
      </p:sp>
      <p:sp>
        <p:nvSpPr>
          <p:cNvPr id="9" name="Shape 7"/>
          <p:cNvSpPr/>
          <p:nvPr/>
        </p:nvSpPr>
        <p:spPr>
          <a:xfrm>
            <a:off x="6172200" y="1645920"/>
            <a:ext cx="5458968" cy="2286000"/>
          </a:xfrm>
          <a:prstGeom prst="roundRect">
            <a:avLst>
              <a:gd name="adj" fmla="val 3200"/>
            </a:avLst>
          </a:prstGeom>
          <a:solidFill>
            <a:srgbClr val="F7E9E9"/>
          </a:solidFill>
          <a:ln w="12700">
            <a:solidFill>
              <a:srgbClr val="E2E8EE"/>
            </a:solidFill>
            <a:prstDash val="solid"/>
          </a:ln>
        </p:spPr>
      </p:sp>
      <p:sp>
        <p:nvSpPr>
          <p:cNvPr id="10" name="Shape 8"/>
          <p:cNvSpPr/>
          <p:nvPr/>
        </p:nvSpPr>
        <p:spPr>
          <a:xfrm>
            <a:off x="6446520" y="1874520"/>
            <a:ext cx="475488" cy="475488"/>
          </a:xfrm>
          <a:prstGeom prst="ellipse">
            <a:avLst/>
          </a:prstGeom>
          <a:solidFill>
            <a:srgbClr val="C74B4B"/>
          </a:solidFill>
          <a:ln/>
        </p:spPr>
      </p:sp>
      <p:sp>
        <p:nvSpPr>
          <p:cNvPr id="11" name="Text 9"/>
          <p:cNvSpPr/>
          <p:nvPr/>
        </p:nvSpPr>
        <p:spPr>
          <a:xfrm>
            <a:off x="6446520" y="187452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2" name="Text 10"/>
          <p:cNvSpPr/>
          <p:nvPr/>
        </p:nvSpPr>
        <p:spPr>
          <a:xfrm>
            <a:off x="7104888" y="1901952"/>
            <a:ext cx="4206240" cy="365760"/>
          </a:xfrm>
          <a:prstGeom prst="rect">
            <a:avLst/>
          </a:prstGeom>
          <a:noFill/>
          <a:ln/>
        </p:spPr>
        <p:txBody>
          <a:bodyPr wrap="square" lIns="0" tIns="0" rIns="0" bIns="0" rtlCol="0" anchor="ctr"/>
          <a:lstStyle/>
          <a:p>
            <a:pPr indent="0" marL="0">
              <a:buNone/>
            </a:pPr>
            <a:r>
              <a:rPr lang="en-US" sz="1700" b="1" dirty="0">
                <a:solidFill>
                  <a:srgbClr val="0F2942"/>
                </a:solidFill>
                <a:latin typeface="Cambria" pitchFamily="34" charset="0"/>
                <a:ea typeface="Cambria" pitchFamily="34" charset="-122"/>
                <a:cs typeface="Cambria" pitchFamily="34" charset="-120"/>
              </a:rPr>
              <a:t>What was tried instead</a:t>
            </a:r>
            <a:endParaRPr lang="en-US" sz="1700" dirty="0"/>
          </a:p>
        </p:txBody>
      </p:sp>
      <p:sp>
        <p:nvSpPr>
          <p:cNvPr id="13" name="Text 11"/>
          <p:cNvSpPr/>
          <p:nvPr/>
        </p:nvSpPr>
        <p:spPr>
          <a:xfrm>
            <a:off x="6492240" y="2395728"/>
            <a:ext cx="4846320" cy="146304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5F7183"/>
                </a:solidFill>
                <a:latin typeface="Calibri" pitchFamily="34" charset="0"/>
                <a:ea typeface="Calibri" pitchFamily="34" charset="-122"/>
                <a:cs typeface="Calibri" pitchFamily="34" charset="-120"/>
              </a:rPr>
              <a:t>Classic time-series (ARIMA) — cannot take 170 different inputs at once</a:t>
            </a:r>
            <a:endParaRPr lang="en-US" sz="1200" dirty="0"/>
          </a:p>
          <a:p>
            <a:pPr marL="342900" indent="-342900">
              <a:spcAft>
                <a:spcPts val="500"/>
              </a:spcAft>
              <a:buSzPct val="100000"/>
              <a:buChar char="•"/>
            </a:pPr>
            <a:r>
              <a:rPr lang="en-US" sz="1200" dirty="0">
                <a:solidFill>
                  <a:srgbClr val="5F7183"/>
                </a:solidFill>
                <a:latin typeface="Calibri" pitchFamily="34" charset="0"/>
                <a:ea typeface="Calibri" pitchFamily="34" charset="-122"/>
                <a:cs typeface="Calibri" pitchFamily="34" charset="-120"/>
              </a:rPr>
              <a:t>Neural networks — need far more than a decade of daily data to be worth it</a:t>
            </a:r>
            <a:endParaRPr lang="en-US" sz="1200" dirty="0"/>
          </a:p>
          <a:p>
            <a:pPr marL="342900" indent="-342900">
              <a:spcAft>
                <a:spcPts val="500"/>
              </a:spcAft>
              <a:buSzPct val="100000"/>
              <a:buChar char="•"/>
            </a:pPr>
            <a:r>
              <a:rPr lang="en-US" sz="1200" dirty="0">
                <a:solidFill>
                  <a:srgbClr val="5F7183"/>
                </a:solidFill>
                <a:latin typeface="Calibri" pitchFamily="34" charset="0"/>
                <a:ea typeface="Calibri" pitchFamily="34" charset="-122"/>
                <a:cs typeface="Calibri" pitchFamily="34" charset="-120"/>
              </a:rPr>
              <a:t>GAM, a smoother statistical model — tested here, worse at all nine forecast distances</a:t>
            </a:r>
            <a:endParaRPr lang="en-US" sz="1200" dirty="0"/>
          </a:p>
        </p:txBody>
      </p:sp>
      <p:sp>
        <p:nvSpPr>
          <p:cNvPr id="14" name="Text 12"/>
          <p:cNvSpPr/>
          <p:nvPr/>
        </p:nvSpPr>
        <p:spPr>
          <a:xfrm>
            <a:off x="548640" y="4160520"/>
            <a:ext cx="11064240" cy="365760"/>
          </a:xfrm>
          <a:prstGeom prst="rect">
            <a:avLst/>
          </a:prstGeom>
          <a:noFill/>
          <a:ln/>
        </p:spPr>
        <p:txBody>
          <a:bodyPr wrap="square" lIns="0" tIns="0" rIns="0" bIns="0" rtlCol="0" anchor="ctr"/>
          <a:lstStyle/>
          <a:p>
            <a:pPr indent="0" marL="0">
              <a:buNone/>
            </a:pPr>
            <a:r>
              <a:rPr lang="en-US" sz="1700" b="1" dirty="0">
                <a:solidFill>
                  <a:srgbClr val="0F2942"/>
                </a:solidFill>
                <a:latin typeface="Cambria" pitchFamily="34" charset="0"/>
                <a:ea typeface="Cambria" pitchFamily="34" charset="-122"/>
                <a:cs typeface="Cambria" pitchFamily="34" charset="-120"/>
              </a:rPr>
              <a:t>Putting the whole thing together</a:t>
            </a:r>
            <a:endParaRPr lang="en-US" sz="1700" dirty="0"/>
          </a:p>
        </p:txBody>
      </p:sp>
      <p:sp>
        <p:nvSpPr>
          <p:cNvPr id="15" name="Shape 13"/>
          <p:cNvSpPr/>
          <p:nvPr/>
        </p:nvSpPr>
        <p:spPr>
          <a:xfrm>
            <a:off x="548640" y="4617720"/>
            <a:ext cx="2606040" cy="1234440"/>
          </a:xfrm>
          <a:prstGeom prst="roundRect">
            <a:avLst>
              <a:gd name="adj" fmla="val 5926"/>
            </a:avLst>
          </a:prstGeom>
          <a:solidFill>
            <a:srgbClr val="F4F6F8"/>
          </a:solidFill>
          <a:ln w="12700">
            <a:solidFill>
              <a:srgbClr val="E2E8EE"/>
            </a:solidFill>
            <a:prstDash val="solid"/>
          </a:ln>
        </p:spPr>
      </p:sp>
      <p:sp>
        <p:nvSpPr>
          <p:cNvPr id="16" name="Text 14"/>
          <p:cNvSpPr/>
          <p:nvPr/>
        </p:nvSpPr>
        <p:spPr>
          <a:xfrm>
            <a:off x="685800" y="4773168"/>
            <a:ext cx="2331720" cy="411480"/>
          </a:xfrm>
          <a:prstGeom prst="rect">
            <a:avLst/>
          </a:prstGeom>
          <a:noFill/>
          <a:ln/>
        </p:spPr>
        <p:txBody>
          <a:bodyPr wrap="square" lIns="0" tIns="0" rIns="0" bIns="0" rtlCol="0" anchor="ctr"/>
          <a:lstStyle/>
          <a:p>
            <a:pPr algn="ctr" indent="0" marL="0">
              <a:buNone/>
            </a:pPr>
            <a:r>
              <a:rPr lang="en-US" sz="1600" b="1" dirty="0">
                <a:solidFill>
                  <a:srgbClr val="0F2942"/>
                </a:solidFill>
                <a:latin typeface="Cambria" pitchFamily="34" charset="0"/>
                <a:ea typeface="Cambria" pitchFamily="34" charset="-122"/>
                <a:cs typeface="Cambria" pitchFamily="34" charset="-120"/>
              </a:rPr>
              <a:t>170 facts</a:t>
            </a:r>
            <a:endParaRPr lang="en-US" sz="1600" dirty="0"/>
          </a:p>
        </p:txBody>
      </p:sp>
      <p:sp>
        <p:nvSpPr>
          <p:cNvPr id="17" name="Text 15"/>
          <p:cNvSpPr/>
          <p:nvPr/>
        </p:nvSpPr>
        <p:spPr>
          <a:xfrm>
            <a:off x="685800" y="5193792"/>
            <a:ext cx="2331720" cy="548640"/>
          </a:xfrm>
          <a:prstGeom prst="rect">
            <a:avLst/>
          </a:prstGeom>
          <a:noFill/>
          <a:ln/>
        </p:spPr>
        <p:txBody>
          <a:bodyPr wrap="square" lIns="0" tIns="0" rIns="0" bIns="0" rtlCol="0" anchor="ctr"/>
          <a:lstStyle/>
          <a:p>
            <a:pPr algn="ctr" indent="0" marL="0">
              <a:lnSpc>
                <a:spcPct val="115000"/>
              </a:lnSpc>
              <a:buNone/>
            </a:pPr>
            <a:r>
              <a:rPr lang="en-US" sz="1150" dirty="0">
                <a:solidFill>
                  <a:srgbClr val="5F7183"/>
                </a:solidFill>
                <a:latin typeface="Calibri" pitchFamily="34" charset="0"/>
                <a:ea typeface="Calibri" pitchFamily="34" charset="-122"/>
                <a:cs typeface="Calibri" pitchFamily="34" charset="-120"/>
              </a:rPr>
              <a:t>about the day being predicted</a:t>
            </a:r>
            <a:endParaRPr lang="en-US" sz="1150" dirty="0"/>
          </a:p>
        </p:txBody>
      </p:sp>
      <p:sp>
        <p:nvSpPr>
          <p:cNvPr id="18" name="Text 16"/>
          <p:cNvSpPr/>
          <p:nvPr/>
        </p:nvSpPr>
        <p:spPr>
          <a:xfrm>
            <a:off x="3182112" y="4937760"/>
            <a:ext cx="384048" cy="548640"/>
          </a:xfrm>
          <a:prstGeom prst="rect">
            <a:avLst/>
          </a:prstGeom>
          <a:noFill/>
          <a:ln/>
        </p:spPr>
        <p:txBody>
          <a:bodyPr wrap="square" lIns="0" tIns="0" rIns="0" bIns="0" rtlCol="0" anchor="ctr"/>
          <a:lstStyle/>
          <a:p>
            <a:pPr algn="ctr" indent="0" marL="0">
              <a:buNone/>
            </a:pPr>
            <a:r>
              <a:rPr lang="en-US" sz="2000" dirty="0">
                <a:solidFill>
                  <a:srgbClr val="E8B547"/>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3438144" y="4617720"/>
            <a:ext cx="2606040" cy="1234440"/>
          </a:xfrm>
          <a:prstGeom prst="roundRect">
            <a:avLst>
              <a:gd name="adj" fmla="val 5926"/>
            </a:avLst>
          </a:prstGeom>
          <a:solidFill>
            <a:srgbClr val="F4F6F8"/>
          </a:solidFill>
          <a:ln w="12700">
            <a:solidFill>
              <a:srgbClr val="E2E8EE"/>
            </a:solidFill>
            <a:prstDash val="solid"/>
          </a:ln>
        </p:spPr>
      </p:sp>
      <p:sp>
        <p:nvSpPr>
          <p:cNvPr id="20" name="Text 18"/>
          <p:cNvSpPr/>
          <p:nvPr/>
        </p:nvSpPr>
        <p:spPr>
          <a:xfrm>
            <a:off x="3575304" y="4773168"/>
            <a:ext cx="2331720" cy="411480"/>
          </a:xfrm>
          <a:prstGeom prst="rect">
            <a:avLst/>
          </a:prstGeom>
          <a:noFill/>
          <a:ln/>
        </p:spPr>
        <p:txBody>
          <a:bodyPr wrap="square" lIns="0" tIns="0" rIns="0" bIns="0" rtlCol="0" anchor="ctr"/>
          <a:lstStyle/>
          <a:p>
            <a:pPr algn="ctr" indent="0" marL="0">
              <a:buNone/>
            </a:pPr>
            <a:r>
              <a:rPr lang="en-US" sz="1600" b="1" dirty="0">
                <a:solidFill>
                  <a:srgbClr val="2E8BA8"/>
                </a:solidFill>
                <a:latin typeface="Cambria" pitchFamily="34" charset="0"/>
                <a:ea typeface="Cambria" pitchFamily="34" charset="-122"/>
                <a:cs typeface="Cambria" pitchFamily="34" charset="-120"/>
              </a:rPr>
              <a:t>500 trees</a:t>
            </a:r>
            <a:endParaRPr lang="en-US" sz="1600" dirty="0"/>
          </a:p>
        </p:txBody>
      </p:sp>
      <p:sp>
        <p:nvSpPr>
          <p:cNvPr id="21" name="Text 19"/>
          <p:cNvSpPr/>
          <p:nvPr/>
        </p:nvSpPr>
        <p:spPr>
          <a:xfrm>
            <a:off x="3575304" y="5193792"/>
            <a:ext cx="2331720" cy="548640"/>
          </a:xfrm>
          <a:prstGeom prst="rect">
            <a:avLst/>
          </a:prstGeom>
          <a:noFill/>
          <a:ln/>
        </p:spPr>
        <p:txBody>
          <a:bodyPr wrap="square" lIns="0" tIns="0" rIns="0" bIns="0" rtlCol="0" anchor="ctr"/>
          <a:lstStyle/>
          <a:p>
            <a:pPr algn="ctr" indent="0" marL="0">
              <a:lnSpc>
                <a:spcPct val="115000"/>
              </a:lnSpc>
              <a:buNone/>
            </a:pPr>
            <a:r>
              <a:rPr lang="en-US" sz="1150" dirty="0">
                <a:solidFill>
                  <a:srgbClr val="5F7183"/>
                </a:solidFill>
                <a:latin typeface="Calibri" pitchFamily="34" charset="0"/>
                <a:ea typeface="Calibri" pitchFamily="34" charset="-122"/>
                <a:cs typeface="Calibri" pitchFamily="34" charset="-120"/>
              </a:rPr>
              <a:t>each correcting the last</a:t>
            </a:r>
            <a:endParaRPr lang="en-US" sz="1150" dirty="0"/>
          </a:p>
        </p:txBody>
      </p:sp>
      <p:sp>
        <p:nvSpPr>
          <p:cNvPr id="22" name="Text 20"/>
          <p:cNvSpPr/>
          <p:nvPr/>
        </p:nvSpPr>
        <p:spPr>
          <a:xfrm>
            <a:off x="6071616" y="4937760"/>
            <a:ext cx="384048" cy="548640"/>
          </a:xfrm>
          <a:prstGeom prst="rect">
            <a:avLst/>
          </a:prstGeom>
          <a:noFill/>
          <a:ln/>
        </p:spPr>
        <p:txBody>
          <a:bodyPr wrap="square" lIns="0" tIns="0" rIns="0" bIns="0" rtlCol="0" anchor="ctr"/>
          <a:lstStyle/>
          <a:p>
            <a:pPr algn="ctr" indent="0" marL="0">
              <a:buNone/>
            </a:pPr>
            <a:r>
              <a:rPr lang="en-US" sz="2000" dirty="0">
                <a:solidFill>
                  <a:srgbClr val="E8B547"/>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6327648" y="4617720"/>
            <a:ext cx="2606040" cy="1234440"/>
          </a:xfrm>
          <a:prstGeom prst="roundRect">
            <a:avLst>
              <a:gd name="adj" fmla="val 5926"/>
            </a:avLst>
          </a:prstGeom>
          <a:solidFill>
            <a:srgbClr val="F4F6F8"/>
          </a:solidFill>
          <a:ln w="12700">
            <a:solidFill>
              <a:srgbClr val="E2E8EE"/>
            </a:solidFill>
            <a:prstDash val="solid"/>
          </a:ln>
        </p:spPr>
      </p:sp>
      <p:sp>
        <p:nvSpPr>
          <p:cNvPr id="24" name="Text 22"/>
          <p:cNvSpPr/>
          <p:nvPr/>
        </p:nvSpPr>
        <p:spPr>
          <a:xfrm>
            <a:off x="6464808" y="4773168"/>
            <a:ext cx="2331720" cy="411480"/>
          </a:xfrm>
          <a:prstGeom prst="rect">
            <a:avLst/>
          </a:prstGeom>
          <a:noFill/>
          <a:ln/>
        </p:spPr>
        <p:txBody>
          <a:bodyPr wrap="square" lIns="0" tIns="0" rIns="0" bIns="0" rtlCol="0" anchor="ctr"/>
          <a:lstStyle/>
          <a:p>
            <a:pPr algn="ctr" indent="0" marL="0">
              <a:buNone/>
            </a:pPr>
            <a:r>
              <a:rPr lang="en-US" sz="1600" b="1" dirty="0">
                <a:solidFill>
                  <a:srgbClr val="E8B547"/>
                </a:solidFill>
                <a:latin typeface="Cambria" pitchFamily="34" charset="0"/>
                <a:ea typeface="Cambria" pitchFamily="34" charset="-122"/>
                <a:cs typeface="Cambria" pitchFamily="34" charset="-120"/>
              </a:rPr>
              <a:t>× 28 models</a:t>
            </a:r>
            <a:endParaRPr lang="en-US" sz="1600" dirty="0"/>
          </a:p>
        </p:txBody>
      </p:sp>
      <p:sp>
        <p:nvSpPr>
          <p:cNvPr id="25" name="Text 23"/>
          <p:cNvSpPr/>
          <p:nvPr/>
        </p:nvSpPr>
        <p:spPr>
          <a:xfrm>
            <a:off x="6464808" y="5193792"/>
            <a:ext cx="2331720" cy="548640"/>
          </a:xfrm>
          <a:prstGeom prst="rect">
            <a:avLst/>
          </a:prstGeom>
          <a:noFill/>
          <a:ln/>
        </p:spPr>
        <p:txBody>
          <a:bodyPr wrap="square" lIns="0" tIns="0" rIns="0" bIns="0" rtlCol="0" anchor="ctr"/>
          <a:lstStyle/>
          <a:p>
            <a:pPr algn="ctr" indent="0" marL="0">
              <a:lnSpc>
                <a:spcPct val="115000"/>
              </a:lnSpc>
              <a:buNone/>
            </a:pPr>
            <a:r>
              <a:rPr lang="en-US" sz="1150" dirty="0">
                <a:solidFill>
                  <a:srgbClr val="5F7183"/>
                </a:solidFill>
                <a:latin typeface="Calibri" pitchFamily="34" charset="0"/>
                <a:ea typeface="Calibri" pitchFamily="34" charset="-122"/>
                <a:cs typeface="Calibri" pitchFamily="34" charset="-120"/>
              </a:rPr>
              <a:t>one per forecast distance</a:t>
            </a:r>
            <a:endParaRPr lang="en-US" sz="1150" dirty="0"/>
          </a:p>
        </p:txBody>
      </p:sp>
      <p:sp>
        <p:nvSpPr>
          <p:cNvPr id="26" name="Text 24"/>
          <p:cNvSpPr/>
          <p:nvPr/>
        </p:nvSpPr>
        <p:spPr>
          <a:xfrm>
            <a:off x="8961120" y="4937760"/>
            <a:ext cx="384048" cy="548640"/>
          </a:xfrm>
          <a:prstGeom prst="rect">
            <a:avLst/>
          </a:prstGeom>
          <a:noFill/>
          <a:ln/>
        </p:spPr>
        <p:txBody>
          <a:bodyPr wrap="square" lIns="0" tIns="0" rIns="0" bIns="0" rtlCol="0" anchor="ctr"/>
          <a:lstStyle/>
          <a:p>
            <a:pPr algn="ctr" indent="0" marL="0">
              <a:buNone/>
            </a:pPr>
            <a:r>
              <a:rPr lang="en-US" sz="2000" dirty="0">
                <a:solidFill>
                  <a:srgbClr val="E8B547"/>
                </a:solidFill>
                <a:latin typeface="Calibri" pitchFamily="34" charset="0"/>
                <a:ea typeface="Calibri" pitchFamily="34" charset="-122"/>
                <a:cs typeface="Calibri" pitchFamily="34" charset="-120"/>
              </a:rPr>
              <a:t>→</a:t>
            </a:r>
            <a:endParaRPr lang="en-US" sz="2000" dirty="0"/>
          </a:p>
        </p:txBody>
      </p:sp>
      <p:sp>
        <p:nvSpPr>
          <p:cNvPr id="27" name="Shape 25"/>
          <p:cNvSpPr/>
          <p:nvPr/>
        </p:nvSpPr>
        <p:spPr>
          <a:xfrm>
            <a:off x="9217152" y="4617720"/>
            <a:ext cx="2606040" cy="1234440"/>
          </a:xfrm>
          <a:prstGeom prst="roundRect">
            <a:avLst>
              <a:gd name="adj" fmla="val 5926"/>
            </a:avLst>
          </a:prstGeom>
          <a:solidFill>
            <a:srgbClr val="F4F6F8"/>
          </a:solidFill>
          <a:ln w="12700">
            <a:solidFill>
              <a:srgbClr val="E2E8EE"/>
            </a:solidFill>
            <a:prstDash val="solid"/>
          </a:ln>
        </p:spPr>
      </p:sp>
      <p:sp>
        <p:nvSpPr>
          <p:cNvPr id="28" name="Text 26"/>
          <p:cNvSpPr/>
          <p:nvPr/>
        </p:nvSpPr>
        <p:spPr>
          <a:xfrm>
            <a:off x="9354312" y="4773168"/>
            <a:ext cx="2331720" cy="411480"/>
          </a:xfrm>
          <a:prstGeom prst="rect">
            <a:avLst/>
          </a:prstGeom>
          <a:noFill/>
          <a:ln/>
        </p:spPr>
        <p:txBody>
          <a:bodyPr wrap="square" lIns="0" tIns="0" rIns="0" bIns="0" rtlCol="0" anchor="ctr"/>
          <a:lstStyle/>
          <a:p>
            <a:pPr algn="ctr" indent="0" marL="0">
              <a:buNone/>
            </a:pPr>
            <a:r>
              <a:rPr lang="en-US" sz="1600" b="1" dirty="0">
                <a:solidFill>
                  <a:srgbClr val="2FA87C"/>
                </a:solidFill>
                <a:latin typeface="Cambria" pitchFamily="34" charset="0"/>
                <a:ea typeface="Cambria" pitchFamily="34" charset="-122"/>
                <a:cs typeface="Cambria" pitchFamily="34" charset="-120"/>
              </a:rPr>
              <a:t>+ CNY fix</a:t>
            </a:r>
            <a:endParaRPr lang="en-US" sz="1600" dirty="0"/>
          </a:p>
        </p:txBody>
      </p:sp>
      <p:sp>
        <p:nvSpPr>
          <p:cNvPr id="29" name="Text 27"/>
          <p:cNvSpPr/>
          <p:nvPr/>
        </p:nvSpPr>
        <p:spPr>
          <a:xfrm>
            <a:off x="9354312" y="5193792"/>
            <a:ext cx="2331720" cy="548640"/>
          </a:xfrm>
          <a:prstGeom prst="rect">
            <a:avLst/>
          </a:prstGeom>
          <a:noFill/>
          <a:ln/>
        </p:spPr>
        <p:txBody>
          <a:bodyPr wrap="square" lIns="0" tIns="0" rIns="0" bIns="0" rtlCol="0" anchor="ctr"/>
          <a:lstStyle/>
          <a:p>
            <a:pPr algn="ctr" indent="0" marL="0">
              <a:lnSpc>
                <a:spcPct val="115000"/>
              </a:lnSpc>
              <a:buNone/>
            </a:pPr>
            <a:r>
              <a:rPr lang="en-US" sz="1150" dirty="0">
                <a:solidFill>
                  <a:srgbClr val="5F7183"/>
                </a:solidFill>
                <a:latin typeface="Calibri" pitchFamily="34" charset="0"/>
                <a:ea typeface="Calibri" pitchFamily="34" charset="-122"/>
                <a:cs typeface="Calibri" pitchFamily="34" charset="-120"/>
              </a:rPr>
              <a:t>applied afterwards</a:t>
            </a:r>
            <a:endParaRPr lang="en-US" sz="1150" dirty="0"/>
          </a:p>
        </p:txBody>
      </p:sp>
      <p:sp>
        <p:nvSpPr>
          <p:cNvPr id="30" name="Text 28"/>
          <p:cNvSpPr/>
          <p:nvPr/>
        </p:nvSpPr>
        <p:spPr>
          <a:xfrm>
            <a:off x="548640" y="5989320"/>
            <a:ext cx="11064240" cy="411480"/>
          </a:xfrm>
          <a:prstGeom prst="rect">
            <a:avLst/>
          </a:prstGeom>
          <a:noFill/>
          <a:ln/>
        </p:spPr>
        <p:txBody>
          <a:bodyPr wrap="square" lIns="0" tIns="0" rIns="0" bIns="0" rtlCol="0" anchor="ctr"/>
          <a:lstStyle/>
          <a:p>
            <a:pPr indent="0" marL="0">
              <a:buNone/>
            </a:pPr>
            <a:r>
              <a:rPr lang="en-US" sz="1300" i="1" dirty="0">
                <a:solidFill>
                  <a:srgbClr val="0F2942"/>
                </a:solidFill>
                <a:latin typeface="Calibri" pitchFamily="34" charset="0"/>
                <a:ea typeface="Calibri" pitchFamily="34" charset="-122"/>
                <a:cs typeface="Calibri" pitchFamily="34" charset="-120"/>
              </a:rPr>
              <a:t>That is the entire system. Everything else in this deck is about feeding it honestly and checking it fairly.</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2942"/>
        </a:solidFill>
      </p:bgPr>
    </p:bg>
    <p:spTree>
      <p:nvGrpSpPr>
        <p:cNvPr id="1" name=""/>
        <p:cNvGrpSpPr/>
        <p:nvPr/>
      </p:nvGrpSpPr>
      <p:grpSpPr>
        <a:xfrm>
          <a:off x="0" y="0"/>
          <a:ext cx="0" cy="0"/>
          <a:chOff x="0" y="0"/>
          <a:chExt cx="0" cy="0"/>
        </a:xfrm>
      </p:grpSpPr>
      <p:sp>
        <p:nvSpPr>
          <p:cNvPr id="2" name="Shape 0"/>
          <p:cNvSpPr/>
          <p:nvPr/>
        </p:nvSpPr>
        <p:spPr>
          <a:xfrm>
            <a:off x="822960" y="2286000"/>
            <a:ext cx="1051560" cy="1051560"/>
          </a:xfrm>
          <a:prstGeom prst="ellipse">
            <a:avLst/>
          </a:prstGeom>
          <a:solidFill>
            <a:srgbClr val="E8B547"/>
          </a:solidFill>
          <a:ln/>
        </p:spPr>
      </p:sp>
      <p:sp>
        <p:nvSpPr>
          <p:cNvPr id="3" name="Text 1"/>
          <p:cNvSpPr/>
          <p:nvPr/>
        </p:nvSpPr>
        <p:spPr>
          <a:xfrm>
            <a:off x="822960" y="2286000"/>
            <a:ext cx="1051560" cy="1051560"/>
          </a:xfrm>
          <a:prstGeom prst="rect">
            <a:avLst/>
          </a:prstGeom>
          <a:noFill/>
          <a:ln/>
        </p:spPr>
        <p:txBody>
          <a:bodyPr wrap="square" lIns="0" tIns="0" rIns="0" bIns="0" rtlCol="0" anchor="ctr"/>
          <a:lstStyle/>
          <a:p>
            <a:pPr algn="ctr" indent="0" marL="0">
              <a:buNone/>
            </a:pPr>
            <a:r>
              <a:rPr lang="en-US" sz="4000" b="1" dirty="0">
                <a:solidFill>
                  <a:srgbClr val="0F2942"/>
                </a:solidFill>
                <a:latin typeface="Cambria" pitchFamily="34" charset="0"/>
                <a:ea typeface="Cambria" pitchFamily="34" charset="-122"/>
                <a:cs typeface="Cambria" pitchFamily="34" charset="-120"/>
              </a:rPr>
              <a:t>6</a:t>
            </a:r>
            <a:endParaRPr lang="en-US" sz="4000" dirty="0"/>
          </a:p>
        </p:txBody>
      </p:sp>
      <p:sp>
        <p:nvSpPr>
          <p:cNvPr id="4" name="Text 2"/>
          <p:cNvSpPr/>
          <p:nvPr/>
        </p:nvSpPr>
        <p:spPr>
          <a:xfrm>
            <a:off x="2240280" y="2194560"/>
            <a:ext cx="896112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Splitting the day into hours</a:t>
            </a:r>
            <a:endParaRPr lang="en-US" sz="3800" dirty="0"/>
          </a:p>
        </p:txBody>
      </p:sp>
      <p:sp>
        <p:nvSpPr>
          <p:cNvPr id="5" name="Text 3"/>
          <p:cNvSpPr/>
          <p:nvPr/>
        </p:nvSpPr>
        <p:spPr>
          <a:xfrm>
            <a:off x="2286000" y="3127248"/>
            <a:ext cx="8778240" cy="777240"/>
          </a:xfrm>
          <a:prstGeom prst="rect">
            <a:avLst/>
          </a:prstGeom>
          <a:noFill/>
          <a:ln/>
        </p:spPr>
        <p:txBody>
          <a:bodyPr wrap="square" lIns="0" tIns="0" rIns="0" bIns="0" rtlCol="0" anchor="t"/>
          <a:lstStyle/>
          <a:p>
            <a:pPr indent="0" marL="0">
              <a:buNone/>
            </a:pPr>
            <a:r>
              <a:rPr lang="en-US" sz="1650" dirty="0">
                <a:solidFill>
                  <a:srgbClr val="AEC3D6"/>
                </a:solidFill>
                <a:latin typeface="Calibri" pitchFamily="34" charset="0"/>
                <a:ea typeface="Calibri" pitchFamily="34" charset="-122"/>
                <a:cs typeface="Calibri" pitchFamily="34" charset="-120"/>
              </a:rPr>
              <a:t>The daily forecast, broken into 24 numbers for staffing — using the actual historical shape, not another trained model.</a:t>
            </a:r>
            <a:endParaRPr lang="en-US" sz="16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From one number a day to twenty-four</a:t>
            </a:r>
            <a:endParaRPr lang="en-US" sz="31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Staffing doesn't run on a daily total — it runs on "how many people at 3pm versus 9pm."</a:t>
            </a:r>
            <a:endParaRPr lang="en-US" sz="1500" dirty="0"/>
          </a:p>
        </p:txBody>
      </p:sp>
      <p:sp>
        <p:nvSpPr>
          <p:cNvPr id="4" name="Text 2"/>
          <p:cNvSpPr/>
          <p:nvPr/>
        </p:nvSpPr>
        <p:spPr>
          <a:xfrm>
            <a:off x="548640" y="1645920"/>
            <a:ext cx="11064240" cy="685800"/>
          </a:xfrm>
          <a:prstGeom prst="rect">
            <a:avLst/>
          </a:prstGeom>
          <a:noFill/>
          <a:ln/>
        </p:spPr>
        <p:txBody>
          <a:bodyPr wrap="square" lIns="0" tIns="0" rIns="0" bIns="0" rtlCol="0" anchor="ctr"/>
          <a:lstStyle/>
          <a:p>
            <a:pPr indent="0" marL="0">
              <a:buNone/>
            </a:pPr>
            <a:r>
              <a:rPr lang="en-US" sz="1500" dirty="0">
                <a:solidFill>
                  <a:srgbClr val="0F2942"/>
                </a:solidFill>
                <a:latin typeface="Calibri" pitchFamily="34" charset="0"/>
                <a:ea typeface="Calibri" pitchFamily="34" charset="-122"/>
                <a:cs typeface="Calibri" pitchFamily="34" charset="-120"/>
              </a:rPr>
              <a:t>The daily forecast (everything so far in this deck) gives one P50 per day. This step takes that single number and spreads it across the 24 hours of the day, using the SHAPE of a normal — or holiday — day, measured directly from history.</a:t>
            </a:r>
            <a:endParaRPr lang="en-US" sz="1500" dirty="0"/>
          </a:p>
        </p:txBody>
      </p:sp>
      <p:graphicFrame>
        <p:nvGraphicFramePr>
          <p:cNvPr id="5" name="Chart 0" descr=""/>
          <p:cNvGraphicFramePr/>
          <p:nvPr/>
        </p:nvGraphicFramePr>
        <p:xfrm>
          <a:off x="457200" y="2514600"/>
          <a:ext cx="7680960" cy="36576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366760" y="2606040"/>
            <a:ext cx="3337560" cy="3566160"/>
          </a:xfrm>
          <a:prstGeom prst="roundRect">
            <a:avLst>
              <a:gd name="adj" fmla="val 2192"/>
            </a:avLst>
          </a:prstGeom>
          <a:solidFill>
            <a:srgbClr val="EAF2F5"/>
          </a:solidFill>
          <a:ln w="12700">
            <a:solidFill>
              <a:srgbClr val="E2E8EE"/>
            </a:solidFill>
            <a:prstDash val="solid"/>
          </a:ln>
        </p:spPr>
      </p:sp>
      <p:sp>
        <p:nvSpPr>
          <p:cNvPr id="7" name="Text 4"/>
          <p:cNvSpPr/>
          <p:nvPr/>
        </p:nvSpPr>
        <p:spPr>
          <a:xfrm>
            <a:off x="8641080" y="2788920"/>
            <a:ext cx="2788920" cy="320040"/>
          </a:xfrm>
          <a:prstGeom prst="rect">
            <a:avLst/>
          </a:prstGeom>
          <a:noFill/>
          <a:ln/>
        </p:spPr>
        <p:txBody>
          <a:bodyPr wrap="square" lIns="0" tIns="0" rIns="0" bIns="0" rtlCol="0" anchor="ctr"/>
          <a:lstStyle/>
          <a:p>
            <a:pPr indent="0" marL="0">
              <a:buNone/>
            </a:pPr>
            <a:r>
              <a:rPr lang="en-US" sz="1500" b="1" dirty="0">
                <a:solidFill>
                  <a:srgbClr val="0F2942"/>
                </a:solidFill>
                <a:latin typeface="Cambria" pitchFamily="34" charset="0"/>
                <a:ea typeface="Cambria" pitchFamily="34" charset="-122"/>
                <a:cs typeface="Cambria" pitchFamily="34" charset="-120"/>
              </a:rPr>
              <a:t>A real day's shape</a:t>
            </a:r>
            <a:endParaRPr lang="en-US" sz="1500" dirty="0"/>
          </a:p>
        </p:txBody>
      </p:sp>
      <p:sp>
        <p:nvSpPr>
          <p:cNvPr id="8" name="Text 5"/>
          <p:cNvSpPr/>
          <p:nvPr/>
        </p:nvSpPr>
        <p:spPr>
          <a:xfrm>
            <a:off x="8641080" y="3154680"/>
            <a:ext cx="2788920" cy="2834640"/>
          </a:xfrm>
          <a:prstGeom prst="rect">
            <a:avLst/>
          </a:prstGeom>
          <a:noFill/>
          <a:ln/>
        </p:spPr>
        <p:txBody>
          <a:bodyPr wrap="square" lIns="0" tIns="0" rIns="0" bIns="0" rtlCol="0" anchor="ctr"/>
          <a:lstStyle/>
          <a:p>
            <a:pPr indent="0" marL="0">
              <a:lnSpc>
                <a:spcPct val="125000"/>
              </a:lnSpc>
              <a:buNone/>
            </a:pPr>
            <a:r>
              <a:rPr lang="en-US" sz="1200" dirty="0">
                <a:solidFill>
                  <a:srgbClr val="0F2942"/>
                </a:solidFill>
                <a:latin typeface="Calibri" pitchFamily="34" charset="0"/>
                <a:ea typeface="Calibri" pitchFamily="34" charset="-122"/>
                <a:cs typeface="Calibri" pitchFamily="34" charset="-120"/>
              </a:rPr>
              <a:t>Quiet overnight, building through the afternoon, peaking around 9pm, tapering late. This shape — not the daily total — is what the split needs to get right.</a:t>
            </a:r>
            <a:endParaRPr lang="en-US" sz="1200" dirty="0"/>
          </a:p>
          <a:p>
            <a:pPr indent="0" marL="0">
              <a:lnSpc>
                <a:spcPct val="125000"/>
              </a:lnSpc>
              <a:buNone/>
            </a:pPr>
            <a:endParaRPr lang="en-US" sz="1200" dirty="0"/>
          </a:p>
          <a:p>
            <a:pPr indent="0" marL="0">
              <a:lnSpc>
                <a:spcPct val="125000"/>
              </a:lnSpc>
              <a:buNone/>
            </a:pPr>
            <a:r>
              <a:rPr lang="en-US" sz="1200" dirty="0">
                <a:solidFill>
                  <a:srgbClr val="0F2942"/>
                </a:solidFill>
                <a:latin typeface="Calibri" pitchFamily="34" charset="0"/>
                <a:ea typeface="Calibri" pitchFamily="34" charset="-122"/>
                <a:cs typeface="Calibri" pitchFamily="34" charset="-120"/>
              </a:rPr>
              <a:t>Every day has its own shape: weekdays differ from weekends, and holidays can differ from both.</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How the split decides which shape to use</a:t>
            </a:r>
            <a:endParaRPr lang="en-US" sz="31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The same measured-not-assumed discipline as the rest of this model — just applied to shape instead of level.</a:t>
            </a:r>
            <a:endParaRPr lang="en-US" sz="1500" dirty="0"/>
          </a:p>
        </p:txBody>
      </p:sp>
      <p:sp>
        <p:nvSpPr>
          <p:cNvPr id="4" name="Shape 2"/>
          <p:cNvSpPr/>
          <p:nvPr/>
        </p:nvSpPr>
        <p:spPr>
          <a:xfrm>
            <a:off x="548640" y="1737360"/>
            <a:ext cx="3593592" cy="2926080"/>
          </a:xfrm>
          <a:prstGeom prst="roundRect">
            <a:avLst>
              <a:gd name="adj" fmla="val 2500"/>
            </a:avLst>
          </a:prstGeom>
          <a:solidFill>
            <a:srgbClr val="F4F6F8"/>
          </a:solidFill>
          <a:ln w="12700">
            <a:solidFill>
              <a:srgbClr val="E2E8EE"/>
            </a:solidFill>
            <a:prstDash val="solid"/>
          </a:ln>
        </p:spPr>
      </p:sp>
      <p:sp>
        <p:nvSpPr>
          <p:cNvPr id="5" name="Shape 3"/>
          <p:cNvSpPr/>
          <p:nvPr/>
        </p:nvSpPr>
        <p:spPr>
          <a:xfrm>
            <a:off x="822960" y="1965960"/>
            <a:ext cx="502920" cy="502920"/>
          </a:xfrm>
          <a:prstGeom prst="ellipse">
            <a:avLst/>
          </a:prstGeom>
          <a:solidFill>
            <a:srgbClr val="2E8BA8"/>
          </a:solidFill>
          <a:ln/>
        </p:spPr>
      </p:sp>
      <p:sp>
        <p:nvSpPr>
          <p:cNvPr id="6" name="Text 4"/>
          <p:cNvSpPr/>
          <p:nvPr/>
        </p:nvSpPr>
        <p:spPr>
          <a:xfrm>
            <a:off x="822960" y="19659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822960" y="2606040"/>
            <a:ext cx="3063240" cy="594360"/>
          </a:xfrm>
          <a:prstGeom prst="rect">
            <a:avLst/>
          </a:prstGeom>
          <a:noFill/>
          <a:ln/>
        </p:spPr>
        <p:txBody>
          <a:bodyPr wrap="square" lIns="0" tIns="0" rIns="0" bIns="0" rtlCol="0" anchor="ctr"/>
          <a:lstStyle/>
          <a:p>
            <a:pPr indent="0" marL="0">
              <a:buNone/>
            </a:pPr>
            <a:r>
              <a:rPr lang="en-US" sz="1550" b="1" dirty="0">
                <a:solidFill>
                  <a:srgbClr val="0F2942"/>
                </a:solidFill>
                <a:latin typeface="Cambria" pitchFamily="34" charset="0"/>
                <a:ea typeface="Cambria" pitchFamily="34" charset="-122"/>
                <a:cs typeface="Cambria" pitchFamily="34" charset="-120"/>
              </a:rPr>
              <a:t>Look at the last 90 days</a:t>
            </a:r>
            <a:endParaRPr lang="en-US" sz="1550" dirty="0"/>
          </a:p>
        </p:txBody>
      </p:sp>
      <p:sp>
        <p:nvSpPr>
          <p:cNvPr id="8" name="Text 6"/>
          <p:cNvSpPr/>
          <p:nvPr/>
        </p:nvSpPr>
        <p:spPr>
          <a:xfrm>
            <a:off x="822960" y="3246120"/>
            <a:ext cx="3063240" cy="1280160"/>
          </a:xfrm>
          <a:prstGeom prst="rect">
            <a:avLst/>
          </a:prstGeom>
          <a:noFill/>
          <a:ln/>
        </p:spPr>
        <p:txBody>
          <a:bodyPr wrap="square" lIns="0" tIns="0" rIns="0" bIns="0" rtlCol="0" anchor="ctr"/>
          <a:lstStyle/>
          <a:p>
            <a:pPr indent="0" marL="0">
              <a:lnSpc>
                <a:spcPct val="120000"/>
              </a:lnSpc>
              <a:buNone/>
            </a:pPr>
            <a:r>
              <a:rPr lang="en-US" sz="1150" dirty="0">
                <a:solidFill>
                  <a:srgbClr val="5F7183"/>
                </a:solidFill>
                <a:latin typeface="Calibri" pitchFamily="34" charset="0"/>
                <a:ea typeface="Calibri" pitchFamily="34" charset="-122"/>
                <a:cs typeface="Calibri" pitchFamily="34" charset="-120"/>
              </a:rPr>
              <a:t>Average the hourly SHARE of the day for the same weekday type (weekday / Friday / Saturday / Sunday), excluding any holiday windows.</a:t>
            </a:r>
            <a:endParaRPr lang="en-US" sz="1150" dirty="0"/>
          </a:p>
        </p:txBody>
      </p:sp>
      <p:sp>
        <p:nvSpPr>
          <p:cNvPr id="9" name="Shape 7"/>
          <p:cNvSpPr/>
          <p:nvPr/>
        </p:nvSpPr>
        <p:spPr>
          <a:xfrm>
            <a:off x="4288536" y="1737360"/>
            <a:ext cx="3593592" cy="2926080"/>
          </a:xfrm>
          <a:prstGeom prst="roundRect">
            <a:avLst>
              <a:gd name="adj" fmla="val 2500"/>
            </a:avLst>
          </a:prstGeom>
          <a:solidFill>
            <a:srgbClr val="F4F6F8"/>
          </a:solidFill>
          <a:ln w="12700">
            <a:solidFill>
              <a:srgbClr val="E2E8EE"/>
            </a:solidFill>
            <a:prstDash val="solid"/>
          </a:ln>
        </p:spPr>
      </p:sp>
      <p:sp>
        <p:nvSpPr>
          <p:cNvPr id="10" name="Shape 8"/>
          <p:cNvSpPr/>
          <p:nvPr/>
        </p:nvSpPr>
        <p:spPr>
          <a:xfrm>
            <a:off x="4562856" y="1965960"/>
            <a:ext cx="502920" cy="502920"/>
          </a:xfrm>
          <a:prstGeom prst="ellipse">
            <a:avLst/>
          </a:prstGeom>
          <a:solidFill>
            <a:srgbClr val="E8B547"/>
          </a:solidFill>
          <a:ln/>
        </p:spPr>
      </p:sp>
      <p:sp>
        <p:nvSpPr>
          <p:cNvPr id="11" name="Text 9"/>
          <p:cNvSpPr/>
          <p:nvPr/>
        </p:nvSpPr>
        <p:spPr>
          <a:xfrm>
            <a:off x="4562856" y="19659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4562856" y="2606040"/>
            <a:ext cx="3063240" cy="594360"/>
          </a:xfrm>
          <a:prstGeom prst="rect">
            <a:avLst/>
          </a:prstGeom>
          <a:noFill/>
          <a:ln/>
        </p:spPr>
        <p:txBody>
          <a:bodyPr wrap="square" lIns="0" tIns="0" rIns="0" bIns="0" rtlCol="0" anchor="ctr"/>
          <a:lstStyle/>
          <a:p>
            <a:pPr indent="0" marL="0">
              <a:buNone/>
            </a:pPr>
            <a:r>
              <a:rPr lang="en-US" sz="1550" b="1" dirty="0">
                <a:solidFill>
                  <a:srgbClr val="0F2942"/>
                </a:solidFill>
                <a:latin typeface="Cambria" pitchFamily="34" charset="0"/>
                <a:ea typeface="Cambria" pitchFamily="34" charset="-122"/>
                <a:cs typeface="Cambria" pitchFamily="34" charset="-120"/>
              </a:rPr>
              <a:t>Check if a holiday looks different</a:t>
            </a:r>
            <a:endParaRPr lang="en-US" sz="1550" dirty="0"/>
          </a:p>
        </p:txBody>
      </p:sp>
      <p:sp>
        <p:nvSpPr>
          <p:cNvPr id="13" name="Text 11"/>
          <p:cNvSpPr/>
          <p:nvPr/>
        </p:nvSpPr>
        <p:spPr>
          <a:xfrm>
            <a:off x="4562856" y="3246120"/>
            <a:ext cx="3063240" cy="1280160"/>
          </a:xfrm>
          <a:prstGeom prst="rect">
            <a:avLst/>
          </a:prstGeom>
          <a:noFill/>
          <a:ln/>
        </p:spPr>
        <p:txBody>
          <a:bodyPr wrap="square" lIns="0" tIns="0" rIns="0" bIns="0" rtlCol="0" anchor="ctr"/>
          <a:lstStyle/>
          <a:p>
            <a:pPr indent="0" marL="0">
              <a:lnSpc>
                <a:spcPct val="120000"/>
              </a:lnSpc>
              <a:buNone/>
            </a:pPr>
            <a:r>
              <a:rPr lang="en-US" sz="1150" dirty="0">
                <a:solidFill>
                  <a:srgbClr val="5F7183"/>
                </a:solidFill>
                <a:latin typeface="Calibri" pitchFamily="34" charset="0"/>
                <a:ea typeface="Calibri" pitchFamily="34" charset="-122"/>
                <a:cs typeface="Calibri" pitchFamily="34" charset="-120"/>
              </a:rPr>
              <a:t>Compare that holiday-day's historical shape against its own normal-day baseline, using Total Variation Distance — the same kind of measured comparison used everywhere else in this model.</a:t>
            </a:r>
            <a:endParaRPr lang="en-US" sz="1150" dirty="0"/>
          </a:p>
        </p:txBody>
      </p:sp>
      <p:sp>
        <p:nvSpPr>
          <p:cNvPr id="14" name="Shape 12"/>
          <p:cNvSpPr/>
          <p:nvPr/>
        </p:nvSpPr>
        <p:spPr>
          <a:xfrm>
            <a:off x="8028432" y="1737360"/>
            <a:ext cx="3593592" cy="2926080"/>
          </a:xfrm>
          <a:prstGeom prst="roundRect">
            <a:avLst>
              <a:gd name="adj" fmla="val 2500"/>
            </a:avLst>
          </a:prstGeom>
          <a:solidFill>
            <a:srgbClr val="F4F6F8"/>
          </a:solidFill>
          <a:ln w="12700">
            <a:solidFill>
              <a:srgbClr val="E2E8EE"/>
            </a:solidFill>
            <a:prstDash val="solid"/>
          </a:ln>
        </p:spPr>
      </p:sp>
      <p:sp>
        <p:nvSpPr>
          <p:cNvPr id="15" name="Shape 13"/>
          <p:cNvSpPr/>
          <p:nvPr/>
        </p:nvSpPr>
        <p:spPr>
          <a:xfrm>
            <a:off x="8302752" y="1965960"/>
            <a:ext cx="502920" cy="502920"/>
          </a:xfrm>
          <a:prstGeom prst="ellipse">
            <a:avLst/>
          </a:prstGeom>
          <a:solidFill>
            <a:srgbClr val="2FA87C"/>
          </a:solidFill>
          <a:ln/>
        </p:spPr>
      </p:sp>
      <p:sp>
        <p:nvSpPr>
          <p:cNvPr id="16" name="Text 14"/>
          <p:cNvSpPr/>
          <p:nvPr/>
        </p:nvSpPr>
        <p:spPr>
          <a:xfrm>
            <a:off x="8302752" y="19659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8302752" y="2606040"/>
            <a:ext cx="3063240" cy="594360"/>
          </a:xfrm>
          <a:prstGeom prst="rect">
            <a:avLst/>
          </a:prstGeom>
          <a:noFill/>
          <a:ln/>
        </p:spPr>
        <p:txBody>
          <a:bodyPr wrap="square" lIns="0" tIns="0" rIns="0" bIns="0" rtlCol="0" anchor="ctr"/>
          <a:lstStyle/>
          <a:p>
            <a:pPr indent="0" marL="0">
              <a:buNone/>
            </a:pPr>
            <a:r>
              <a:rPr lang="en-US" sz="1550" b="1" dirty="0">
                <a:solidFill>
                  <a:srgbClr val="0F2942"/>
                </a:solidFill>
                <a:latin typeface="Cambria" pitchFamily="34" charset="0"/>
                <a:ea typeface="Cambria" pitchFamily="34" charset="-122"/>
                <a:cs typeface="Cambria" pitchFamily="34" charset="-120"/>
              </a:rPr>
              <a:t>Pick the closer match</a:t>
            </a:r>
            <a:endParaRPr lang="en-US" sz="1550" dirty="0"/>
          </a:p>
        </p:txBody>
      </p:sp>
      <p:sp>
        <p:nvSpPr>
          <p:cNvPr id="18" name="Text 16"/>
          <p:cNvSpPr/>
          <p:nvPr/>
        </p:nvSpPr>
        <p:spPr>
          <a:xfrm>
            <a:off x="8302752" y="3246120"/>
            <a:ext cx="3063240" cy="1280160"/>
          </a:xfrm>
          <a:prstGeom prst="rect">
            <a:avLst/>
          </a:prstGeom>
          <a:noFill/>
          <a:ln/>
        </p:spPr>
        <p:txBody>
          <a:bodyPr wrap="square" lIns="0" tIns="0" rIns="0" bIns="0" rtlCol="0" anchor="ctr"/>
          <a:lstStyle/>
          <a:p>
            <a:pPr indent="0" marL="0">
              <a:lnSpc>
                <a:spcPct val="120000"/>
              </a:lnSpc>
              <a:buNone/>
            </a:pPr>
            <a:r>
              <a:rPr lang="en-US" sz="1150" dirty="0">
                <a:solidFill>
                  <a:srgbClr val="5F7183"/>
                </a:solidFill>
                <a:latin typeface="Calibri" pitchFamily="34" charset="0"/>
                <a:ea typeface="Calibri" pitchFamily="34" charset="-122"/>
                <a:cs typeface="Calibri" pitchFamily="34" charset="-120"/>
              </a:rPr>
              <a:t>Close enough → inherit the weekday/weekend shape. Genuinely different → use a recency-weighted average of that exact holiday-day's own past occurrences.</a:t>
            </a:r>
            <a:endParaRPr lang="en-US" sz="1150" dirty="0"/>
          </a:p>
        </p:txBody>
      </p:sp>
      <p:sp>
        <p:nvSpPr>
          <p:cNvPr id="19" name="Shape 17"/>
          <p:cNvSpPr/>
          <p:nvPr/>
        </p:nvSpPr>
        <p:spPr>
          <a:xfrm>
            <a:off x="548640" y="4846320"/>
            <a:ext cx="11082528" cy="1280160"/>
          </a:xfrm>
          <a:prstGeom prst="roundRect">
            <a:avLst>
              <a:gd name="adj" fmla="val 5714"/>
            </a:avLst>
          </a:prstGeom>
          <a:solidFill>
            <a:srgbClr val="FBF6E9"/>
          </a:solidFill>
          <a:ln w="12700">
            <a:solidFill>
              <a:srgbClr val="E2E8EE"/>
            </a:solidFill>
            <a:prstDash val="solid"/>
          </a:ln>
        </p:spPr>
      </p:sp>
      <p:sp>
        <p:nvSpPr>
          <p:cNvPr id="20" name="Text 18"/>
          <p:cNvSpPr/>
          <p:nvPr/>
        </p:nvSpPr>
        <p:spPr>
          <a:xfrm>
            <a:off x="868680" y="4992624"/>
            <a:ext cx="10424160" cy="320040"/>
          </a:xfrm>
          <a:prstGeom prst="rect">
            <a:avLst/>
          </a:prstGeom>
          <a:noFill/>
          <a:ln/>
        </p:spPr>
        <p:txBody>
          <a:bodyPr wrap="square" lIns="0" tIns="0" rIns="0" bIns="0" rtlCol="0" anchor="ctr"/>
          <a:lstStyle/>
          <a:p>
            <a:pPr indent="0" marL="0">
              <a:buNone/>
            </a:pPr>
            <a:r>
              <a:rPr lang="en-US" sz="1600" b="1" dirty="0">
                <a:solidFill>
                  <a:srgbClr val="0F2942"/>
                </a:solidFill>
                <a:latin typeface="Cambria" pitchFamily="34" charset="0"/>
                <a:ea typeface="Cambria" pitchFamily="34" charset="-122"/>
                <a:cs typeface="Cambria" pitchFamily="34" charset="-120"/>
              </a:rPr>
              <a:t>Nothing here is a trained model</a:t>
            </a:r>
            <a:endParaRPr lang="en-US" sz="1600" dirty="0"/>
          </a:p>
        </p:txBody>
      </p:sp>
      <p:sp>
        <p:nvSpPr>
          <p:cNvPr id="21" name="Text 19"/>
          <p:cNvSpPr/>
          <p:nvPr/>
        </p:nvSpPr>
        <p:spPr>
          <a:xfrm>
            <a:off x="868680" y="5321808"/>
            <a:ext cx="10424160" cy="685800"/>
          </a:xfrm>
          <a:prstGeom prst="rect">
            <a:avLst/>
          </a:prstGeom>
          <a:noFill/>
          <a:ln/>
        </p:spPr>
        <p:txBody>
          <a:bodyPr wrap="square" lIns="0" tIns="0" rIns="0" bIns="0" rtlCol="0" anchor="ctr"/>
          <a:lstStyle/>
          <a:p>
            <a:pPr indent="0" marL="0">
              <a:lnSpc>
                <a:spcPct val="120000"/>
              </a:lnSpc>
              <a:buNone/>
            </a:pPr>
            <a:r>
              <a:rPr lang="en-US" sz="1250" dirty="0">
                <a:solidFill>
                  <a:srgbClr val="0F2942"/>
                </a:solidFill>
                <a:latin typeface="Calibri" pitchFamily="34" charset="0"/>
                <a:ea typeface="Calibri" pitchFamily="34" charset="-122"/>
                <a:cs typeface="Calibri" pitchFamily="34" charset="-120"/>
              </a:rPr>
              <a:t>Every number the split uses is a directly-measured average from real history, chosen by a distance threshold — not a prediction from a fitted model. The next slide explains why that was the deliberate choice.</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Why not just train a model for this too?</a:t>
            </a:r>
            <a:endParaRPr lang="en-US" sz="31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The working hypothesis this design is built on — and how it will be checked.</a:t>
            </a:r>
            <a:endParaRPr lang="en-US" sz="1500" dirty="0"/>
          </a:p>
        </p:txBody>
      </p:sp>
      <p:sp>
        <p:nvSpPr>
          <p:cNvPr id="4" name="Shape 2"/>
          <p:cNvSpPr/>
          <p:nvPr/>
        </p:nvSpPr>
        <p:spPr>
          <a:xfrm>
            <a:off x="548640" y="1691640"/>
            <a:ext cx="5440680" cy="2286000"/>
          </a:xfrm>
          <a:prstGeom prst="roundRect">
            <a:avLst>
              <a:gd name="adj" fmla="val 3200"/>
            </a:avLst>
          </a:prstGeom>
          <a:solidFill>
            <a:srgbClr val="E9F4EF"/>
          </a:solidFill>
          <a:ln w="12700">
            <a:solidFill>
              <a:srgbClr val="E2E8EE"/>
            </a:solidFill>
            <a:prstDash val="solid"/>
          </a:ln>
        </p:spPr>
      </p:sp>
      <p:sp>
        <p:nvSpPr>
          <p:cNvPr id="5" name="Shape 3"/>
          <p:cNvSpPr/>
          <p:nvPr/>
        </p:nvSpPr>
        <p:spPr>
          <a:xfrm>
            <a:off x="822960" y="1920240"/>
            <a:ext cx="475488" cy="475488"/>
          </a:xfrm>
          <a:prstGeom prst="ellipse">
            <a:avLst/>
          </a:prstGeom>
          <a:solidFill>
            <a:srgbClr val="2FA87C"/>
          </a:solidFill>
          <a:ln/>
        </p:spPr>
      </p:sp>
      <p:sp>
        <p:nvSpPr>
          <p:cNvPr id="6" name="Text 4"/>
          <p:cNvSpPr/>
          <p:nvPr/>
        </p:nvSpPr>
        <p:spPr>
          <a:xfrm>
            <a:off x="822960" y="192024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7" name="Text 5"/>
          <p:cNvSpPr/>
          <p:nvPr/>
        </p:nvSpPr>
        <p:spPr>
          <a:xfrm>
            <a:off x="1481328" y="1947672"/>
            <a:ext cx="4297680" cy="365760"/>
          </a:xfrm>
          <a:prstGeom prst="rect">
            <a:avLst/>
          </a:prstGeom>
          <a:noFill/>
          <a:ln/>
        </p:spPr>
        <p:txBody>
          <a:bodyPr wrap="square" lIns="0" tIns="0" rIns="0" bIns="0" rtlCol="0" anchor="ctr"/>
          <a:lstStyle/>
          <a:p>
            <a:pPr indent="0" marL="0">
              <a:buNone/>
            </a:pPr>
            <a:r>
              <a:rPr lang="en-US" sz="1600" b="1" dirty="0">
                <a:solidFill>
                  <a:srgbClr val="0F2942"/>
                </a:solidFill>
                <a:latin typeface="Cambria" pitchFamily="34" charset="0"/>
                <a:ea typeface="Cambria" pitchFamily="34" charset="-122"/>
                <a:cs typeface="Cambria" pitchFamily="34" charset="-120"/>
              </a:rPr>
              <a:t>The case for the historical shape</a:t>
            </a:r>
            <a:endParaRPr lang="en-US" sz="1600" dirty="0"/>
          </a:p>
        </p:txBody>
      </p:sp>
      <p:sp>
        <p:nvSpPr>
          <p:cNvPr id="8" name="Text 6"/>
          <p:cNvSpPr/>
          <p:nvPr/>
        </p:nvSpPr>
        <p:spPr>
          <a:xfrm>
            <a:off x="822960" y="2331720"/>
            <a:ext cx="4892040" cy="1600200"/>
          </a:xfrm>
          <a:prstGeom prst="rect">
            <a:avLst/>
          </a:prstGeom>
          <a:noFill/>
          <a:ln/>
        </p:spPr>
        <p:txBody>
          <a:bodyPr wrap="square" lIns="0" tIns="0" rIns="0" bIns="0" rtlCol="0" anchor="ctr"/>
          <a:lstStyle/>
          <a:p>
            <a:pPr indent="0" marL="0">
              <a:lnSpc>
                <a:spcPct val="120000"/>
              </a:lnSpc>
              <a:buNone/>
            </a:pPr>
            <a:r>
              <a:rPr lang="en-US" sz="1200" dirty="0">
                <a:solidFill>
                  <a:srgbClr val="0F2942"/>
                </a:solidFill>
                <a:latin typeface="Calibri" pitchFamily="34" charset="0"/>
                <a:ea typeface="Calibri" pitchFamily="34" charset="-122"/>
                <a:cs typeface="Calibri" pitchFamily="34" charset="-120"/>
              </a:rPr>
              <a:t>An hourly shape is a slow-moving, highly repeatable pattern — Tuesday afternoon looks like Tuesday afternoon. That is exactly the situation where a direct historical average is hard to beat: there is little unexplained structure left for a model to learn that isn't already captured by "what did this kind of day look like recently."</a:t>
            </a:r>
            <a:endParaRPr lang="en-US" sz="1200" dirty="0"/>
          </a:p>
        </p:txBody>
      </p:sp>
      <p:sp>
        <p:nvSpPr>
          <p:cNvPr id="9" name="Shape 7"/>
          <p:cNvSpPr/>
          <p:nvPr/>
        </p:nvSpPr>
        <p:spPr>
          <a:xfrm>
            <a:off x="6172200" y="1691640"/>
            <a:ext cx="5458968" cy="2286000"/>
          </a:xfrm>
          <a:prstGeom prst="roundRect">
            <a:avLst>
              <a:gd name="adj" fmla="val 3200"/>
            </a:avLst>
          </a:prstGeom>
          <a:solidFill>
            <a:srgbClr val="EAF2F5"/>
          </a:solidFill>
          <a:ln w="12700">
            <a:solidFill>
              <a:srgbClr val="E2E8EE"/>
            </a:solidFill>
            <a:prstDash val="solid"/>
          </a:ln>
        </p:spPr>
      </p:sp>
      <p:sp>
        <p:nvSpPr>
          <p:cNvPr id="10" name="Shape 8"/>
          <p:cNvSpPr/>
          <p:nvPr/>
        </p:nvSpPr>
        <p:spPr>
          <a:xfrm>
            <a:off x="6446520" y="1920240"/>
            <a:ext cx="475488" cy="475488"/>
          </a:xfrm>
          <a:prstGeom prst="ellipse">
            <a:avLst/>
          </a:prstGeom>
          <a:solidFill>
            <a:srgbClr val="2E8BA8"/>
          </a:solidFill>
          <a:ln/>
        </p:spPr>
      </p:sp>
      <p:sp>
        <p:nvSpPr>
          <p:cNvPr id="11" name="Text 9"/>
          <p:cNvSpPr/>
          <p:nvPr/>
        </p:nvSpPr>
        <p:spPr>
          <a:xfrm>
            <a:off x="6446520" y="192024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2" name="Text 10"/>
          <p:cNvSpPr/>
          <p:nvPr/>
        </p:nvSpPr>
        <p:spPr>
          <a:xfrm>
            <a:off x="7104888" y="1947672"/>
            <a:ext cx="4297680" cy="365760"/>
          </a:xfrm>
          <a:prstGeom prst="rect">
            <a:avLst/>
          </a:prstGeom>
          <a:noFill/>
          <a:ln/>
        </p:spPr>
        <p:txBody>
          <a:bodyPr wrap="square" lIns="0" tIns="0" rIns="0" bIns="0" rtlCol="0" anchor="ctr"/>
          <a:lstStyle/>
          <a:p>
            <a:pPr indent="0" marL="0">
              <a:buNone/>
            </a:pPr>
            <a:r>
              <a:rPr lang="en-US" sz="1600" b="1" dirty="0">
                <a:solidFill>
                  <a:srgbClr val="0F2942"/>
                </a:solidFill>
                <a:latin typeface="Cambria" pitchFamily="34" charset="0"/>
                <a:ea typeface="Cambria" pitchFamily="34" charset="-122"/>
                <a:cs typeface="Cambria" pitchFamily="34" charset="-120"/>
              </a:rPr>
              <a:t>Built to test that claim, not just assert it</a:t>
            </a:r>
            <a:endParaRPr lang="en-US" sz="1600" dirty="0"/>
          </a:p>
        </p:txBody>
      </p:sp>
      <p:sp>
        <p:nvSpPr>
          <p:cNvPr id="13" name="Text 11"/>
          <p:cNvSpPr/>
          <p:nvPr/>
        </p:nvSpPr>
        <p:spPr>
          <a:xfrm>
            <a:off x="6446520" y="2331720"/>
            <a:ext cx="4892040" cy="1600200"/>
          </a:xfrm>
          <a:prstGeom prst="rect">
            <a:avLst/>
          </a:prstGeom>
          <a:noFill/>
          <a:ln/>
        </p:spPr>
        <p:txBody>
          <a:bodyPr wrap="square" lIns="0" tIns="0" rIns="0" bIns="0" rtlCol="0" anchor="ctr"/>
          <a:lstStyle/>
          <a:p>
            <a:pPr indent="0" marL="0">
              <a:lnSpc>
                <a:spcPct val="120000"/>
              </a:lnSpc>
              <a:buNone/>
            </a:pPr>
            <a:r>
              <a:rPr lang="en-US" sz="1200" dirty="0">
                <a:solidFill>
                  <a:srgbClr val="0F2942"/>
                </a:solidFill>
                <a:latin typeface="Calibri" pitchFamily="34" charset="0"/>
                <a:ea typeface="Calibri" pitchFamily="34" charset="-122"/>
                <a:cs typeface="Calibri" pitchFamily="34" charset="-120"/>
              </a:rPr>
              <a:t>A lightweight comparison model was built specifically to challenge this — same calendar inputs, honest lag features, no peeking. It exists only to be measured against, never to produce an actual forecast. The expectation is that it will not beat the historical shape by enough to justify the extra complexity.</a:t>
            </a:r>
            <a:endParaRPr lang="en-US" sz="1200" dirty="0"/>
          </a:p>
        </p:txBody>
      </p:sp>
      <p:sp>
        <p:nvSpPr>
          <p:cNvPr id="14" name="Shape 12"/>
          <p:cNvSpPr/>
          <p:nvPr/>
        </p:nvSpPr>
        <p:spPr>
          <a:xfrm>
            <a:off x="548640" y="4160520"/>
            <a:ext cx="11082528" cy="1965960"/>
          </a:xfrm>
          <a:prstGeom prst="roundRect">
            <a:avLst>
              <a:gd name="adj" fmla="val 3721"/>
            </a:avLst>
          </a:prstGeom>
          <a:solidFill>
            <a:srgbClr val="F7E9E9"/>
          </a:solidFill>
          <a:ln w="12700">
            <a:solidFill>
              <a:srgbClr val="E2E8EE"/>
            </a:solidFill>
            <a:prstDash val="solid"/>
          </a:ln>
        </p:spPr>
      </p:sp>
      <p:sp>
        <p:nvSpPr>
          <p:cNvPr id="15" name="Text 13"/>
          <p:cNvSpPr/>
          <p:nvPr/>
        </p:nvSpPr>
        <p:spPr>
          <a:xfrm>
            <a:off x="868680" y="4325112"/>
            <a:ext cx="10424160" cy="365760"/>
          </a:xfrm>
          <a:prstGeom prst="rect">
            <a:avLst/>
          </a:prstGeom>
          <a:noFill/>
          <a:ln/>
        </p:spPr>
        <p:txBody>
          <a:bodyPr wrap="square" lIns="0" tIns="0" rIns="0" bIns="0" rtlCol="0" anchor="ctr"/>
          <a:lstStyle/>
          <a:p>
            <a:pPr indent="0" marL="0">
              <a:buNone/>
            </a:pPr>
            <a:r>
              <a:rPr lang="en-US" sz="1600" b="1" dirty="0">
                <a:solidFill>
                  <a:srgbClr val="0F2942"/>
                </a:solidFill>
                <a:latin typeface="Cambria" pitchFamily="34" charset="0"/>
                <a:ea typeface="Cambria" pitchFamily="34" charset="-122"/>
                <a:cs typeface="Cambria" pitchFamily="34" charset="-120"/>
              </a:rPr>
              <a:t>⚠ This is a hypothesis, not yet a result</a:t>
            </a:r>
            <a:endParaRPr lang="en-US" sz="1600" dirty="0"/>
          </a:p>
        </p:txBody>
      </p:sp>
      <p:sp>
        <p:nvSpPr>
          <p:cNvPr id="16" name="Text 14"/>
          <p:cNvSpPr/>
          <p:nvPr/>
        </p:nvSpPr>
        <p:spPr>
          <a:xfrm>
            <a:off x="868680" y="4681728"/>
            <a:ext cx="10424160" cy="1371600"/>
          </a:xfrm>
          <a:prstGeom prst="rect">
            <a:avLst/>
          </a:prstGeom>
          <a:noFill/>
          <a:ln/>
        </p:spPr>
        <p:txBody>
          <a:bodyPr wrap="square" lIns="0" tIns="0" rIns="0" bIns="0" rtlCol="0" anchor="ctr"/>
          <a:lstStyle/>
          <a:p>
            <a:pPr indent="0" marL="0">
              <a:lnSpc>
                <a:spcPct val="120000"/>
              </a:lnSpc>
              <a:buNone/>
            </a:pPr>
            <a:r>
              <a:rPr lang="en-US" sz="1200" dirty="0">
                <a:solidFill>
                  <a:srgbClr val="0F2942"/>
                </a:solidFill>
                <a:latin typeface="Calibri" pitchFamily="34" charset="0"/>
                <a:ea typeface="Calibri" pitchFamily="34" charset="-122"/>
                <a:cs typeface="Calibri" pitchFamily="34" charset="-120"/>
              </a:rPr>
              <a:t>Every tool needed to check this honestly already exists and runs end-to-end — walk-forward, no leakage, applied to real daily totals, broken down by day type. What is missing is real hourly history: today the pipeline only has a 10-day format-reference sample, far too little to prove anything. The next two slides show exactly where the real result goes once it exists — and this project's own record (see the earlier slide on rejected ideas) is that assumptions like this one get overturned as often as they get confirmed. Treat this slide as the plan, not the conclusion.</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The result, once it exists: accuracy by day type</a:t>
            </a:r>
            <a:endParaRPr lang="en-US" sz="31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RESERVED CHART SLOT — this is where the real comparison goes.</a:t>
            </a:r>
            <a:endParaRPr lang="en-US" sz="1500" dirty="0"/>
          </a:p>
        </p:txBody>
      </p:sp>
      <p:sp>
        <p:nvSpPr>
          <p:cNvPr id="4" name="Shape 2"/>
          <p:cNvSpPr/>
          <p:nvPr/>
        </p:nvSpPr>
        <p:spPr>
          <a:xfrm>
            <a:off x="548640" y="1691640"/>
            <a:ext cx="11064240" cy="3977640"/>
          </a:xfrm>
          <a:prstGeom prst="roundRect">
            <a:avLst>
              <a:gd name="adj" fmla="val 1839"/>
            </a:avLst>
          </a:prstGeom>
          <a:solidFill>
            <a:srgbClr val="FAFBFC"/>
          </a:solidFill>
          <a:ln w="19050">
            <a:solidFill>
              <a:srgbClr val="B7C2CC"/>
            </a:solidFill>
            <a:prstDash val="dash"/>
          </a:ln>
        </p:spPr>
      </p:sp>
      <p:sp>
        <p:nvSpPr>
          <p:cNvPr id="5" name="Shape 3"/>
          <p:cNvSpPr/>
          <p:nvPr/>
        </p:nvSpPr>
        <p:spPr>
          <a:xfrm>
            <a:off x="5577840" y="2805379"/>
            <a:ext cx="1005840" cy="685800"/>
          </a:xfrm>
          <a:prstGeom prst="rect">
            <a:avLst/>
          </a:prstGeom>
          <a:solidFill>
            <a:srgbClr val="FFFFFF"/>
          </a:solidFill>
          <a:ln w="19050">
            <a:solidFill>
              <a:srgbClr val="B7C2CC"/>
            </a:solidFill>
            <a:prstDash val="solid"/>
          </a:ln>
        </p:spPr>
      </p:sp>
      <p:sp>
        <p:nvSpPr>
          <p:cNvPr id="6" name="Text 4"/>
          <p:cNvSpPr/>
          <p:nvPr/>
        </p:nvSpPr>
        <p:spPr>
          <a:xfrm>
            <a:off x="5577840" y="2805379"/>
            <a:ext cx="1005840" cy="685800"/>
          </a:xfrm>
          <a:prstGeom prst="rect">
            <a:avLst/>
          </a:prstGeom>
          <a:noFill/>
          <a:ln/>
        </p:spPr>
        <p:txBody>
          <a:bodyPr wrap="square" lIns="0" tIns="0" rIns="0" bIns="0" rtlCol="0" anchor="ctr"/>
          <a:lstStyle/>
          <a:p>
            <a:pPr algn="ctr" indent="0" marL="0">
              <a:buNone/>
            </a:pPr>
            <a:r>
              <a:rPr lang="en-US" sz="3200" b="1" dirty="0">
                <a:solidFill>
                  <a:srgbClr val="B7C2CC"/>
                </a:solidFill>
                <a:latin typeface="Cambria" pitchFamily="34" charset="0"/>
                <a:ea typeface="Cambria" pitchFamily="34" charset="-122"/>
                <a:cs typeface="Cambria" pitchFamily="34" charset="-120"/>
              </a:rPr>
              <a:t>+</a:t>
            </a:r>
            <a:endParaRPr lang="en-US" sz="3200" dirty="0"/>
          </a:p>
        </p:txBody>
      </p:sp>
      <p:sp>
        <p:nvSpPr>
          <p:cNvPr id="7" name="Text 5"/>
          <p:cNvSpPr/>
          <p:nvPr/>
        </p:nvSpPr>
        <p:spPr>
          <a:xfrm>
            <a:off x="914400" y="3919118"/>
            <a:ext cx="10332720" cy="365760"/>
          </a:xfrm>
          <a:prstGeom prst="rect">
            <a:avLst/>
          </a:prstGeom>
          <a:noFill/>
          <a:ln/>
        </p:spPr>
        <p:txBody>
          <a:bodyPr wrap="square" lIns="0" tIns="0" rIns="0" bIns="0" rtlCol="0" anchor="ctr"/>
          <a:lstStyle/>
          <a:p>
            <a:pPr algn="ctr" indent="0" marL="0">
              <a:buNone/>
            </a:pPr>
            <a:r>
              <a:rPr lang="en-US" sz="1300" b="1" dirty="0">
                <a:solidFill>
                  <a:srgbClr val="5F7183"/>
                </a:solidFill>
                <a:latin typeface="Cambria" pitchFamily="34" charset="0"/>
                <a:ea typeface="Cambria" pitchFamily="34" charset="-122"/>
                <a:cs typeface="Cambria" pitchFamily="34" charset="-120"/>
              </a:rPr>
              <a:t>Historical shape vs. comparison model — MAPE by day type</a:t>
            </a:r>
            <a:endParaRPr lang="en-US" sz="1300" dirty="0"/>
          </a:p>
        </p:txBody>
      </p:sp>
      <p:sp>
        <p:nvSpPr>
          <p:cNvPr id="8" name="Text 6"/>
          <p:cNvSpPr/>
          <p:nvPr/>
        </p:nvSpPr>
        <p:spPr>
          <a:xfrm>
            <a:off x="914400" y="4284878"/>
            <a:ext cx="10332720" cy="457200"/>
          </a:xfrm>
          <a:prstGeom prst="rect">
            <a:avLst/>
          </a:prstGeom>
          <a:noFill/>
          <a:ln/>
        </p:spPr>
        <p:txBody>
          <a:bodyPr wrap="square" lIns="0" tIns="0" rIns="0" bIns="0" rtlCol="0" anchor="ctr"/>
          <a:lstStyle/>
          <a:p>
            <a:pPr algn="ctr" indent="0" marL="0">
              <a:buNone/>
            </a:pPr>
            <a:r>
              <a:rPr lang="en-US" sz="1000" i="1" dirty="0">
                <a:solidFill>
                  <a:srgbClr val="8A94A0"/>
                </a:solidFill>
                <a:latin typeface="Calibri" pitchFamily="34" charset="0"/>
                <a:ea typeface="Calibri" pitchFamily="34" charset="-122"/>
                <a:cs typeface="Calibri" pitchFamily="34" charset="-120"/>
              </a:rPr>
              <a:t>paste deck_mape_by_daytype.png here once real hourly data exists</a:t>
            </a:r>
            <a:endParaRPr lang="en-US" sz="1000" dirty="0"/>
          </a:p>
        </p:txBody>
      </p:sp>
      <p:sp>
        <p:nvSpPr>
          <p:cNvPr id="9" name="Shape 7"/>
          <p:cNvSpPr/>
          <p:nvPr/>
        </p:nvSpPr>
        <p:spPr>
          <a:xfrm>
            <a:off x="548640" y="5806440"/>
            <a:ext cx="11082528" cy="777240"/>
          </a:xfrm>
          <a:prstGeom prst="roundRect">
            <a:avLst>
              <a:gd name="adj" fmla="val 9412"/>
            </a:avLst>
          </a:prstGeom>
          <a:solidFill>
            <a:srgbClr val="F4F6F8"/>
          </a:solidFill>
          <a:ln w="12700">
            <a:solidFill>
              <a:srgbClr val="E2E8EE"/>
            </a:solidFill>
            <a:prstDash val="solid"/>
          </a:ln>
        </p:spPr>
      </p:sp>
      <p:sp>
        <p:nvSpPr>
          <p:cNvPr id="10" name="Text 8"/>
          <p:cNvSpPr/>
          <p:nvPr/>
        </p:nvSpPr>
        <p:spPr>
          <a:xfrm>
            <a:off x="822960" y="5806440"/>
            <a:ext cx="10515600" cy="777240"/>
          </a:xfrm>
          <a:prstGeom prst="rect">
            <a:avLst/>
          </a:prstGeom>
          <a:noFill/>
          <a:ln/>
        </p:spPr>
        <p:txBody>
          <a:bodyPr wrap="square" lIns="0" tIns="0" rIns="0" bIns="0" rtlCol="0" anchor="ctr"/>
          <a:lstStyle/>
          <a:p>
            <a:pPr indent="0" marL="0">
              <a:buNone/>
            </a:pPr>
            <a:r>
              <a:rPr lang="en-US" sz="1100" dirty="0">
                <a:solidFill>
                  <a:srgbClr val="0F2942"/>
                </a:solidFill>
                <a:latin typeface="Courier New" pitchFamily="34" charset="0"/>
                <a:ea typeface="Courier New" pitchFamily="34" charset="-122"/>
                <a:cs typeface="Courier New" pitchFamily="34" charset="-120"/>
              </a:rPr>
              <a:t>Generate with: uv run python long_history/hourly/validate.py --holdout-days 90  →  uv run python long_history/hourly/deck_charts.py</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The result, once it exists: a real day, hour by hour</a:t>
            </a:r>
            <a:endParaRPr lang="en-US" sz="31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RESERVED CHART SLOT — actual hourly demand vs. the historical-shape split, for one illustrative day.</a:t>
            </a:r>
            <a:endParaRPr lang="en-US" sz="1500" dirty="0"/>
          </a:p>
        </p:txBody>
      </p:sp>
      <p:sp>
        <p:nvSpPr>
          <p:cNvPr id="4" name="Shape 2"/>
          <p:cNvSpPr/>
          <p:nvPr/>
        </p:nvSpPr>
        <p:spPr>
          <a:xfrm>
            <a:off x="548640" y="1691640"/>
            <a:ext cx="11064240" cy="3977640"/>
          </a:xfrm>
          <a:prstGeom prst="roundRect">
            <a:avLst>
              <a:gd name="adj" fmla="val 1839"/>
            </a:avLst>
          </a:prstGeom>
          <a:solidFill>
            <a:srgbClr val="FAFBFC"/>
          </a:solidFill>
          <a:ln w="19050">
            <a:solidFill>
              <a:srgbClr val="B7C2CC"/>
            </a:solidFill>
            <a:prstDash val="dash"/>
          </a:ln>
        </p:spPr>
      </p:sp>
      <p:sp>
        <p:nvSpPr>
          <p:cNvPr id="5" name="Shape 3"/>
          <p:cNvSpPr/>
          <p:nvPr/>
        </p:nvSpPr>
        <p:spPr>
          <a:xfrm>
            <a:off x="5577840" y="2805379"/>
            <a:ext cx="1005840" cy="685800"/>
          </a:xfrm>
          <a:prstGeom prst="rect">
            <a:avLst/>
          </a:prstGeom>
          <a:solidFill>
            <a:srgbClr val="FFFFFF"/>
          </a:solidFill>
          <a:ln w="19050">
            <a:solidFill>
              <a:srgbClr val="B7C2CC"/>
            </a:solidFill>
            <a:prstDash val="solid"/>
          </a:ln>
        </p:spPr>
      </p:sp>
      <p:sp>
        <p:nvSpPr>
          <p:cNvPr id="6" name="Text 4"/>
          <p:cNvSpPr/>
          <p:nvPr/>
        </p:nvSpPr>
        <p:spPr>
          <a:xfrm>
            <a:off x="5577840" y="2805379"/>
            <a:ext cx="1005840" cy="685800"/>
          </a:xfrm>
          <a:prstGeom prst="rect">
            <a:avLst/>
          </a:prstGeom>
          <a:noFill/>
          <a:ln/>
        </p:spPr>
        <p:txBody>
          <a:bodyPr wrap="square" lIns="0" tIns="0" rIns="0" bIns="0" rtlCol="0" anchor="ctr"/>
          <a:lstStyle/>
          <a:p>
            <a:pPr algn="ctr" indent="0" marL="0">
              <a:buNone/>
            </a:pPr>
            <a:r>
              <a:rPr lang="en-US" sz="3200" b="1" dirty="0">
                <a:solidFill>
                  <a:srgbClr val="B7C2CC"/>
                </a:solidFill>
                <a:latin typeface="Cambria" pitchFamily="34" charset="0"/>
                <a:ea typeface="Cambria" pitchFamily="34" charset="-122"/>
                <a:cs typeface="Cambria" pitchFamily="34" charset="-120"/>
              </a:rPr>
              <a:t>+</a:t>
            </a:r>
            <a:endParaRPr lang="en-US" sz="3200" dirty="0"/>
          </a:p>
        </p:txBody>
      </p:sp>
      <p:sp>
        <p:nvSpPr>
          <p:cNvPr id="7" name="Text 5"/>
          <p:cNvSpPr/>
          <p:nvPr/>
        </p:nvSpPr>
        <p:spPr>
          <a:xfrm>
            <a:off x="914400" y="3919118"/>
            <a:ext cx="10332720" cy="365760"/>
          </a:xfrm>
          <a:prstGeom prst="rect">
            <a:avLst/>
          </a:prstGeom>
          <a:noFill/>
          <a:ln/>
        </p:spPr>
        <p:txBody>
          <a:bodyPr wrap="square" lIns="0" tIns="0" rIns="0" bIns="0" rtlCol="0" anchor="ctr"/>
          <a:lstStyle/>
          <a:p>
            <a:pPr algn="ctr" indent="0" marL="0">
              <a:buNone/>
            </a:pPr>
            <a:r>
              <a:rPr lang="en-US" sz="1300" b="1" dirty="0">
                <a:solidFill>
                  <a:srgbClr val="5F7183"/>
                </a:solidFill>
                <a:latin typeface="Cambria" pitchFamily="34" charset="0"/>
                <a:ea typeface="Cambria" pitchFamily="34" charset="-122"/>
                <a:cs typeface="Cambria" pitchFamily="34" charset="-120"/>
              </a:rPr>
              <a:t>Actual vs. split forecast — one day, 24 hours</a:t>
            </a:r>
            <a:endParaRPr lang="en-US" sz="1300" dirty="0"/>
          </a:p>
        </p:txBody>
      </p:sp>
      <p:sp>
        <p:nvSpPr>
          <p:cNvPr id="8" name="Text 6"/>
          <p:cNvSpPr/>
          <p:nvPr/>
        </p:nvSpPr>
        <p:spPr>
          <a:xfrm>
            <a:off x="914400" y="4284878"/>
            <a:ext cx="10332720" cy="457200"/>
          </a:xfrm>
          <a:prstGeom prst="rect">
            <a:avLst/>
          </a:prstGeom>
          <a:noFill/>
          <a:ln/>
        </p:spPr>
        <p:txBody>
          <a:bodyPr wrap="square" lIns="0" tIns="0" rIns="0" bIns="0" rtlCol="0" anchor="ctr"/>
          <a:lstStyle/>
          <a:p>
            <a:pPr algn="ctr" indent="0" marL="0">
              <a:buNone/>
            </a:pPr>
            <a:r>
              <a:rPr lang="en-US" sz="1000" i="1" dirty="0">
                <a:solidFill>
                  <a:srgbClr val="8A94A0"/>
                </a:solidFill>
                <a:latin typeface="Calibri" pitchFamily="34" charset="0"/>
                <a:ea typeface="Calibri" pitchFamily="34" charset="-122"/>
                <a:cs typeface="Calibri" pitchFamily="34" charset="-120"/>
              </a:rPr>
              <a:t>paste deck_actual_vs_split.png here once real hourly data exists</a:t>
            </a:r>
            <a:endParaRPr lang="en-US" sz="1000" dirty="0"/>
          </a:p>
        </p:txBody>
      </p:sp>
      <p:sp>
        <p:nvSpPr>
          <p:cNvPr id="9" name="Shape 7"/>
          <p:cNvSpPr/>
          <p:nvPr/>
        </p:nvSpPr>
        <p:spPr>
          <a:xfrm>
            <a:off x="548640" y="5806440"/>
            <a:ext cx="11082528" cy="777240"/>
          </a:xfrm>
          <a:prstGeom prst="roundRect">
            <a:avLst>
              <a:gd name="adj" fmla="val 9412"/>
            </a:avLst>
          </a:prstGeom>
          <a:solidFill>
            <a:srgbClr val="F4F6F8"/>
          </a:solidFill>
          <a:ln w="12700">
            <a:solidFill>
              <a:srgbClr val="E2E8EE"/>
            </a:solidFill>
            <a:prstDash val="solid"/>
          </a:ln>
        </p:spPr>
      </p:sp>
      <p:sp>
        <p:nvSpPr>
          <p:cNvPr id="10" name="Text 8"/>
          <p:cNvSpPr/>
          <p:nvPr/>
        </p:nvSpPr>
        <p:spPr>
          <a:xfrm>
            <a:off x="822960" y="5806440"/>
            <a:ext cx="10515600" cy="777240"/>
          </a:xfrm>
          <a:prstGeom prst="rect">
            <a:avLst/>
          </a:prstGeom>
          <a:noFill/>
          <a:ln/>
        </p:spPr>
        <p:txBody>
          <a:bodyPr wrap="square" lIns="0" tIns="0" rIns="0" bIns="0" rtlCol="0" anchor="ctr"/>
          <a:lstStyle/>
          <a:p>
            <a:pPr indent="0" marL="0">
              <a:buNone/>
            </a:pPr>
            <a:r>
              <a:rPr lang="en-US" sz="1000" dirty="0">
                <a:solidFill>
                  <a:srgbClr val="0F2942"/>
                </a:solidFill>
                <a:latin typeface="Courier New" pitchFamily="34" charset="0"/>
                <a:ea typeface="Courier New" pitchFamily="34" charset="-122"/>
                <a:cs typeface="Courier New" pitchFamily="34" charset="-120"/>
              </a:rPr>
              <a:t>Generate with: uv run python long_history/hourly/split.py --run-date &lt;date&gt;  →  uv run python long_history/hourly/deck_charts.py --hourly-pred &lt;predictions_hourly.csv&gt;</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2942"/>
        </a:solidFill>
      </p:bgPr>
    </p:bg>
    <p:spTree>
      <p:nvGrpSpPr>
        <p:cNvPr id="1" name=""/>
        <p:cNvGrpSpPr/>
        <p:nvPr/>
      </p:nvGrpSpPr>
      <p:grpSpPr>
        <a:xfrm>
          <a:off x="0" y="0"/>
          <a:ext cx="0" cy="0"/>
          <a:chOff x="0" y="0"/>
          <a:chExt cx="0" cy="0"/>
        </a:xfrm>
      </p:grpSpPr>
      <p:sp>
        <p:nvSpPr>
          <p:cNvPr id="2" name="Shape 0"/>
          <p:cNvSpPr/>
          <p:nvPr/>
        </p:nvSpPr>
        <p:spPr>
          <a:xfrm>
            <a:off x="822960" y="2286000"/>
            <a:ext cx="1051560" cy="1051560"/>
          </a:xfrm>
          <a:prstGeom prst="ellipse">
            <a:avLst/>
          </a:prstGeom>
          <a:solidFill>
            <a:srgbClr val="E8B547"/>
          </a:solidFill>
          <a:ln/>
        </p:spPr>
      </p:sp>
      <p:sp>
        <p:nvSpPr>
          <p:cNvPr id="3" name="Text 1"/>
          <p:cNvSpPr/>
          <p:nvPr/>
        </p:nvSpPr>
        <p:spPr>
          <a:xfrm>
            <a:off x="822960" y="2286000"/>
            <a:ext cx="1051560" cy="1051560"/>
          </a:xfrm>
          <a:prstGeom prst="rect">
            <a:avLst/>
          </a:prstGeom>
          <a:noFill/>
          <a:ln/>
        </p:spPr>
        <p:txBody>
          <a:bodyPr wrap="square" lIns="0" tIns="0" rIns="0" bIns="0" rtlCol="0" anchor="ctr"/>
          <a:lstStyle/>
          <a:p>
            <a:pPr algn="ctr" indent="0" marL="0">
              <a:buNone/>
            </a:pPr>
            <a:r>
              <a:rPr lang="en-US" sz="4000" b="1" dirty="0">
                <a:solidFill>
                  <a:srgbClr val="0F2942"/>
                </a:solidFill>
                <a:latin typeface="Cambria" pitchFamily="34" charset="0"/>
                <a:ea typeface="Cambria" pitchFamily="34" charset="-122"/>
                <a:cs typeface="Cambria" pitchFamily="34" charset="-120"/>
              </a:rPr>
              <a:t>7</a:t>
            </a:r>
            <a:endParaRPr lang="en-US" sz="4000" dirty="0"/>
          </a:p>
        </p:txBody>
      </p:sp>
      <p:sp>
        <p:nvSpPr>
          <p:cNvPr id="4" name="Text 2"/>
          <p:cNvSpPr/>
          <p:nvPr/>
        </p:nvSpPr>
        <p:spPr>
          <a:xfrm>
            <a:off x="2240280" y="2194560"/>
            <a:ext cx="896112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Running it, and what it cannot do</a:t>
            </a:r>
            <a:endParaRPr lang="en-US" sz="3800" dirty="0"/>
          </a:p>
        </p:txBody>
      </p:sp>
      <p:sp>
        <p:nvSpPr>
          <p:cNvPr id="5" name="Text 3"/>
          <p:cNvSpPr/>
          <p:nvPr/>
        </p:nvSpPr>
        <p:spPr>
          <a:xfrm>
            <a:off x="2286000" y="3127248"/>
            <a:ext cx="8778240" cy="777240"/>
          </a:xfrm>
          <a:prstGeom prst="rect">
            <a:avLst/>
          </a:prstGeom>
          <a:noFill/>
          <a:ln/>
        </p:spPr>
        <p:txBody>
          <a:bodyPr wrap="square" lIns="0" tIns="0" rIns="0" bIns="0" rtlCol="0" anchor="t"/>
          <a:lstStyle/>
          <a:p>
            <a:pPr indent="0" marL="0">
              <a:buNone/>
            </a:pPr>
            <a:r>
              <a:rPr lang="en-US" sz="1650" dirty="0">
                <a:solidFill>
                  <a:srgbClr val="AEC3D6"/>
                </a:solidFill>
                <a:latin typeface="Calibri" pitchFamily="34" charset="0"/>
                <a:ea typeface="Calibri" pitchFamily="34" charset="-122"/>
                <a:cs typeface="Calibri" pitchFamily="34" charset="-120"/>
              </a:rPr>
              <a:t>How to use the pipeline — and the limits you should know before relying on it.</a:t>
            </a:r>
            <a:endParaRPr lang="en-US" sz="16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The pipeline: one command, three steps</a:t>
            </a:r>
            <a:endParaRPr lang="en-US" sz="31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Each step must pass before the next runs, so you cannot forecast from bad data.</a:t>
            </a:r>
            <a:endParaRPr lang="en-US" sz="1500" dirty="0"/>
          </a:p>
        </p:txBody>
      </p:sp>
      <p:sp>
        <p:nvSpPr>
          <p:cNvPr id="4" name="Shape 2"/>
          <p:cNvSpPr/>
          <p:nvPr/>
        </p:nvSpPr>
        <p:spPr>
          <a:xfrm>
            <a:off x="548640" y="1691640"/>
            <a:ext cx="3593592" cy="2834640"/>
          </a:xfrm>
          <a:prstGeom prst="roundRect">
            <a:avLst>
              <a:gd name="adj" fmla="val 2581"/>
            </a:avLst>
          </a:prstGeom>
          <a:solidFill>
            <a:srgbClr val="F4F6F8"/>
          </a:solidFill>
          <a:ln w="12700">
            <a:solidFill>
              <a:srgbClr val="E2E8EE"/>
            </a:solidFill>
            <a:prstDash val="solid"/>
          </a:ln>
        </p:spPr>
      </p:sp>
      <p:sp>
        <p:nvSpPr>
          <p:cNvPr id="5" name="Shape 3"/>
          <p:cNvSpPr/>
          <p:nvPr/>
        </p:nvSpPr>
        <p:spPr>
          <a:xfrm>
            <a:off x="822960" y="1920240"/>
            <a:ext cx="502920" cy="502920"/>
          </a:xfrm>
          <a:prstGeom prst="ellipse">
            <a:avLst/>
          </a:prstGeom>
          <a:solidFill>
            <a:srgbClr val="2E8BA8"/>
          </a:solidFill>
          <a:ln/>
        </p:spPr>
      </p:sp>
      <p:sp>
        <p:nvSpPr>
          <p:cNvPr id="6" name="Text 4"/>
          <p:cNvSpPr/>
          <p:nvPr/>
        </p:nvSpPr>
        <p:spPr>
          <a:xfrm>
            <a:off x="822960" y="1920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822960" y="2560320"/>
            <a:ext cx="3063240" cy="365760"/>
          </a:xfrm>
          <a:prstGeom prst="rect">
            <a:avLst/>
          </a:prstGeom>
          <a:noFill/>
          <a:ln/>
        </p:spPr>
        <p:txBody>
          <a:bodyPr wrap="square" lIns="0" tIns="0" rIns="0" bIns="0" rtlCol="0" anchor="ctr"/>
          <a:lstStyle/>
          <a:p>
            <a:pPr indent="0" marL="0">
              <a:buNone/>
            </a:pPr>
            <a:r>
              <a:rPr lang="en-US" sz="1800" b="1" dirty="0">
                <a:solidFill>
                  <a:srgbClr val="0F2942"/>
                </a:solidFill>
                <a:latin typeface="Cambria" pitchFamily="34" charset="0"/>
                <a:ea typeface="Cambria" pitchFamily="34" charset="-122"/>
                <a:cs typeface="Cambria" pitchFamily="34" charset="-120"/>
              </a:rPr>
              <a:t>Validate</a:t>
            </a:r>
            <a:endParaRPr lang="en-US" sz="1800" dirty="0"/>
          </a:p>
        </p:txBody>
      </p:sp>
      <p:sp>
        <p:nvSpPr>
          <p:cNvPr id="8" name="Text 6"/>
          <p:cNvSpPr/>
          <p:nvPr/>
        </p:nvSpPr>
        <p:spPr>
          <a:xfrm>
            <a:off x="822960" y="2971800"/>
            <a:ext cx="3063240" cy="777240"/>
          </a:xfrm>
          <a:prstGeom prst="rect">
            <a:avLst/>
          </a:prstGeom>
          <a:noFill/>
          <a:ln/>
        </p:spPr>
        <p:txBody>
          <a:bodyPr wrap="square" lIns="0" tIns="0" rIns="0" bIns="0" rtlCol="0" anchor="ctr"/>
          <a:lstStyle/>
          <a:p>
            <a:pPr indent="0" marL="0">
              <a:lnSpc>
                <a:spcPct val="120000"/>
              </a:lnSpc>
              <a:buNone/>
            </a:pPr>
            <a:r>
              <a:rPr lang="en-US" sz="1200" dirty="0">
                <a:solidFill>
                  <a:srgbClr val="0F2942"/>
                </a:solidFill>
                <a:latin typeface="Calibri" pitchFamily="34" charset="0"/>
                <a:ea typeface="Calibri" pitchFamily="34" charset="-122"/>
                <a:cs typeface="Calibri" pitchFamily="34" charset="-120"/>
              </a:rPr>
              <a:t>Checks the data file for gaps, duplicates and impossible values.</a:t>
            </a:r>
            <a:endParaRPr lang="en-US" sz="1200" dirty="0"/>
          </a:p>
        </p:txBody>
      </p:sp>
      <p:sp>
        <p:nvSpPr>
          <p:cNvPr id="9" name="Text 7"/>
          <p:cNvSpPr/>
          <p:nvPr/>
        </p:nvSpPr>
        <p:spPr>
          <a:xfrm>
            <a:off x="822960" y="3749040"/>
            <a:ext cx="3063240" cy="685800"/>
          </a:xfrm>
          <a:prstGeom prst="rect">
            <a:avLst/>
          </a:prstGeom>
          <a:noFill/>
          <a:ln/>
        </p:spPr>
        <p:txBody>
          <a:bodyPr wrap="square" lIns="0" tIns="0" rIns="0" bIns="0" rtlCol="0" anchor="ctr"/>
          <a:lstStyle/>
          <a:p>
            <a:pPr indent="0" marL="0">
              <a:lnSpc>
                <a:spcPct val="115000"/>
              </a:lnSpc>
              <a:buNone/>
            </a:pPr>
            <a:r>
              <a:rPr lang="en-US" sz="1100" i="1" dirty="0">
                <a:solidFill>
                  <a:srgbClr val="5F7183"/>
                </a:solidFill>
                <a:latin typeface="Calibri" pitchFamily="34" charset="0"/>
                <a:ea typeface="Calibri" pitchFamily="34" charset="-122"/>
                <a:cs typeface="Calibri" pitchFamily="34" charset="-120"/>
              </a:rPr>
              <a:t>A single missing day silently corrupts every backward-looking input. This is a hard gate.</a:t>
            </a:r>
            <a:endParaRPr lang="en-US" sz="1100" dirty="0"/>
          </a:p>
        </p:txBody>
      </p:sp>
      <p:sp>
        <p:nvSpPr>
          <p:cNvPr id="10" name="Shape 8"/>
          <p:cNvSpPr/>
          <p:nvPr/>
        </p:nvSpPr>
        <p:spPr>
          <a:xfrm>
            <a:off x="4288536" y="1691640"/>
            <a:ext cx="3593592" cy="2834640"/>
          </a:xfrm>
          <a:prstGeom prst="roundRect">
            <a:avLst>
              <a:gd name="adj" fmla="val 2581"/>
            </a:avLst>
          </a:prstGeom>
          <a:solidFill>
            <a:srgbClr val="F4F6F8"/>
          </a:solidFill>
          <a:ln w="12700">
            <a:solidFill>
              <a:srgbClr val="E2E8EE"/>
            </a:solidFill>
            <a:prstDash val="solid"/>
          </a:ln>
        </p:spPr>
      </p:sp>
      <p:sp>
        <p:nvSpPr>
          <p:cNvPr id="11" name="Shape 9"/>
          <p:cNvSpPr/>
          <p:nvPr/>
        </p:nvSpPr>
        <p:spPr>
          <a:xfrm>
            <a:off x="4562856" y="1920240"/>
            <a:ext cx="502920" cy="502920"/>
          </a:xfrm>
          <a:prstGeom prst="ellipse">
            <a:avLst/>
          </a:prstGeom>
          <a:solidFill>
            <a:srgbClr val="E8B547"/>
          </a:solidFill>
          <a:ln/>
        </p:spPr>
      </p:sp>
      <p:sp>
        <p:nvSpPr>
          <p:cNvPr id="12" name="Text 10"/>
          <p:cNvSpPr/>
          <p:nvPr/>
        </p:nvSpPr>
        <p:spPr>
          <a:xfrm>
            <a:off x="4562856" y="1920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4562856" y="2560320"/>
            <a:ext cx="3063240" cy="365760"/>
          </a:xfrm>
          <a:prstGeom prst="rect">
            <a:avLst/>
          </a:prstGeom>
          <a:noFill/>
          <a:ln/>
        </p:spPr>
        <p:txBody>
          <a:bodyPr wrap="square" lIns="0" tIns="0" rIns="0" bIns="0" rtlCol="0" anchor="ctr"/>
          <a:lstStyle/>
          <a:p>
            <a:pPr indent="0" marL="0">
              <a:buNone/>
            </a:pPr>
            <a:r>
              <a:rPr lang="en-US" sz="1800" b="1" dirty="0">
                <a:solidFill>
                  <a:srgbClr val="0F2942"/>
                </a:solidFill>
                <a:latin typeface="Cambria" pitchFamily="34" charset="0"/>
                <a:ea typeface="Cambria" pitchFamily="34" charset="-122"/>
                <a:cs typeface="Cambria" pitchFamily="34" charset="-120"/>
              </a:rPr>
              <a:t>Evaluate</a:t>
            </a:r>
            <a:endParaRPr lang="en-US" sz="1800" dirty="0"/>
          </a:p>
        </p:txBody>
      </p:sp>
      <p:sp>
        <p:nvSpPr>
          <p:cNvPr id="14" name="Text 12"/>
          <p:cNvSpPr/>
          <p:nvPr/>
        </p:nvSpPr>
        <p:spPr>
          <a:xfrm>
            <a:off x="4562856" y="2971800"/>
            <a:ext cx="3063240" cy="777240"/>
          </a:xfrm>
          <a:prstGeom prst="rect">
            <a:avLst/>
          </a:prstGeom>
          <a:noFill/>
          <a:ln/>
        </p:spPr>
        <p:txBody>
          <a:bodyPr wrap="square" lIns="0" tIns="0" rIns="0" bIns="0" rtlCol="0" anchor="ctr"/>
          <a:lstStyle/>
          <a:p>
            <a:pPr indent="0" marL="0">
              <a:lnSpc>
                <a:spcPct val="120000"/>
              </a:lnSpc>
              <a:buNone/>
            </a:pPr>
            <a:r>
              <a:rPr lang="en-US" sz="1200" dirty="0">
                <a:solidFill>
                  <a:srgbClr val="0F2942"/>
                </a:solidFill>
                <a:latin typeface="Calibri" pitchFamily="34" charset="0"/>
                <a:ea typeface="Calibri" pitchFamily="34" charset="-122"/>
                <a:cs typeface="Calibri" pitchFamily="34" charset="-120"/>
              </a:rPr>
              <a:t>Measures accuracy over a period and lead time you choose.</a:t>
            </a:r>
            <a:endParaRPr lang="en-US" sz="1200" dirty="0"/>
          </a:p>
        </p:txBody>
      </p:sp>
      <p:sp>
        <p:nvSpPr>
          <p:cNvPr id="15" name="Text 13"/>
          <p:cNvSpPr/>
          <p:nvPr/>
        </p:nvSpPr>
        <p:spPr>
          <a:xfrm>
            <a:off x="4562856" y="3749040"/>
            <a:ext cx="3063240" cy="685800"/>
          </a:xfrm>
          <a:prstGeom prst="rect">
            <a:avLst/>
          </a:prstGeom>
          <a:noFill/>
          <a:ln/>
        </p:spPr>
        <p:txBody>
          <a:bodyPr wrap="square" lIns="0" tIns="0" rIns="0" bIns="0" rtlCol="0" anchor="ctr"/>
          <a:lstStyle/>
          <a:p>
            <a:pPr indent="0" marL="0">
              <a:lnSpc>
                <a:spcPct val="115000"/>
              </a:lnSpc>
              <a:buNone/>
            </a:pPr>
            <a:r>
              <a:rPr lang="en-US" sz="1100" i="1" dirty="0">
                <a:solidFill>
                  <a:srgbClr val="5F7183"/>
                </a:solidFill>
                <a:latin typeface="Calibri" pitchFamily="34" charset="0"/>
                <a:ea typeface="Calibri" pitchFamily="34" charset="-122"/>
                <a:cs typeface="Calibri" pitchFamily="34" charset="-120"/>
              </a:rPr>
              <a:t>Produces the charts in this deck, plus a per-holiday breakdown.</a:t>
            </a:r>
            <a:endParaRPr lang="en-US" sz="1100" dirty="0"/>
          </a:p>
        </p:txBody>
      </p:sp>
      <p:sp>
        <p:nvSpPr>
          <p:cNvPr id="16" name="Shape 14"/>
          <p:cNvSpPr/>
          <p:nvPr/>
        </p:nvSpPr>
        <p:spPr>
          <a:xfrm>
            <a:off x="8028432" y="1691640"/>
            <a:ext cx="3593592" cy="2834640"/>
          </a:xfrm>
          <a:prstGeom prst="roundRect">
            <a:avLst>
              <a:gd name="adj" fmla="val 2581"/>
            </a:avLst>
          </a:prstGeom>
          <a:solidFill>
            <a:srgbClr val="F4F6F8"/>
          </a:solidFill>
          <a:ln w="12700">
            <a:solidFill>
              <a:srgbClr val="E2E8EE"/>
            </a:solidFill>
            <a:prstDash val="solid"/>
          </a:ln>
        </p:spPr>
      </p:sp>
      <p:sp>
        <p:nvSpPr>
          <p:cNvPr id="17" name="Shape 15"/>
          <p:cNvSpPr/>
          <p:nvPr/>
        </p:nvSpPr>
        <p:spPr>
          <a:xfrm>
            <a:off x="8302752" y="1920240"/>
            <a:ext cx="502920" cy="502920"/>
          </a:xfrm>
          <a:prstGeom prst="ellipse">
            <a:avLst/>
          </a:prstGeom>
          <a:solidFill>
            <a:srgbClr val="2FA87C"/>
          </a:solidFill>
          <a:ln/>
        </p:spPr>
      </p:sp>
      <p:sp>
        <p:nvSpPr>
          <p:cNvPr id="18" name="Text 16"/>
          <p:cNvSpPr/>
          <p:nvPr/>
        </p:nvSpPr>
        <p:spPr>
          <a:xfrm>
            <a:off x="8302752" y="1920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p:nvPr/>
        </p:nvSpPr>
        <p:spPr>
          <a:xfrm>
            <a:off x="8302752" y="2560320"/>
            <a:ext cx="3063240" cy="365760"/>
          </a:xfrm>
          <a:prstGeom prst="rect">
            <a:avLst/>
          </a:prstGeom>
          <a:noFill/>
          <a:ln/>
        </p:spPr>
        <p:txBody>
          <a:bodyPr wrap="square" lIns="0" tIns="0" rIns="0" bIns="0" rtlCol="0" anchor="ctr"/>
          <a:lstStyle/>
          <a:p>
            <a:pPr indent="0" marL="0">
              <a:buNone/>
            </a:pPr>
            <a:r>
              <a:rPr lang="en-US" sz="1800" b="1" dirty="0">
                <a:solidFill>
                  <a:srgbClr val="0F2942"/>
                </a:solidFill>
                <a:latin typeface="Cambria" pitchFamily="34" charset="0"/>
                <a:ea typeface="Cambria" pitchFamily="34" charset="-122"/>
                <a:cs typeface="Cambria" pitchFamily="34" charset="-120"/>
              </a:rPr>
              <a:t>Forecast</a:t>
            </a:r>
            <a:endParaRPr lang="en-US" sz="1800" dirty="0"/>
          </a:p>
        </p:txBody>
      </p:sp>
      <p:sp>
        <p:nvSpPr>
          <p:cNvPr id="20" name="Text 18"/>
          <p:cNvSpPr/>
          <p:nvPr/>
        </p:nvSpPr>
        <p:spPr>
          <a:xfrm>
            <a:off x="8302752" y="2971800"/>
            <a:ext cx="3063240" cy="777240"/>
          </a:xfrm>
          <a:prstGeom prst="rect">
            <a:avLst/>
          </a:prstGeom>
          <a:noFill/>
          <a:ln/>
        </p:spPr>
        <p:txBody>
          <a:bodyPr wrap="square" lIns="0" tIns="0" rIns="0" bIns="0" rtlCol="0" anchor="ctr"/>
          <a:lstStyle/>
          <a:p>
            <a:pPr indent="0" marL="0">
              <a:lnSpc>
                <a:spcPct val="120000"/>
              </a:lnSpc>
              <a:buNone/>
            </a:pPr>
            <a:r>
              <a:rPr lang="en-US" sz="1200" dirty="0">
                <a:solidFill>
                  <a:srgbClr val="0F2942"/>
                </a:solidFill>
                <a:latin typeface="Calibri" pitchFamily="34" charset="0"/>
                <a:ea typeface="Calibri" pitchFamily="34" charset="-122"/>
                <a:cs typeface="Calibri" pitchFamily="34" charset="-120"/>
              </a:rPr>
              <a:t>Produces the real 28-day forecast from the latest data.</a:t>
            </a:r>
            <a:endParaRPr lang="en-US" sz="1200" dirty="0"/>
          </a:p>
        </p:txBody>
      </p:sp>
      <p:sp>
        <p:nvSpPr>
          <p:cNvPr id="21" name="Text 19"/>
          <p:cNvSpPr/>
          <p:nvPr/>
        </p:nvSpPr>
        <p:spPr>
          <a:xfrm>
            <a:off x="8302752" y="3749040"/>
            <a:ext cx="3063240" cy="685800"/>
          </a:xfrm>
          <a:prstGeom prst="rect">
            <a:avLst/>
          </a:prstGeom>
          <a:noFill/>
          <a:ln/>
        </p:spPr>
        <p:txBody>
          <a:bodyPr wrap="square" lIns="0" tIns="0" rIns="0" bIns="0" rtlCol="0" anchor="ctr"/>
          <a:lstStyle/>
          <a:p>
            <a:pPr indent="0" marL="0">
              <a:lnSpc>
                <a:spcPct val="115000"/>
              </a:lnSpc>
              <a:buNone/>
            </a:pPr>
            <a:r>
              <a:rPr lang="en-US" sz="1100" i="1" dirty="0">
                <a:solidFill>
                  <a:srgbClr val="5F7183"/>
                </a:solidFill>
                <a:latin typeface="Calibri" pitchFamily="34" charset="0"/>
                <a:ea typeface="Calibri" pitchFamily="34" charset="-122"/>
                <a:cs typeface="Calibri" pitchFamily="34" charset="-120"/>
              </a:rPr>
              <a:t>Writes predictions, a chart, and a record of every setting used.</a:t>
            </a:r>
            <a:endParaRPr lang="en-US" sz="1100" dirty="0"/>
          </a:p>
        </p:txBody>
      </p:sp>
      <p:sp>
        <p:nvSpPr>
          <p:cNvPr id="22" name="Shape 20"/>
          <p:cNvSpPr/>
          <p:nvPr/>
        </p:nvSpPr>
        <p:spPr>
          <a:xfrm>
            <a:off x="548640" y="4754880"/>
            <a:ext cx="11082528" cy="658368"/>
          </a:xfrm>
          <a:prstGeom prst="roundRect">
            <a:avLst>
              <a:gd name="adj" fmla="val 8333"/>
            </a:avLst>
          </a:prstGeom>
          <a:solidFill>
            <a:srgbClr val="0F2942"/>
          </a:solidFill>
          <a:ln/>
        </p:spPr>
      </p:sp>
      <p:sp>
        <p:nvSpPr>
          <p:cNvPr id="23" name="Text 21"/>
          <p:cNvSpPr/>
          <p:nvPr/>
        </p:nvSpPr>
        <p:spPr>
          <a:xfrm>
            <a:off x="822960" y="4754880"/>
            <a:ext cx="10515600" cy="658368"/>
          </a:xfrm>
          <a:prstGeom prst="rect">
            <a:avLst/>
          </a:prstGeom>
          <a:noFill/>
          <a:ln/>
        </p:spPr>
        <p:txBody>
          <a:bodyPr wrap="square" lIns="0" tIns="0" rIns="0" bIns="0" rtlCol="0" anchor="ctr"/>
          <a:lstStyle/>
          <a:p>
            <a:pPr indent="0" marL="0">
              <a:buNone/>
            </a:pPr>
            <a:r>
              <a:rPr lang="en-US" sz="1400" dirty="0">
                <a:solidFill>
                  <a:srgbClr val="9FE0C8"/>
                </a:solidFill>
                <a:latin typeface="Courier New" pitchFamily="34" charset="0"/>
                <a:ea typeface="Courier New" pitchFamily="34" charset="-122"/>
                <a:cs typeface="Courier New" pitchFamily="34" charset="-120"/>
              </a:rPr>
              <a:t>uv run python long_history/run_pipeline.py</a:t>
            </a:r>
            <a:endParaRPr lang="en-US" sz="1400" dirty="0"/>
          </a:p>
        </p:txBody>
      </p:sp>
      <p:sp>
        <p:nvSpPr>
          <p:cNvPr id="24" name="Shape 22"/>
          <p:cNvSpPr/>
          <p:nvPr/>
        </p:nvSpPr>
        <p:spPr>
          <a:xfrm>
            <a:off x="548640" y="5532120"/>
            <a:ext cx="11082528" cy="914400"/>
          </a:xfrm>
          <a:prstGeom prst="roundRect">
            <a:avLst>
              <a:gd name="adj" fmla="val 8000"/>
            </a:avLst>
          </a:prstGeom>
          <a:solidFill>
            <a:srgbClr val="EAF2F5"/>
          </a:solidFill>
          <a:ln w="12700">
            <a:solidFill>
              <a:srgbClr val="E2E8EE"/>
            </a:solidFill>
            <a:prstDash val="solid"/>
          </a:ln>
        </p:spPr>
      </p:sp>
      <p:sp>
        <p:nvSpPr>
          <p:cNvPr id="25" name="Text 23"/>
          <p:cNvSpPr/>
          <p:nvPr/>
        </p:nvSpPr>
        <p:spPr>
          <a:xfrm>
            <a:off x="868680" y="5532120"/>
            <a:ext cx="10424160" cy="914400"/>
          </a:xfrm>
          <a:prstGeom prst="rect">
            <a:avLst/>
          </a:prstGeom>
          <a:noFill/>
          <a:ln/>
        </p:spPr>
        <p:txBody>
          <a:bodyPr wrap="square" lIns="0" tIns="0" rIns="0" bIns="0" rtlCol="0" anchor="ctr"/>
          <a:lstStyle/>
          <a:p>
            <a:pPr indent="0" marL="0">
              <a:buNone/>
            </a:pPr>
            <a:r>
              <a:rPr lang="en-US" sz="1250" dirty="0">
                <a:solidFill>
                  <a:srgbClr val="0F2942"/>
                </a:solidFill>
                <a:latin typeface="Calibri" pitchFamily="34" charset="0"/>
                <a:ea typeface="Calibri" pitchFamily="34" charset="-122"/>
                <a:cs typeface="Calibri" pitchFamily="34" charset="-120"/>
              </a:rPr>
              <a:t>The feature table takes about four minutes to build on eleven years, so it is cached. Later runs load it in a tenth of a second — and the cache invalidates itself automatically if the feature code changes.</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What it cannot do — read this before relying on it</a:t>
            </a:r>
            <a:endParaRPr lang="en-US" sz="31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Stated plainly, because knowing the limits is part of using it safely.</a:t>
            </a:r>
            <a:endParaRPr lang="en-US" sz="1500" dirty="0"/>
          </a:p>
        </p:txBody>
      </p:sp>
      <p:sp>
        <p:nvSpPr>
          <p:cNvPr id="4" name="Shape 2"/>
          <p:cNvSpPr/>
          <p:nvPr/>
        </p:nvSpPr>
        <p:spPr>
          <a:xfrm>
            <a:off x="548640" y="1645920"/>
            <a:ext cx="11082528" cy="1143000"/>
          </a:xfrm>
          <a:prstGeom prst="roundRect">
            <a:avLst>
              <a:gd name="adj" fmla="val 6400"/>
            </a:avLst>
          </a:prstGeom>
          <a:solidFill>
            <a:srgbClr val="F7E9E9"/>
          </a:solidFill>
          <a:ln w="12700">
            <a:solidFill>
              <a:srgbClr val="E2E8EE"/>
            </a:solidFill>
            <a:prstDash val="solid"/>
          </a:ln>
        </p:spPr>
      </p:sp>
      <p:sp>
        <p:nvSpPr>
          <p:cNvPr id="5" name="Shape 3"/>
          <p:cNvSpPr/>
          <p:nvPr/>
        </p:nvSpPr>
        <p:spPr>
          <a:xfrm>
            <a:off x="822960" y="1965960"/>
            <a:ext cx="475488" cy="475488"/>
          </a:xfrm>
          <a:prstGeom prst="ellipse">
            <a:avLst/>
          </a:prstGeom>
          <a:solidFill>
            <a:srgbClr val="C74B4B"/>
          </a:solidFill>
          <a:ln/>
        </p:spPr>
      </p:sp>
      <p:sp>
        <p:nvSpPr>
          <p:cNvPr id="6" name="Text 4"/>
          <p:cNvSpPr/>
          <p:nvPr/>
        </p:nvSpPr>
        <p:spPr>
          <a:xfrm>
            <a:off x="822960" y="196596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t>
            </a:r>
            <a:endParaRPr lang="en-US" sz="1700" dirty="0"/>
          </a:p>
        </p:txBody>
      </p:sp>
      <p:sp>
        <p:nvSpPr>
          <p:cNvPr id="7" name="Text 5"/>
          <p:cNvSpPr/>
          <p:nvPr/>
        </p:nvSpPr>
        <p:spPr>
          <a:xfrm>
            <a:off x="1481328" y="1810512"/>
            <a:ext cx="9921240" cy="347472"/>
          </a:xfrm>
          <a:prstGeom prst="rect">
            <a:avLst/>
          </a:prstGeom>
          <a:noFill/>
          <a:ln/>
        </p:spPr>
        <p:txBody>
          <a:bodyPr wrap="square" lIns="0" tIns="0" rIns="0" bIns="0" rtlCol="0" anchor="ctr"/>
          <a:lstStyle/>
          <a:p>
            <a:pPr indent="0" marL="0">
              <a:buNone/>
            </a:pPr>
            <a:r>
              <a:rPr lang="en-US" sz="1600" b="1" dirty="0">
                <a:solidFill>
                  <a:srgbClr val="0F2942"/>
                </a:solidFill>
                <a:latin typeface="Cambria" pitchFamily="34" charset="0"/>
                <a:ea typeface="Cambria" pitchFamily="34" charset="-122"/>
                <a:cs typeface="Cambria" pitchFamily="34" charset="-120"/>
              </a:rPr>
              <a:t>The high/low range is too narrow</a:t>
            </a:r>
            <a:endParaRPr lang="en-US" sz="1600" dirty="0"/>
          </a:p>
        </p:txBody>
      </p:sp>
      <p:sp>
        <p:nvSpPr>
          <p:cNvPr id="8" name="Text 6"/>
          <p:cNvSpPr/>
          <p:nvPr/>
        </p:nvSpPr>
        <p:spPr>
          <a:xfrm>
            <a:off x="1481328" y="2157984"/>
            <a:ext cx="9921240" cy="566928"/>
          </a:xfrm>
          <a:prstGeom prst="rect">
            <a:avLst/>
          </a:prstGeom>
          <a:noFill/>
          <a:ln/>
        </p:spPr>
        <p:txBody>
          <a:bodyPr wrap="square" lIns="0" tIns="0" rIns="0" bIns="0" rtlCol="0" anchor="ctr"/>
          <a:lstStyle/>
          <a:p>
            <a:pPr indent="0" marL="0">
              <a:lnSpc>
                <a:spcPct val="115000"/>
              </a:lnSpc>
              <a:buNone/>
            </a:pPr>
            <a:r>
              <a:rPr lang="en-US" sz="1250" dirty="0">
                <a:solidFill>
                  <a:srgbClr val="5F7183"/>
                </a:solidFill>
                <a:latin typeface="Calibri" pitchFamily="34" charset="0"/>
                <a:ea typeface="Calibri" pitchFamily="34" charset="-122"/>
                <a:cs typeface="Calibri" pitchFamily="34" charset="-120"/>
              </a:rPr>
              <a:t>The P10–P90 band should contain the real answer 80% of the time. Measured, it manages 46–54%. Treat it as a rough signal, not a guarantee.</a:t>
            </a:r>
            <a:endParaRPr lang="en-US" sz="1250" dirty="0"/>
          </a:p>
        </p:txBody>
      </p:sp>
      <p:sp>
        <p:nvSpPr>
          <p:cNvPr id="9" name="Shape 7"/>
          <p:cNvSpPr/>
          <p:nvPr/>
        </p:nvSpPr>
        <p:spPr>
          <a:xfrm>
            <a:off x="548640" y="2880360"/>
            <a:ext cx="11082528" cy="1143000"/>
          </a:xfrm>
          <a:prstGeom prst="roundRect">
            <a:avLst>
              <a:gd name="adj" fmla="val 6400"/>
            </a:avLst>
          </a:prstGeom>
          <a:solidFill>
            <a:srgbClr val="FBF6E9"/>
          </a:solidFill>
          <a:ln w="12700">
            <a:solidFill>
              <a:srgbClr val="E2E8EE"/>
            </a:solidFill>
            <a:prstDash val="solid"/>
          </a:ln>
        </p:spPr>
      </p:sp>
      <p:sp>
        <p:nvSpPr>
          <p:cNvPr id="10" name="Shape 8"/>
          <p:cNvSpPr/>
          <p:nvPr/>
        </p:nvSpPr>
        <p:spPr>
          <a:xfrm>
            <a:off x="822960" y="3200400"/>
            <a:ext cx="475488" cy="475488"/>
          </a:xfrm>
          <a:prstGeom prst="ellipse">
            <a:avLst/>
          </a:prstGeom>
          <a:solidFill>
            <a:srgbClr val="E8B547"/>
          </a:solidFill>
          <a:ln/>
        </p:spPr>
      </p:sp>
      <p:sp>
        <p:nvSpPr>
          <p:cNvPr id="11" name="Text 9"/>
          <p:cNvSpPr/>
          <p:nvPr/>
        </p:nvSpPr>
        <p:spPr>
          <a:xfrm>
            <a:off x="822960" y="320040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t>
            </a:r>
            <a:endParaRPr lang="en-US" sz="1700" dirty="0"/>
          </a:p>
        </p:txBody>
      </p:sp>
      <p:sp>
        <p:nvSpPr>
          <p:cNvPr id="12" name="Text 10"/>
          <p:cNvSpPr/>
          <p:nvPr/>
        </p:nvSpPr>
        <p:spPr>
          <a:xfrm>
            <a:off x="1481328" y="3044952"/>
            <a:ext cx="9921240" cy="347472"/>
          </a:xfrm>
          <a:prstGeom prst="rect">
            <a:avLst/>
          </a:prstGeom>
          <a:noFill/>
          <a:ln/>
        </p:spPr>
        <p:txBody>
          <a:bodyPr wrap="square" lIns="0" tIns="0" rIns="0" bIns="0" rtlCol="0" anchor="ctr"/>
          <a:lstStyle/>
          <a:p>
            <a:pPr indent="0" marL="0">
              <a:buNone/>
            </a:pPr>
            <a:r>
              <a:rPr lang="en-US" sz="1600" b="1" dirty="0">
                <a:solidFill>
                  <a:srgbClr val="0F2942"/>
                </a:solidFill>
                <a:latin typeface="Cambria" pitchFamily="34" charset="0"/>
                <a:ea typeface="Cambria" pitchFamily="34" charset="-122"/>
                <a:cs typeface="Cambria" pitchFamily="34" charset="-120"/>
              </a:rPr>
              <a:t>It cannot see one-off events</a:t>
            </a:r>
            <a:endParaRPr lang="en-US" sz="1600" dirty="0"/>
          </a:p>
        </p:txBody>
      </p:sp>
      <p:sp>
        <p:nvSpPr>
          <p:cNvPr id="13" name="Text 11"/>
          <p:cNvSpPr/>
          <p:nvPr/>
        </p:nvSpPr>
        <p:spPr>
          <a:xfrm>
            <a:off x="1481328" y="3392424"/>
            <a:ext cx="9921240" cy="566928"/>
          </a:xfrm>
          <a:prstGeom prst="rect">
            <a:avLst/>
          </a:prstGeom>
          <a:noFill/>
          <a:ln/>
        </p:spPr>
        <p:txBody>
          <a:bodyPr wrap="square" lIns="0" tIns="0" rIns="0" bIns="0" rtlCol="0" anchor="ctr"/>
          <a:lstStyle/>
          <a:p>
            <a:pPr indent="0" marL="0">
              <a:lnSpc>
                <a:spcPct val="115000"/>
              </a:lnSpc>
              <a:buNone/>
            </a:pPr>
            <a:r>
              <a:rPr lang="en-US" sz="1250" dirty="0">
                <a:solidFill>
                  <a:srgbClr val="5F7183"/>
                </a:solidFill>
                <a:latin typeface="Calibri" pitchFamily="34" charset="0"/>
                <a:ea typeface="Calibri" pitchFamily="34" charset="-122"/>
                <a:cs typeface="Calibri" pitchFamily="34" charset="-120"/>
              </a:rPr>
              <a:t>A concert, a competitor closing, a policy change. If it is not in the calendar and not in the past, the model does not know.</a:t>
            </a:r>
            <a:endParaRPr lang="en-US" sz="1250" dirty="0"/>
          </a:p>
        </p:txBody>
      </p:sp>
      <p:sp>
        <p:nvSpPr>
          <p:cNvPr id="14" name="Shape 12"/>
          <p:cNvSpPr/>
          <p:nvPr/>
        </p:nvSpPr>
        <p:spPr>
          <a:xfrm>
            <a:off x="548640" y="4114800"/>
            <a:ext cx="11082528" cy="1143000"/>
          </a:xfrm>
          <a:prstGeom prst="roundRect">
            <a:avLst>
              <a:gd name="adj" fmla="val 6400"/>
            </a:avLst>
          </a:prstGeom>
          <a:solidFill>
            <a:srgbClr val="FBF6E9"/>
          </a:solidFill>
          <a:ln w="12700">
            <a:solidFill>
              <a:srgbClr val="E2E8EE"/>
            </a:solidFill>
            <a:prstDash val="solid"/>
          </a:ln>
        </p:spPr>
      </p:sp>
      <p:sp>
        <p:nvSpPr>
          <p:cNvPr id="15" name="Shape 13"/>
          <p:cNvSpPr/>
          <p:nvPr/>
        </p:nvSpPr>
        <p:spPr>
          <a:xfrm>
            <a:off x="822960" y="4434840"/>
            <a:ext cx="475488" cy="475488"/>
          </a:xfrm>
          <a:prstGeom prst="ellipse">
            <a:avLst/>
          </a:prstGeom>
          <a:solidFill>
            <a:srgbClr val="E8B547"/>
          </a:solidFill>
          <a:ln/>
        </p:spPr>
      </p:sp>
      <p:sp>
        <p:nvSpPr>
          <p:cNvPr id="16" name="Text 14"/>
          <p:cNvSpPr/>
          <p:nvPr/>
        </p:nvSpPr>
        <p:spPr>
          <a:xfrm>
            <a:off x="822960" y="443484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t>
            </a:r>
            <a:endParaRPr lang="en-US" sz="1700" dirty="0"/>
          </a:p>
        </p:txBody>
      </p:sp>
      <p:sp>
        <p:nvSpPr>
          <p:cNvPr id="17" name="Text 15"/>
          <p:cNvSpPr/>
          <p:nvPr/>
        </p:nvSpPr>
        <p:spPr>
          <a:xfrm>
            <a:off x="1481328" y="4279392"/>
            <a:ext cx="9921240" cy="347472"/>
          </a:xfrm>
          <a:prstGeom prst="rect">
            <a:avLst/>
          </a:prstGeom>
          <a:noFill/>
          <a:ln/>
        </p:spPr>
        <p:txBody>
          <a:bodyPr wrap="square" lIns="0" tIns="0" rIns="0" bIns="0" rtlCol="0" anchor="ctr"/>
          <a:lstStyle/>
          <a:p>
            <a:pPr indent="0" marL="0">
              <a:buNone/>
            </a:pPr>
            <a:r>
              <a:rPr lang="en-US" sz="1600" b="1" dirty="0">
                <a:solidFill>
                  <a:srgbClr val="0F2942"/>
                </a:solidFill>
                <a:latin typeface="Cambria" pitchFamily="34" charset="0"/>
                <a:ea typeface="Cambria" pitchFamily="34" charset="-122"/>
                <a:cs typeface="Cambria" pitchFamily="34" charset="-120"/>
              </a:rPr>
              <a:t>Typhoons are not predicted</a:t>
            </a:r>
            <a:endParaRPr lang="en-US" sz="1600" dirty="0"/>
          </a:p>
        </p:txBody>
      </p:sp>
      <p:sp>
        <p:nvSpPr>
          <p:cNvPr id="18" name="Text 16"/>
          <p:cNvSpPr/>
          <p:nvPr/>
        </p:nvSpPr>
        <p:spPr>
          <a:xfrm>
            <a:off x="1481328" y="4626864"/>
            <a:ext cx="9921240" cy="566928"/>
          </a:xfrm>
          <a:prstGeom prst="rect">
            <a:avLst/>
          </a:prstGeom>
          <a:noFill/>
          <a:ln/>
        </p:spPr>
        <p:txBody>
          <a:bodyPr wrap="square" lIns="0" tIns="0" rIns="0" bIns="0" rtlCol="0" anchor="ctr"/>
          <a:lstStyle/>
          <a:p>
            <a:pPr indent="0" marL="0">
              <a:lnSpc>
                <a:spcPct val="115000"/>
              </a:lnSpc>
              <a:buNone/>
            </a:pPr>
            <a:r>
              <a:rPr lang="en-US" sz="1250" dirty="0">
                <a:solidFill>
                  <a:srgbClr val="5F7183"/>
                </a:solidFill>
                <a:latin typeface="Calibri" pitchFamily="34" charset="0"/>
                <a:ea typeface="Calibri" pitchFamily="34" charset="-122"/>
                <a:cs typeface="Calibri" pitchFamily="34" charset="-120"/>
              </a:rPr>
              <a:t>Deliberately. RAGASA shut the floor in September 2025 and the forecast missed by 468%; TORAJI did not and demand was normal. Similar storms, opposite outcomes — the deciding factor is a human decision, so a person applies it manually.</a:t>
            </a:r>
            <a:endParaRPr lang="en-US" sz="1250" dirty="0"/>
          </a:p>
        </p:txBody>
      </p:sp>
      <p:sp>
        <p:nvSpPr>
          <p:cNvPr id="19" name="Shape 17"/>
          <p:cNvSpPr/>
          <p:nvPr/>
        </p:nvSpPr>
        <p:spPr>
          <a:xfrm>
            <a:off x="548640" y="5349240"/>
            <a:ext cx="11082528" cy="1143000"/>
          </a:xfrm>
          <a:prstGeom prst="roundRect">
            <a:avLst>
              <a:gd name="adj" fmla="val 6400"/>
            </a:avLst>
          </a:prstGeom>
          <a:solidFill>
            <a:srgbClr val="F7E9E9"/>
          </a:solidFill>
          <a:ln w="12700">
            <a:solidFill>
              <a:srgbClr val="E2E8EE"/>
            </a:solidFill>
            <a:prstDash val="solid"/>
          </a:ln>
        </p:spPr>
      </p:sp>
      <p:sp>
        <p:nvSpPr>
          <p:cNvPr id="20" name="Shape 18"/>
          <p:cNvSpPr/>
          <p:nvPr/>
        </p:nvSpPr>
        <p:spPr>
          <a:xfrm>
            <a:off x="822960" y="5669280"/>
            <a:ext cx="475488" cy="475488"/>
          </a:xfrm>
          <a:prstGeom prst="ellipse">
            <a:avLst/>
          </a:prstGeom>
          <a:solidFill>
            <a:srgbClr val="C74B4B"/>
          </a:solidFill>
          <a:ln/>
        </p:spPr>
      </p:sp>
      <p:sp>
        <p:nvSpPr>
          <p:cNvPr id="21" name="Text 19"/>
          <p:cNvSpPr/>
          <p:nvPr/>
        </p:nvSpPr>
        <p:spPr>
          <a:xfrm>
            <a:off x="822960" y="566928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t>
            </a:r>
            <a:endParaRPr lang="en-US" sz="1700" dirty="0"/>
          </a:p>
        </p:txBody>
      </p:sp>
      <p:sp>
        <p:nvSpPr>
          <p:cNvPr id="22" name="Text 20"/>
          <p:cNvSpPr/>
          <p:nvPr/>
        </p:nvSpPr>
        <p:spPr>
          <a:xfrm>
            <a:off x="1481328" y="5513832"/>
            <a:ext cx="9921240" cy="347472"/>
          </a:xfrm>
          <a:prstGeom prst="rect">
            <a:avLst/>
          </a:prstGeom>
          <a:noFill/>
          <a:ln/>
        </p:spPr>
        <p:txBody>
          <a:bodyPr wrap="square" lIns="0" tIns="0" rIns="0" bIns="0" rtlCol="0" anchor="ctr"/>
          <a:lstStyle/>
          <a:p>
            <a:pPr indent="0" marL="0">
              <a:buNone/>
            </a:pPr>
            <a:r>
              <a:rPr lang="en-US" sz="1600" b="1" dirty="0">
                <a:solidFill>
                  <a:srgbClr val="0F2942"/>
                </a:solidFill>
                <a:latin typeface="Cambria" pitchFamily="34" charset="0"/>
                <a:ea typeface="Cambria" pitchFamily="34" charset="-122"/>
                <a:cs typeface="Cambria" pitchFamily="34" charset="-120"/>
              </a:rPr>
              <a:t>The holiday calendar ends in 2026</a:t>
            </a:r>
            <a:endParaRPr lang="en-US" sz="1600" dirty="0"/>
          </a:p>
        </p:txBody>
      </p:sp>
      <p:sp>
        <p:nvSpPr>
          <p:cNvPr id="23" name="Text 21"/>
          <p:cNvSpPr/>
          <p:nvPr/>
        </p:nvSpPr>
        <p:spPr>
          <a:xfrm>
            <a:off x="1481328" y="5861304"/>
            <a:ext cx="9921240" cy="566928"/>
          </a:xfrm>
          <a:prstGeom prst="rect">
            <a:avLst/>
          </a:prstGeom>
          <a:noFill/>
          <a:ln/>
        </p:spPr>
        <p:txBody>
          <a:bodyPr wrap="square" lIns="0" tIns="0" rIns="0" bIns="0" rtlCol="0" anchor="ctr"/>
          <a:lstStyle/>
          <a:p>
            <a:pPr indent="0" marL="0">
              <a:lnSpc>
                <a:spcPct val="115000"/>
              </a:lnSpc>
              <a:buNone/>
            </a:pPr>
            <a:r>
              <a:rPr lang="en-US" sz="1250" dirty="0">
                <a:solidFill>
                  <a:srgbClr val="5F7183"/>
                </a:solidFill>
                <a:latin typeface="Calibri" pitchFamily="34" charset="0"/>
                <a:ea typeface="Calibri" pitchFamily="34" charset="-122"/>
                <a:cs typeface="Calibri" pitchFamily="34" charset="-120"/>
              </a:rPr>
              <a:t>The underlying calendar library has no 2027 dates. Forecasts made late in 2026 will reach past it. A known, dated deadline.</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lIns="0" tIns="0" rIns="0" bIns="0" rtlCol="0" anchor="ctr"/>
          <a:lstStyle/>
          <a:p>
            <a:pPr indent="0" marL="0">
              <a:buNone/>
            </a:pPr>
            <a:r>
              <a:rPr lang="en-US" sz="3100" b="1" dirty="0">
                <a:solidFill>
                  <a:srgbClr val="0F2942"/>
                </a:solidFill>
                <a:latin typeface="Cambria" pitchFamily="34" charset="0"/>
                <a:ea typeface="Cambria" pitchFamily="34" charset="-122"/>
                <a:cs typeface="Cambria" pitchFamily="34" charset="-120"/>
              </a:rPr>
              <a:t>Is it better than the short-memory model? Honestly: partly</a:t>
            </a:r>
            <a:endParaRPr lang="en-US" sz="3100" dirty="0"/>
          </a:p>
        </p:txBody>
      </p:sp>
      <p:sp>
        <p:nvSpPr>
          <p:cNvPr id="3" name="Text 1"/>
          <p:cNvSpPr/>
          <p:nvPr/>
        </p:nvSpPr>
        <p:spPr>
          <a:xfrm>
            <a:off x="548640" y="1078992"/>
            <a:ext cx="11064240" cy="411480"/>
          </a:xfrm>
          <a:prstGeom prst="rect">
            <a:avLst/>
          </a:prstGeom>
          <a:noFill/>
          <a:ln/>
        </p:spPr>
        <p:txBody>
          <a:bodyPr wrap="square" lIns="0" tIns="0" rIns="0" bIns="0" rtlCol="0" anchor="ctr"/>
          <a:lstStyle/>
          <a:p>
            <a:pPr indent="0" marL="0">
              <a:buNone/>
            </a:pPr>
            <a:r>
              <a:rPr lang="en-US" sz="1500" i="1" dirty="0">
                <a:solidFill>
                  <a:srgbClr val="5F7183"/>
                </a:solidFill>
                <a:latin typeface="Calibri" pitchFamily="34" charset="0"/>
                <a:ea typeface="Calibri" pitchFamily="34" charset="-122"/>
                <a:cs typeface="Calibri" pitchFamily="34" charset="-120"/>
              </a:rPr>
              <a:t>Reported as measured, including the parts that did not work.</a:t>
            </a:r>
            <a:endParaRPr lang="en-US" sz="1500" dirty="0"/>
          </a:p>
        </p:txBody>
      </p:sp>
      <p:sp>
        <p:nvSpPr>
          <p:cNvPr id="4" name="Shape 2"/>
          <p:cNvSpPr/>
          <p:nvPr/>
        </p:nvSpPr>
        <p:spPr>
          <a:xfrm>
            <a:off x="548640" y="1645920"/>
            <a:ext cx="5440680" cy="2148840"/>
          </a:xfrm>
          <a:prstGeom prst="roundRect">
            <a:avLst>
              <a:gd name="adj" fmla="val 3404"/>
            </a:avLst>
          </a:prstGeom>
          <a:solidFill>
            <a:srgbClr val="E9F4EF"/>
          </a:solidFill>
          <a:ln w="12700">
            <a:solidFill>
              <a:srgbClr val="E2E8EE"/>
            </a:solidFill>
            <a:prstDash val="solid"/>
          </a:ln>
        </p:spPr>
      </p:sp>
      <p:sp>
        <p:nvSpPr>
          <p:cNvPr id="5" name="Shape 3"/>
          <p:cNvSpPr/>
          <p:nvPr/>
        </p:nvSpPr>
        <p:spPr>
          <a:xfrm>
            <a:off x="822960" y="1847088"/>
            <a:ext cx="457200" cy="457200"/>
          </a:xfrm>
          <a:prstGeom prst="ellipse">
            <a:avLst/>
          </a:prstGeom>
          <a:solidFill>
            <a:srgbClr val="2FA87C"/>
          </a:solidFill>
          <a:ln/>
        </p:spPr>
      </p:sp>
      <p:sp>
        <p:nvSpPr>
          <p:cNvPr id="6" name="Text 4"/>
          <p:cNvSpPr/>
          <p:nvPr/>
        </p:nvSpPr>
        <p:spPr>
          <a:xfrm>
            <a:off x="822960" y="184708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7" name="Text 5"/>
          <p:cNvSpPr/>
          <p:nvPr/>
        </p:nvSpPr>
        <p:spPr>
          <a:xfrm>
            <a:off x="1417320" y="1874520"/>
            <a:ext cx="4297680" cy="365760"/>
          </a:xfrm>
          <a:prstGeom prst="rect">
            <a:avLst/>
          </a:prstGeom>
          <a:noFill/>
          <a:ln/>
        </p:spPr>
        <p:txBody>
          <a:bodyPr wrap="square" lIns="0" tIns="0" rIns="0" bIns="0" rtlCol="0" anchor="ctr"/>
          <a:lstStyle/>
          <a:p>
            <a:pPr indent="0" marL="0">
              <a:buNone/>
            </a:pPr>
            <a:r>
              <a:rPr lang="en-US" sz="1700" b="1" dirty="0">
                <a:solidFill>
                  <a:srgbClr val="0F2942"/>
                </a:solidFill>
                <a:latin typeface="Cambria" pitchFamily="34" charset="0"/>
                <a:ea typeface="Cambria" pitchFamily="34" charset="-122"/>
                <a:cs typeface="Cambria" pitchFamily="34" charset="-120"/>
              </a:rPr>
              <a:t>What it clearly wins on</a:t>
            </a:r>
            <a:endParaRPr lang="en-US" sz="1700" dirty="0"/>
          </a:p>
        </p:txBody>
      </p:sp>
      <p:sp>
        <p:nvSpPr>
          <p:cNvPr id="8" name="Text 6"/>
          <p:cNvSpPr/>
          <p:nvPr/>
        </p:nvSpPr>
        <p:spPr>
          <a:xfrm>
            <a:off x="868680" y="2331720"/>
            <a:ext cx="4846320" cy="13716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0F2942"/>
                </a:solidFill>
                <a:latin typeface="Calibri" pitchFamily="34" charset="0"/>
                <a:ea typeface="Calibri" pitchFamily="34" charset="-122"/>
                <a:cs typeface="Calibri" pitchFamily="34" charset="-120"/>
              </a:rPr>
              <a:t>Removes catastrophic single-day errors (27.7% → 3.2%)</a:t>
            </a:r>
            <a:endParaRPr lang="en-US" sz="1200" dirty="0"/>
          </a:p>
          <a:p>
            <a:pPr marL="342900" indent="-342900">
              <a:spcAft>
                <a:spcPts val="400"/>
              </a:spcAft>
              <a:buSzPct val="100000"/>
              <a:buChar char="•"/>
            </a:pPr>
            <a:r>
              <a:rPr lang="en-US" sz="1200" dirty="0">
                <a:solidFill>
                  <a:srgbClr val="0F2942"/>
                </a:solidFill>
                <a:latin typeface="Calibri" pitchFamily="34" charset="0"/>
                <a:ea typeface="Calibri" pitchFamily="34" charset="-122"/>
                <a:cs typeface="Calibri" pitchFamily="34" charset="-120"/>
              </a:rPr>
              <a:t>Has seen ~10 Chinese New Years, not 2</a:t>
            </a:r>
            <a:endParaRPr lang="en-US" sz="1200" dirty="0"/>
          </a:p>
          <a:p>
            <a:pPr marL="342900" indent="-342900">
              <a:spcAft>
                <a:spcPts val="400"/>
              </a:spcAft>
              <a:buSzPct val="100000"/>
              <a:buChar char="•"/>
            </a:pPr>
            <a:r>
              <a:rPr lang="en-US" sz="1200" dirty="0">
                <a:solidFill>
                  <a:srgbClr val="0F2942"/>
                </a:solidFill>
                <a:latin typeface="Calibri" pitchFamily="34" charset="0"/>
                <a:ea typeface="Calibri" pitchFamily="34" charset="-122"/>
                <a:cs typeface="Calibri" pitchFamily="34" charset="-120"/>
              </a:rPr>
              <a:t>Fixes the Ching Ming calendar bug</a:t>
            </a:r>
            <a:endParaRPr lang="en-US" sz="1200" dirty="0"/>
          </a:p>
          <a:p>
            <a:pPr marL="342900" indent="-342900">
              <a:spcAft>
                <a:spcPts val="400"/>
              </a:spcAft>
              <a:buSzPct val="100000"/>
              <a:buChar char="•"/>
            </a:pPr>
            <a:r>
              <a:rPr lang="en-US" sz="1200" dirty="0">
                <a:solidFill>
                  <a:srgbClr val="0F2942"/>
                </a:solidFill>
                <a:latin typeface="Calibri" pitchFamily="34" charset="0"/>
                <a:ea typeface="Calibri" pitchFamily="34" charset="-122"/>
                <a:cs typeface="Calibri" pitchFamily="34" charset="-120"/>
              </a:rPr>
              <a:t>Cannot affect the live model — fully self-contained</a:t>
            </a:r>
            <a:endParaRPr lang="en-US" sz="1200" dirty="0"/>
          </a:p>
        </p:txBody>
      </p:sp>
      <p:sp>
        <p:nvSpPr>
          <p:cNvPr id="9" name="Shape 7"/>
          <p:cNvSpPr/>
          <p:nvPr/>
        </p:nvSpPr>
        <p:spPr>
          <a:xfrm>
            <a:off x="6172200" y="1645920"/>
            <a:ext cx="5458968" cy="2148840"/>
          </a:xfrm>
          <a:prstGeom prst="roundRect">
            <a:avLst>
              <a:gd name="adj" fmla="val 3404"/>
            </a:avLst>
          </a:prstGeom>
          <a:solidFill>
            <a:srgbClr val="FBF6E9"/>
          </a:solidFill>
          <a:ln w="12700">
            <a:solidFill>
              <a:srgbClr val="E2E8EE"/>
            </a:solidFill>
            <a:prstDash val="solid"/>
          </a:ln>
        </p:spPr>
      </p:sp>
      <p:sp>
        <p:nvSpPr>
          <p:cNvPr id="10" name="Shape 8"/>
          <p:cNvSpPr/>
          <p:nvPr/>
        </p:nvSpPr>
        <p:spPr>
          <a:xfrm>
            <a:off x="6446520" y="1847088"/>
            <a:ext cx="457200" cy="457200"/>
          </a:xfrm>
          <a:prstGeom prst="ellipse">
            <a:avLst/>
          </a:prstGeom>
          <a:solidFill>
            <a:srgbClr val="E8B547"/>
          </a:solidFill>
          <a:ln/>
        </p:spPr>
      </p:sp>
      <p:sp>
        <p:nvSpPr>
          <p:cNvPr id="11" name="Text 9"/>
          <p:cNvSpPr/>
          <p:nvPr/>
        </p:nvSpPr>
        <p:spPr>
          <a:xfrm>
            <a:off x="6446520" y="1847088"/>
            <a:ext cx="457200" cy="457200"/>
          </a:xfrm>
          <a:prstGeom prst="rect">
            <a:avLst/>
          </a:prstGeom>
          <a:noFill/>
          <a:ln/>
        </p:spPr>
        <p:txBody>
          <a:bodyPr wrap="square" lIns="0" tIns="0" rIns="0" bIns="0" rtlCol="0" anchor="ctr"/>
          <a:lstStyle/>
          <a:p>
            <a:pPr algn="ctr" indent="0" marL="0">
              <a:buNone/>
            </a:pPr>
            <a:r>
              <a:rPr lang="en-US" sz="1800" b="1" dirty="0">
                <a:solidFill>
                  <a:srgbClr val="0F2942"/>
                </a:solidFill>
                <a:latin typeface="Cambria" pitchFamily="34" charset="0"/>
                <a:ea typeface="Cambria" pitchFamily="34" charset="-122"/>
                <a:cs typeface="Cambria" pitchFamily="34" charset="-120"/>
              </a:rPr>
              <a:t>~</a:t>
            </a:r>
            <a:endParaRPr lang="en-US" sz="1800" dirty="0"/>
          </a:p>
        </p:txBody>
      </p:sp>
      <p:sp>
        <p:nvSpPr>
          <p:cNvPr id="12" name="Text 10"/>
          <p:cNvSpPr/>
          <p:nvPr/>
        </p:nvSpPr>
        <p:spPr>
          <a:xfrm>
            <a:off x="7040880" y="1874520"/>
            <a:ext cx="4297680" cy="365760"/>
          </a:xfrm>
          <a:prstGeom prst="rect">
            <a:avLst/>
          </a:prstGeom>
          <a:noFill/>
          <a:ln/>
        </p:spPr>
        <p:txBody>
          <a:bodyPr wrap="square" lIns="0" tIns="0" rIns="0" bIns="0" rtlCol="0" anchor="ctr"/>
          <a:lstStyle/>
          <a:p>
            <a:pPr indent="0" marL="0">
              <a:buNone/>
            </a:pPr>
            <a:r>
              <a:rPr lang="en-US" sz="1700" b="1" dirty="0">
                <a:solidFill>
                  <a:srgbClr val="0F2942"/>
                </a:solidFill>
                <a:latin typeface="Cambria" pitchFamily="34" charset="0"/>
                <a:ea typeface="Cambria" pitchFamily="34" charset="-122"/>
                <a:cs typeface="Cambria" pitchFamily="34" charset="-120"/>
              </a:rPr>
              <a:t>What it does not win on</a:t>
            </a:r>
            <a:endParaRPr lang="en-US" sz="1700" dirty="0"/>
          </a:p>
        </p:txBody>
      </p:sp>
      <p:sp>
        <p:nvSpPr>
          <p:cNvPr id="13" name="Text 11"/>
          <p:cNvSpPr/>
          <p:nvPr/>
        </p:nvSpPr>
        <p:spPr>
          <a:xfrm>
            <a:off x="6492240" y="2331720"/>
            <a:ext cx="4846320" cy="13716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0F2942"/>
                </a:solidFill>
                <a:latin typeface="Calibri" pitchFamily="34" charset="0"/>
                <a:ea typeface="Calibri" pitchFamily="34" charset="-122"/>
                <a:cs typeface="Calibri" pitchFamily="34" charset="-120"/>
              </a:rPr>
              <a:t>Only about 0.3 percentage points better on average</a:t>
            </a:r>
            <a:endParaRPr lang="en-US" sz="1200" dirty="0"/>
          </a:p>
          <a:p>
            <a:pPr marL="342900" indent="-342900">
              <a:spcAft>
                <a:spcPts val="400"/>
              </a:spcAft>
              <a:buSzPct val="100000"/>
              <a:buChar char="•"/>
            </a:pPr>
            <a:r>
              <a:rPr lang="en-US" sz="1200" dirty="0">
                <a:solidFill>
                  <a:srgbClr val="0F2942"/>
                </a:solidFill>
                <a:latin typeface="Calibri" pitchFamily="34" charset="0"/>
                <a:ea typeface="Calibri" pitchFamily="34" charset="-122"/>
                <a:cs typeface="Calibri" pitchFamily="34" charset="-120"/>
              </a:rPr>
              <a:t>Improves most test windows but makes two worse</a:t>
            </a:r>
            <a:endParaRPr lang="en-US" sz="1200" dirty="0"/>
          </a:p>
          <a:p>
            <a:pPr marL="342900" indent="-342900">
              <a:spcAft>
                <a:spcPts val="400"/>
              </a:spcAft>
              <a:buSzPct val="100000"/>
              <a:buChar char="•"/>
            </a:pPr>
            <a:r>
              <a:rPr lang="en-US" sz="1200" dirty="0">
                <a:solidFill>
                  <a:srgbClr val="0F2942"/>
                </a:solidFill>
                <a:latin typeface="Calibri" pitchFamily="34" charset="0"/>
                <a:ea typeface="Calibri" pitchFamily="34" charset="-122"/>
                <a:cs typeface="Calibri" pitchFamily="34" charset="-120"/>
              </a:rPr>
              <a:t>Does not pass the strict "nothing may get worse" bar</a:t>
            </a:r>
            <a:endParaRPr lang="en-US" sz="1200" dirty="0"/>
          </a:p>
          <a:p>
            <a:pPr marL="342900" indent="-342900">
              <a:spcAft>
                <a:spcPts val="400"/>
              </a:spcAft>
              <a:buSzPct val="100000"/>
              <a:buChar char="•"/>
            </a:pPr>
            <a:r>
              <a:rPr lang="en-US" sz="1200" dirty="0">
                <a:solidFill>
                  <a:srgbClr val="0F2942"/>
                </a:solidFill>
                <a:latin typeface="Calibri" pitchFamily="34" charset="0"/>
                <a:ea typeface="Calibri" pitchFamily="34" charset="-122"/>
                <a:cs typeface="Calibri" pitchFamily="34" charset="-120"/>
              </a:rPr>
              <a:t>Slower: eleven years takes minutes to prepare</a:t>
            </a:r>
            <a:endParaRPr lang="en-US" sz="1200" dirty="0"/>
          </a:p>
        </p:txBody>
      </p:sp>
      <p:sp>
        <p:nvSpPr>
          <p:cNvPr id="14" name="Text 12"/>
          <p:cNvSpPr/>
          <p:nvPr/>
        </p:nvSpPr>
        <p:spPr>
          <a:xfrm>
            <a:off x="548640" y="3977640"/>
            <a:ext cx="11064240" cy="365760"/>
          </a:xfrm>
          <a:prstGeom prst="rect">
            <a:avLst/>
          </a:prstGeom>
          <a:noFill/>
          <a:ln/>
        </p:spPr>
        <p:txBody>
          <a:bodyPr wrap="square" lIns="0" tIns="0" rIns="0" bIns="0" rtlCol="0" anchor="ctr"/>
          <a:lstStyle/>
          <a:p>
            <a:pPr indent="0" marL="0">
              <a:buNone/>
            </a:pPr>
            <a:r>
              <a:rPr lang="en-US" sz="1700" b="1" dirty="0">
                <a:solidFill>
                  <a:srgbClr val="0F2942"/>
                </a:solidFill>
                <a:latin typeface="Cambria" pitchFamily="34" charset="0"/>
                <a:ea typeface="Cambria" pitchFamily="34" charset="-122"/>
                <a:cs typeface="Cambria" pitchFamily="34" charset="-120"/>
              </a:rPr>
              <a:t>Ideas tested on this pipeline and rejected</a:t>
            </a:r>
            <a:endParaRPr lang="en-US" sz="1700" dirty="0"/>
          </a:p>
        </p:txBody>
      </p:sp>
      <p:sp>
        <p:nvSpPr>
          <p:cNvPr id="15" name="Shape 13"/>
          <p:cNvSpPr/>
          <p:nvPr/>
        </p:nvSpPr>
        <p:spPr>
          <a:xfrm>
            <a:off x="548640" y="4434840"/>
            <a:ext cx="5440680" cy="1783080"/>
          </a:xfrm>
          <a:prstGeom prst="roundRect">
            <a:avLst>
              <a:gd name="adj" fmla="val 4103"/>
            </a:avLst>
          </a:prstGeom>
          <a:solidFill>
            <a:srgbClr val="F7E9E9"/>
          </a:solidFill>
          <a:ln w="12700">
            <a:solidFill>
              <a:srgbClr val="E2E8EE"/>
            </a:solidFill>
            <a:prstDash val="solid"/>
          </a:ln>
        </p:spPr>
      </p:sp>
      <p:sp>
        <p:nvSpPr>
          <p:cNvPr id="16" name="Text 14"/>
          <p:cNvSpPr/>
          <p:nvPr/>
        </p:nvSpPr>
        <p:spPr>
          <a:xfrm>
            <a:off x="822960" y="4617720"/>
            <a:ext cx="4892040" cy="365760"/>
          </a:xfrm>
          <a:prstGeom prst="rect">
            <a:avLst/>
          </a:prstGeom>
          <a:noFill/>
          <a:ln/>
        </p:spPr>
        <p:txBody>
          <a:bodyPr wrap="square" lIns="0" tIns="0" rIns="0" bIns="0" rtlCol="0" anchor="ctr"/>
          <a:lstStyle/>
          <a:p>
            <a:pPr indent="0" marL="0">
              <a:buNone/>
            </a:pPr>
            <a:r>
              <a:rPr lang="en-US" sz="1300" b="1" dirty="0">
                <a:solidFill>
                  <a:srgbClr val="0F2942"/>
                </a:solidFill>
                <a:latin typeface="Calibri" pitchFamily="34" charset="0"/>
                <a:ea typeface="Calibri" pitchFamily="34" charset="-122"/>
                <a:cs typeface="Calibri" pitchFamily="34" charset="-120"/>
              </a:rPr>
              <a:t>Blocking the contaminated year-ago comparison</a:t>
            </a:r>
            <a:endParaRPr lang="en-US" sz="1300" dirty="0"/>
          </a:p>
        </p:txBody>
      </p:sp>
      <p:sp>
        <p:nvSpPr>
          <p:cNvPr id="17" name="Text 15"/>
          <p:cNvSpPr/>
          <p:nvPr/>
        </p:nvSpPr>
        <p:spPr>
          <a:xfrm>
            <a:off x="822960" y="4983480"/>
            <a:ext cx="4892040" cy="1143000"/>
          </a:xfrm>
          <a:prstGeom prst="rect">
            <a:avLst/>
          </a:prstGeom>
          <a:noFill/>
          <a:ln/>
        </p:spPr>
        <p:txBody>
          <a:bodyPr wrap="square" lIns="0" tIns="0" rIns="0" bIns="0" rtlCol="0" anchor="ctr"/>
          <a:lstStyle/>
          <a:p>
            <a:pPr indent="0" marL="0">
              <a:lnSpc>
                <a:spcPct val="115000"/>
              </a:lnSpc>
              <a:buNone/>
            </a:pPr>
            <a:r>
              <a:rPr lang="en-US" sz="1200" dirty="0">
                <a:solidFill>
                  <a:srgbClr val="5F7183"/>
                </a:solidFill>
                <a:latin typeface="Calibri" pitchFamily="34" charset="0"/>
                <a:ea typeface="Calibri" pitchFamily="34" charset="-122"/>
                <a:cs typeface="Calibri" pitchFamily="34" charset="-120"/>
              </a:rPr>
              <a:t>Looked convincing on one Chinese New Year. Tested against six events it failed — and the long-history model had already solved the problem by itself, without the patch.</a:t>
            </a:r>
            <a:endParaRPr lang="en-US" sz="1200" dirty="0"/>
          </a:p>
        </p:txBody>
      </p:sp>
      <p:sp>
        <p:nvSpPr>
          <p:cNvPr id="18" name="Shape 16"/>
          <p:cNvSpPr/>
          <p:nvPr/>
        </p:nvSpPr>
        <p:spPr>
          <a:xfrm>
            <a:off x="6190488" y="4434840"/>
            <a:ext cx="5440680" cy="1783080"/>
          </a:xfrm>
          <a:prstGeom prst="roundRect">
            <a:avLst>
              <a:gd name="adj" fmla="val 4103"/>
            </a:avLst>
          </a:prstGeom>
          <a:solidFill>
            <a:srgbClr val="F7E9E9"/>
          </a:solidFill>
          <a:ln w="12700">
            <a:solidFill>
              <a:srgbClr val="E2E8EE"/>
            </a:solidFill>
            <a:prstDash val="solid"/>
          </a:ln>
        </p:spPr>
      </p:sp>
      <p:sp>
        <p:nvSpPr>
          <p:cNvPr id="19" name="Text 17"/>
          <p:cNvSpPr/>
          <p:nvPr/>
        </p:nvSpPr>
        <p:spPr>
          <a:xfrm>
            <a:off x="6464808" y="4617720"/>
            <a:ext cx="4892040" cy="365760"/>
          </a:xfrm>
          <a:prstGeom prst="rect">
            <a:avLst/>
          </a:prstGeom>
          <a:noFill/>
          <a:ln/>
        </p:spPr>
        <p:txBody>
          <a:bodyPr wrap="square" lIns="0" tIns="0" rIns="0" bIns="0" rtlCol="0" anchor="ctr"/>
          <a:lstStyle/>
          <a:p>
            <a:pPr indent="0" marL="0">
              <a:buNone/>
            </a:pPr>
            <a:r>
              <a:rPr lang="en-US" sz="1300" b="1" dirty="0">
                <a:solidFill>
                  <a:srgbClr val="0F2942"/>
                </a:solidFill>
                <a:latin typeface="Calibri" pitchFamily="34" charset="0"/>
                <a:ea typeface="Calibri" pitchFamily="34" charset="-122"/>
                <a:cs typeface="Calibri" pitchFamily="34" charset="-120"/>
              </a:rPr>
              <a:t>Swapping in a GAM (a smoother model)</a:t>
            </a:r>
            <a:endParaRPr lang="en-US" sz="1300" dirty="0"/>
          </a:p>
        </p:txBody>
      </p:sp>
      <p:sp>
        <p:nvSpPr>
          <p:cNvPr id="20" name="Text 18"/>
          <p:cNvSpPr/>
          <p:nvPr/>
        </p:nvSpPr>
        <p:spPr>
          <a:xfrm>
            <a:off x="6464808" y="4983480"/>
            <a:ext cx="4892040" cy="1143000"/>
          </a:xfrm>
          <a:prstGeom prst="rect">
            <a:avLst/>
          </a:prstGeom>
          <a:noFill/>
          <a:ln/>
        </p:spPr>
        <p:txBody>
          <a:bodyPr wrap="square" lIns="0" tIns="0" rIns="0" bIns="0" rtlCol="0" anchor="ctr"/>
          <a:lstStyle/>
          <a:p>
            <a:pPr indent="0" marL="0">
              <a:lnSpc>
                <a:spcPct val="115000"/>
              </a:lnSpc>
              <a:buNone/>
            </a:pPr>
            <a:r>
              <a:rPr lang="en-US" sz="1200" dirty="0">
                <a:solidFill>
                  <a:srgbClr val="5F7183"/>
                </a:solidFill>
                <a:latin typeface="Calibri" pitchFamily="34" charset="0"/>
                <a:ea typeface="Calibri" pitchFamily="34" charset="-122"/>
                <a:cs typeface="Calibri" pitchFamily="34" charset="-120"/>
              </a:rPr>
              <a:t>Worse at all nine forecast distances tested. Also no better on holidays, so a holiday-only hybrid was ruled out too.</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F2942"/>
        </a:solidFill>
      </p:bgPr>
    </p:bg>
    <p:spTree>
      <p:nvGrpSpPr>
        <p:cNvPr id="1" name=""/>
        <p:cNvGrpSpPr/>
        <p:nvPr/>
      </p:nvGrpSpPr>
      <p:grpSpPr>
        <a:xfrm>
          <a:off x="0" y="0"/>
          <a:ext cx="0" cy="0"/>
          <a:chOff x="0" y="0"/>
          <a:chExt cx="0" cy="0"/>
        </a:xfrm>
      </p:grpSpPr>
      <p:sp>
        <p:nvSpPr>
          <p:cNvPr id="2" name="Text 0"/>
          <p:cNvSpPr/>
          <p:nvPr/>
        </p:nvSpPr>
        <p:spPr>
          <a:xfrm>
            <a:off x="822960" y="594360"/>
            <a:ext cx="105156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Five things to remember</a:t>
            </a:r>
            <a:endParaRPr lang="en-US" sz="3600" dirty="0"/>
          </a:p>
        </p:txBody>
      </p:sp>
      <p:sp>
        <p:nvSpPr>
          <p:cNvPr id="3" name="Shape 1"/>
          <p:cNvSpPr/>
          <p:nvPr/>
        </p:nvSpPr>
        <p:spPr>
          <a:xfrm>
            <a:off x="822960" y="1600200"/>
            <a:ext cx="502920" cy="502920"/>
          </a:xfrm>
          <a:prstGeom prst="ellipse">
            <a:avLst/>
          </a:prstGeom>
          <a:solidFill>
            <a:srgbClr val="E8B547"/>
          </a:solidFill>
          <a:ln/>
        </p:spPr>
      </p:sp>
      <p:sp>
        <p:nvSpPr>
          <p:cNvPr id="4" name="Text 2"/>
          <p:cNvSpPr/>
          <p:nvPr/>
        </p:nvSpPr>
        <p:spPr>
          <a:xfrm>
            <a:off x="822960" y="1600200"/>
            <a:ext cx="502920" cy="502920"/>
          </a:xfrm>
          <a:prstGeom prst="rect">
            <a:avLst/>
          </a:prstGeom>
          <a:noFill/>
          <a:ln/>
        </p:spPr>
        <p:txBody>
          <a:bodyPr wrap="square" lIns="0" tIns="0" rIns="0" bIns="0" rtlCol="0" anchor="ctr"/>
          <a:lstStyle/>
          <a:p>
            <a:pPr algn="ctr" indent="0" marL="0">
              <a:buNone/>
            </a:pPr>
            <a:r>
              <a:rPr lang="en-US" sz="1800" b="1" dirty="0">
                <a:solidFill>
                  <a:srgbClr val="0F2942"/>
                </a:solidFill>
                <a:latin typeface="Cambria" pitchFamily="34" charset="0"/>
                <a:ea typeface="Cambria" pitchFamily="34" charset="-122"/>
                <a:cs typeface="Cambria" pitchFamily="34" charset="-120"/>
              </a:rPr>
              <a:t>1</a:t>
            </a:r>
            <a:endParaRPr lang="en-US" sz="1800" dirty="0"/>
          </a:p>
        </p:txBody>
      </p:sp>
      <p:sp>
        <p:nvSpPr>
          <p:cNvPr id="5" name="Text 3"/>
          <p:cNvSpPr/>
          <p:nvPr/>
        </p:nvSpPr>
        <p:spPr>
          <a:xfrm>
            <a:off x="1600200" y="1554480"/>
            <a:ext cx="9692640" cy="347472"/>
          </a:xfrm>
          <a:prstGeom prst="rect">
            <a:avLst/>
          </a:prstGeom>
          <a:noFill/>
          <a:ln/>
        </p:spPr>
        <p:txBody>
          <a:bodyPr wrap="square" lIns="0" tIns="0" rIns="0" bIns="0" rtlCol="0" anchor="ctr"/>
          <a:lstStyle/>
          <a:p>
            <a:pPr indent="0" marL="0">
              <a:buNone/>
            </a:pPr>
            <a:r>
              <a:rPr lang="en-US" sz="1750" b="1" dirty="0">
                <a:solidFill>
                  <a:srgbClr val="FFFFFF"/>
                </a:solidFill>
                <a:latin typeface="Cambria" pitchFamily="34" charset="0"/>
                <a:ea typeface="Cambria" pitchFamily="34" charset="-122"/>
                <a:cs typeface="Cambria" pitchFamily="34" charset="-120"/>
              </a:rPr>
              <a:t>Eleven years only helps if old days actually count</a:t>
            </a:r>
            <a:endParaRPr lang="en-US" sz="1750" dirty="0"/>
          </a:p>
        </p:txBody>
      </p:sp>
      <p:sp>
        <p:nvSpPr>
          <p:cNvPr id="6" name="Text 4"/>
          <p:cNvSpPr/>
          <p:nvPr/>
        </p:nvSpPr>
        <p:spPr>
          <a:xfrm>
            <a:off x="1600200" y="1901952"/>
            <a:ext cx="9692640" cy="548640"/>
          </a:xfrm>
          <a:prstGeom prst="rect">
            <a:avLst/>
          </a:prstGeom>
          <a:noFill/>
          <a:ln/>
        </p:spPr>
        <p:txBody>
          <a:bodyPr wrap="square" lIns="0" tIns="0" rIns="0" bIns="0" rtlCol="0" anchor="ctr"/>
          <a:lstStyle/>
          <a:p>
            <a:pPr indent="0" marL="0">
              <a:lnSpc>
                <a:spcPct val="115000"/>
              </a:lnSpc>
              <a:buNone/>
            </a:pPr>
            <a:r>
              <a:rPr lang="en-US" sz="1250" dirty="0">
                <a:solidFill>
                  <a:srgbClr val="AEC3D6"/>
                </a:solidFill>
                <a:latin typeface="Calibri" pitchFamily="34" charset="0"/>
                <a:ea typeface="Calibri" pitchFamily="34" charset="-122"/>
                <a:cs typeface="Calibri" pitchFamily="34" charset="-120"/>
              </a:rPr>
              <a:t>The half-life setting is the change. Without it, a day from 2016 counts 1/35,000th of today and the extra history does nothing.</a:t>
            </a:r>
            <a:endParaRPr lang="en-US" sz="1250" dirty="0"/>
          </a:p>
        </p:txBody>
      </p:sp>
      <p:sp>
        <p:nvSpPr>
          <p:cNvPr id="7" name="Shape 5"/>
          <p:cNvSpPr/>
          <p:nvPr/>
        </p:nvSpPr>
        <p:spPr>
          <a:xfrm>
            <a:off x="822960" y="2569464"/>
            <a:ext cx="502920" cy="502920"/>
          </a:xfrm>
          <a:prstGeom prst="ellipse">
            <a:avLst/>
          </a:prstGeom>
          <a:solidFill>
            <a:srgbClr val="E8B547"/>
          </a:solidFill>
          <a:ln/>
        </p:spPr>
      </p:sp>
      <p:sp>
        <p:nvSpPr>
          <p:cNvPr id="8" name="Text 6"/>
          <p:cNvSpPr/>
          <p:nvPr/>
        </p:nvSpPr>
        <p:spPr>
          <a:xfrm>
            <a:off x="822960" y="2569464"/>
            <a:ext cx="502920" cy="502920"/>
          </a:xfrm>
          <a:prstGeom prst="rect">
            <a:avLst/>
          </a:prstGeom>
          <a:noFill/>
          <a:ln/>
        </p:spPr>
        <p:txBody>
          <a:bodyPr wrap="square" lIns="0" tIns="0" rIns="0" bIns="0" rtlCol="0" anchor="ctr"/>
          <a:lstStyle/>
          <a:p>
            <a:pPr algn="ctr" indent="0" marL="0">
              <a:buNone/>
            </a:pPr>
            <a:r>
              <a:rPr lang="en-US" sz="1800" b="1" dirty="0">
                <a:solidFill>
                  <a:srgbClr val="0F2942"/>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1600200" y="2523744"/>
            <a:ext cx="9692640" cy="347472"/>
          </a:xfrm>
          <a:prstGeom prst="rect">
            <a:avLst/>
          </a:prstGeom>
          <a:noFill/>
          <a:ln/>
        </p:spPr>
        <p:txBody>
          <a:bodyPr wrap="square" lIns="0" tIns="0" rIns="0" bIns="0" rtlCol="0" anchor="ctr"/>
          <a:lstStyle/>
          <a:p>
            <a:pPr indent="0" marL="0">
              <a:buNone/>
            </a:pPr>
            <a:r>
              <a:rPr lang="en-US" sz="1750" b="1" dirty="0">
                <a:solidFill>
                  <a:srgbClr val="FFFFFF"/>
                </a:solidFill>
                <a:latin typeface="Cambria" pitchFamily="34" charset="0"/>
                <a:ea typeface="Cambria" pitchFamily="34" charset="-122"/>
                <a:cs typeface="Cambria" pitchFamily="34" charset="-120"/>
              </a:rPr>
              <a:t>No peeking</a:t>
            </a:r>
            <a:endParaRPr lang="en-US" sz="1750" dirty="0"/>
          </a:p>
        </p:txBody>
      </p:sp>
      <p:sp>
        <p:nvSpPr>
          <p:cNvPr id="10" name="Text 8"/>
          <p:cNvSpPr/>
          <p:nvPr/>
        </p:nvSpPr>
        <p:spPr>
          <a:xfrm>
            <a:off x="1600200" y="2871216"/>
            <a:ext cx="9692640" cy="548640"/>
          </a:xfrm>
          <a:prstGeom prst="rect">
            <a:avLst/>
          </a:prstGeom>
          <a:noFill/>
          <a:ln/>
        </p:spPr>
        <p:txBody>
          <a:bodyPr wrap="square" lIns="0" tIns="0" rIns="0" bIns="0" rtlCol="0" anchor="ctr"/>
          <a:lstStyle/>
          <a:p>
            <a:pPr indent="0" marL="0">
              <a:lnSpc>
                <a:spcPct val="115000"/>
              </a:lnSpc>
              <a:buNone/>
            </a:pPr>
            <a:r>
              <a:rPr lang="en-US" sz="1250" dirty="0">
                <a:solidFill>
                  <a:srgbClr val="AEC3D6"/>
                </a:solidFill>
                <a:latin typeface="Calibri" pitchFamily="34" charset="0"/>
                <a:ea typeface="Calibri" pitchFamily="34" charset="-122"/>
                <a:cs typeface="Calibri" pitchFamily="34" charset="-120"/>
              </a:rPr>
              <a:t>There are 28 separate models because each forecast distance may legally see a different amount of history. Every chart here obeys it.</a:t>
            </a:r>
            <a:endParaRPr lang="en-US" sz="1250" dirty="0"/>
          </a:p>
        </p:txBody>
      </p:sp>
      <p:sp>
        <p:nvSpPr>
          <p:cNvPr id="11" name="Shape 9"/>
          <p:cNvSpPr/>
          <p:nvPr/>
        </p:nvSpPr>
        <p:spPr>
          <a:xfrm>
            <a:off x="822960" y="3538728"/>
            <a:ext cx="502920" cy="502920"/>
          </a:xfrm>
          <a:prstGeom prst="ellipse">
            <a:avLst/>
          </a:prstGeom>
          <a:solidFill>
            <a:srgbClr val="E8B547"/>
          </a:solidFill>
          <a:ln/>
        </p:spPr>
      </p:sp>
      <p:sp>
        <p:nvSpPr>
          <p:cNvPr id="12" name="Text 10"/>
          <p:cNvSpPr/>
          <p:nvPr/>
        </p:nvSpPr>
        <p:spPr>
          <a:xfrm>
            <a:off x="822960" y="3538728"/>
            <a:ext cx="502920" cy="502920"/>
          </a:xfrm>
          <a:prstGeom prst="rect">
            <a:avLst/>
          </a:prstGeom>
          <a:noFill/>
          <a:ln/>
        </p:spPr>
        <p:txBody>
          <a:bodyPr wrap="square" lIns="0" tIns="0" rIns="0" bIns="0" rtlCol="0" anchor="ctr"/>
          <a:lstStyle/>
          <a:p>
            <a:pPr algn="ctr" indent="0" marL="0">
              <a:buNone/>
            </a:pPr>
            <a:r>
              <a:rPr lang="en-US" sz="1800" b="1" dirty="0">
                <a:solidFill>
                  <a:srgbClr val="0F2942"/>
                </a:solidFill>
                <a:latin typeface="Cambria" pitchFamily="34" charset="0"/>
                <a:ea typeface="Cambria" pitchFamily="34" charset="-122"/>
                <a:cs typeface="Cambria" pitchFamily="34" charset="-120"/>
              </a:rPr>
              <a:t>3</a:t>
            </a:r>
            <a:endParaRPr lang="en-US" sz="1800" dirty="0"/>
          </a:p>
        </p:txBody>
      </p:sp>
      <p:sp>
        <p:nvSpPr>
          <p:cNvPr id="13" name="Text 11"/>
          <p:cNvSpPr/>
          <p:nvPr/>
        </p:nvSpPr>
        <p:spPr>
          <a:xfrm>
            <a:off x="1600200" y="3493008"/>
            <a:ext cx="9692640" cy="347472"/>
          </a:xfrm>
          <a:prstGeom prst="rect">
            <a:avLst/>
          </a:prstGeom>
          <a:noFill/>
          <a:ln/>
        </p:spPr>
        <p:txBody>
          <a:bodyPr wrap="square" lIns="0" tIns="0" rIns="0" bIns="0" rtlCol="0" anchor="ctr"/>
          <a:lstStyle/>
          <a:p>
            <a:pPr indent="0" marL="0">
              <a:buNone/>
            </a:pPr>
            <a:r>
              <a:rPr lang="en-US" sz="1750" b="1" dirty="0">
                <a:solidFill>
                  <a:srgbClr val="FFFFFF"/>
                </a:solidFill>
                <a:latin typeface="Cambria" pitchFamily="34" charset="0"/>
                <a:ea typeface="Cambria" pitchFamily="34" charset="-122"/>
                <a:cs typeface="Cambria" pitchFamily="34" charset="-120"/>
              </a:rPr>
              <a:t>The win is fewer disasters, not a better average</a:t>
            </a:r>
            <a:endParaRPr lang="en-US" sz="1750" dirty="0"/>
          </a:p>
        </p:txBody>
      </p:sp>
      <p:sp>
        <p:nvSpPr>
          <p:cNvPr id="14" name="Text 12"/>
          <p:cNvSpPr/>
          <p:nvPr/>
        </p:nvSpPr>
        <p:spPr>
          <a:xfrm>
            <a:off x="1600200" y="3840480"/>
            <a:ext cx="9692640" cy="548640"/>
          </a:xfrm>
          <a:prstGeom prst="rect">
            <a:avLst/>
          </a:prstGeom>
          <a:noFill/>
          <a:ln/>
        </p:spPr>
        <p:txBody>
          <a:bodyPr wrap="square" lIns="0" tIns="0" rIns="0" bIns="0" rtlCol="0" anchor="ctr"/>
          <a:lstStyle/>
          <a:p>
            <a:pPr indent="0" marL="0">
              <a:lnSpc>
                <a:spcPct val="115000"/>
              </a:lnSpc>
              <a:buNone/>
            </a:pPr>
            <a:r>
              <a:rPr lang="en-US" sz="1250" dirty="0">
                <a:solidFill>
                  <a:srgbClr val="AEC3D6"/>
                </a:solidFill>
                <a:latin typeface="Calibri" pitchFamily="34" charset="0"/>
                <a:ea typeface="Calibri" pitchFamily="34" charset="-122"/>
                <a:cs typeface="Calibri" pitchFamily="34" charset="-120"/>
              </a:rPr>
              <a:t>About 0.3 points better typically — but it turned a 27.7% miss into 3.2% on the worst measured day.</a:t>
            </a:r>
            <a:endParaRPr lang="en-US" sz="1250" dirty="0"/>
          </a:p>
        </p:txBody>
      </p:sp>
      <p:sp>
        <p:nvSpPr>
          <p:cNvPr id="15" name="Shape 13"/>
          <p:cNvSpPr/>
          <p:nvPr/>
        </p:nvSpPr>
        <p:spPr>
          <a:xfrm>
            <a:off x="822960" y="4507992"/>
            <a:ext cx="502920" cy="502920"/>
          </a:xfrm>
          <a:prstGeom prst="ellipse">
            <a:avLst/>
          </a:prstGeom>
          <a:solidFill>
            <a:srgbClr val="E8B547"/>
          </a:solidFill>
          <a:ln/>
        </p:spPr>
      </p:sp>
      <p:sp>
        <p:nvSpPr>
          <p:cNvPr id="16" name="Text 14"/>
          <p:cNvSpPr/>
          <p:nvPr/>
        </p:nvSpPr>
        <p:spPr>
          <a:xfrm>
            <a:off x="822960" y="4507992"/>
            <a:ext cx="502920" cy="502920"/>
          </a:xfrm>
          <a:prstGeom prst="rect">
            <a:avLst/>
          </a:prstGeom>
          <a:noFill/>
          <a:ln/>
        </p:spPr>
        <p:txBody>
          <a:bodyPr wrap="square" lIns="0" tIns="0" rIns="0" bIns="0" rtlCol="0" anchor="ctr"/>
          <a:lstStyle/>
          <a:p>
            <a:pPr algn="ctr" indent="0" marL="0">
              <a:buNone/>
            </a:pPr>
            <a:r>
              <a:rPr lang="en-US" sz="1800" b="1" dirty="0">
                <a:solidFill>
                  <a:srgbClr val="0F2942"/>
                </a:solidFill>
                <a:latin typeface="Cambria" pitchFamily="34" charset="0"/>
                <a:ea typeface="Cambria" pitchFamily="34" charset="-122"/>
                <a:cs typeface="Cambria" pitchFamily="34" charset="-120"/>
              </a:rPr>
              <a:t>4</a:t>
            </a:r>
            <a:endParaRPr lang="en-US" sz="1800" dirty="0"/>
          </a:p>
        </p:txBody>
      </p:sp>
      <p:sp>
        <p:nvSpPr>
          <p:cNvPr id="17" name="Text 15"/>
          <p:cNvSpPr/>
          <p:nvPr/>
        </p:nvSpPr>
        <p:spPr>
          <a:xfrm>
            <a:off x="1600200" y="4462272"/>
            <a:ext cx="9692640" cy="347472"/>
          </a:xfrm>
          <a:prstGeom prst="rect">
            <a:avLst/>
          </a:prstGeom>
          <a:noFill/>
          <a:ln/>
        </p:spPr>
        <p:txBody>
          <a:bodyPr wrap="square" lIns="0" tIns="0" rIns="0" bIns="0" rtlCol="0" anchor="ctr"/>
          <a:lstStyle/>
          <a:p>
            <a:pPr indent="0" marL="0">
              <a:buNone/>
            </a:pPr>
            <a:r>
              <a:rPr lang="en-US" sz="1750" b="1" dirty="0">
                <a:solidFill>
                  <a:srgbClr val="FFFFFF"/>
                </a:solidFill>
                <a:latin typeface="Cambria" pitchFamily="34" charset="0"/>
                <a:ea typeface="Cambria" pitchFamily="34" charset="-122"/>
                <a:cs typeface="Cambria" pitchFamily="34" charset="-120"/>
              </a:rPr>
              <a:t>Half the model is holidays</a:t>
            </a:r>
            <a:endParaRPr lang="en-US" sz="1750" dirty="0"/>
          </a:p>
        </p:txBody>
      </p:sp>
      <p:sp>
        <p:nvSpPr>
          <p:cNvPr id="18" name="Text 16"/>
          <p:cNvSpPr/>
          <p:nvPr/>
        </p:nvSpPr>
        <p:spPr>
          <a:xfrm>
            <a:off x="1600200" y="4809744"/>
            <a:ext cx="9692640" cy="548640"/>
          </a:xfrm>
          <a:prstGeom prst="rect">
            <a:avLst/>
          </a:prstGeom>
          <a:noFill/>
          <a:ln/>
        </p:spPr>
        <p:txBody>
          <a:bodyPr wrap="square" lIns="0" tIns="0" rIns="0" bIns="0" rtlCol="0" anchor="ctr"/>
          <a:lstStyle/>
          <a:p>
            <a:pPr indent="0" marL="0">
              <a:lnSpc>
                <a:spcPct val="115000"/>
              </a:lnSpc>
              <a:buNone/>
            </a:pPr>
            <a:r>
              <a:rPr lang="en-US" sz="1250" dirty="0">
                <a:solidFill>
                  <a:srgbClr val="AEC3D6"/>
                </a:solidFill>
                <a:latin typeface="Calibri" pitchFamily="34" charset="0"/>
                <a:ea typeface="Calibri" pitchFamily="34" charset="-122"/>
                <a:cs typeface="Calibri" pitchFamily="34" charset="-120"/>
              </a:rPr>
              <a:t>And Chinese New Year gets its own correction, because it cannot be learned from one or two examples.</a:t>
            </a:r>
            <a:endParaRPr lang="en-US" sz="1250" dirty="0"/>
          </a:p>
        </p:txBody>
      </p:sp>
      <p:sp>
        <p:nvSpPr>
          <p:cNvPr id="19" name="Shape 17"/>
          <p:cNvSpPr/>
          <p:nvPr/>
        </p:nvSpPr>
        <p:spPr>
          <a:xfrm>
            <a:off x="822960" y="5477256"/>
            <a:ext cx="502920" cy="502920"/>
          </a:xfrm>
          <a:prstGeom prst="ellipse">
            <a:avLst/>
          </a:prstGeom>
          <a:solidFill>
            <a:srgbClr val="E8B547"/>
          </a:solidFill>
          <a:ln/>
        </p:spPr>
      </p:sp>
      <p:sp>
        <p:nvSpPr>
          <p:cNvPr id="20" name="Text 18"/>
          <p:cNvSpPr/>
          <p:nvPr/>
        </p:nvSpPr>
        <p:spPr>
          <a:xfrm>
            <a:off x="822960" y="5477256"/>
            <a:ext cx="502920" cy="502920"/>
          </a:xfrm>
          <a:prstGeom prst="rect">
            <a:avLst/>
          </a:prstGeom>
          <a:noFill/>
          <a:ln/>
        </p:spPr>
        <p:txBody>
          <a:bodyPr wrap="square" lIns="0" tIns="0" rIns="0" bIns="0" rtlCol="0" anchor="ctr"/>
          <a:lstStyle/>
          <a:p>
            <a:pPr algn="ctr" indent="0" marL="0">
              <a:buNone/>
            </a:pPr>
            <a:r>
              <a:rPr lang="en-US" sz="1800" b="1" dirty="0">
                <a:solidFill>
                  <a:srgbClr val="0F2942"/>
                </a:solidFill>
                <a:latin typeface="Cambria" pitchFamily="34" charset="0"/>
                <a:ea typeface="Cambria" pitchFamily="34" charset="-122"/>
                <a:cs typeface="Cambria" pitchFamily="34" charset="-120"/>
              </a:rPr>
              <a:t>5</a:t>
            </a:r>
            <a:endParaRPr lang="en-US" sz="1800" dirty="0"/>
          </a:p>
        </p:txBody>
      </p:sp>
      <p:sp>
        <p:nvSpPr>
          <p:cNvPr id="21" name="Text 19"/>
          <p:cNvSpPr/>
          <p:nvPr/>
        </p:nvSpPr>
        <p:spPr>
          <a:xfrm>
            <a:off x="1600200" y="5431536"/>
            <a:ext cx="9692640" cy="347472"/>
          </a:xfrm>
          <a:prstGeom prst="rect">
            <a:avLst/>
          </a:prstGeom>
          <a:noFill/>
          <a:ln/>
        </p:spPr>
        <p:txBody>
          <a:bodyPr wrap="square" lIns="0" tIns="0" rIns="0" bIns="0" rtlCol="0" anchor="ctr"/>
          <a:lstStyle/>
          <a:p>
            <a:pPr indent="0" marL="0">
              <a:buNone/>
            </a:pPr>
            <a:r>
              <a:rPr lang="en-US" sz="1750" b="1" dirty="0">
                <a:solidFill>
                  <a:srgbClr val="FFFFFF"/>
                </a:solidFill>
                <a:latin typeface="Cambria" pitchFamily="34" charset="0"/>
                <a:ea typeface="Cambria" pitchFamily="34" charset="-122"/>
                <a:cs typeface="Cambria" pitchFamily="34" charset="-120"/>
              </a:rPr>
              <a:t>Measure before believing</a:t>
            </a:r>
            <a:endParaRPr lang="en-US" sz="1750" dirty="0"/>
          </a:p>
        </p:txBody>
      </p:sp>
      <p:sp>
        <p:nvSpPr>
          <p:cNvPr id="22" name="Text 20"/>
          <p:cNvSpPr/>
          <p:nvPr/>
        </p:nvSpPr>
        <p:spPr>
          <a:xfrm>
            <a:off x="1600200" y="5779008"/>
            <a:ext cx="9692640" cy="548640"/>
          </a:xfrm>
          <a:prstGeom prst="rect">
            <a:avLst/>
          </a:prstGeom>
          <a:noFill/>
          <a:ln/>
        </p:spPr>
        <p:txBody>
          <a:bodyPr wrap="square" lIns="0" tIns="0" rIns="0" bIns="0" rtlCol="0" anchor="ctr"/>
          <a:lstStyle/>
          <a:p>
            <a:pPr indent="0" marL="0">
              <a:lnSpc>
                <a:spcPct val="115000"/>
              </a:lnSpc>
              <a:buNone/>
            </a:pPr>
            <a:r>
              <a:rPr lang="en-US" sz="1250" dirty="0">
                <a:solidFill>
                  <a:srgbClr val="AEC3D6"/>
                </a:solidFill>
                <a:latin typeface="Calibri" pitchFamily="34" charset="0"/>
                <a:ea typeface="Calibri" pitchFamily="34" charset="-122"/>
                <a:cs typeface="Calibri" pitchFamily="34" charset="-120"/>
              </a:rPr>
              <a:t>Most sensible-sounding improvements tested here made things worse. A result from a single event is not a result.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Long-History Demand Forecast Model</dc:title>
  <dc:subject>PptxGenJS Presentation</dc:subject>
  <dc:creator>Demand Forecast</dc:creator>
  <cp:lastModifiedBy>Demand Forecast</cp:lastModifiedBy>
  <cp:revision>1</cp:revision>
  <dcterms:created xsi:type="dcterms:W3CDTF">2026-08-11T15:50:06Z</dcterms:created>
  <dcterms:modified xsi:type="dcterms:W3CDTF">2026-08-11T15:50:06Z</dcterms:modified>
</cp:coreProperties>
</file>