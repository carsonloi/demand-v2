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1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MAPE (%)</c:v>
                </c:pt>
              </c:strCache>
            </c:strRef>
          </c:tx>
          <c:spPr>
            <a:solidFill>
              <a:srgbClr val="C74B4B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23313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74B4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8BA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FA87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Naive
(same weekday,
last year)</c:v>
                  </c:pt>
                  <c:pt idx="1">
                    <c:v>Machine-learned
model</c:v>
                  </c:pt>
                  <c:pt idx="2">
                    <c:v>+ Chinese New Year
correction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9.14</c:v>
                </c:pt>
                <c:pt idx="1">
                  <c:v>5.1</c:v>
                </c:pt>
                <c:pt idx="2">
                  <c:v>4.26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23313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23313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.5"/>
          <c:min val="0"/>
        </c:scaling>
        <c:delete val="0"/>
        <c:axPos val="l"/>
        <c:majorGridlines>
          <c:spPr>
            <a:ln w="12700" cap="flat">
              <a:solidFill>
                <a:srgbClr val="E6ECF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F7183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F7183"/>
                    </a:solidFill>
                    <a:latin typeface="Arial"/>
                  </a:rPr>
                  <a:t>MAPE (%)  — lower is better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718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explain the full demand-forecast system to both management and technical stakeholders. Management: slides 2-7 and 21-25. Technical: slides 8-20.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-53% vs naive. 4.3% is the full-year operational number and includes Chinese New Year. A single CNY-free month scores ~3.4% - that better number is real but not representative, so it is not the headline.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to leave up if you only have five minutes. Everything after it is elaboration.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'why is 4.3% worse than the 2.5% we saw before' - the earlier figure was a single month with no Chinese New Year in it. This slide is the like-for-like full-year 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 as a bet made under uncertainty. The model does not remove the uncertainty — it measures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explicit that the table-shift conversion is an assumption, not a measured figure. The patron-hour numbers are direct from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 early: the forecast is live, the downstream optimisation is designed but needs per-table operational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 donut do the talking. The one number to say aloud: half the feature set exists to handle holidays.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most important technical slide. It explains both the architecture and why accuracy decays with horizon.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shaded red area shrinking across the three panels — that is the whole idea of boosting,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NeuralProphet number is real - it was run as part of the v2 model comparison. Useful for pre-empting 'why not deep learning'.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1 May 2026 example left to right. The point: selection picks WHICH models, the anchor corrects holiday under-shoot. Both learned from past data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a technical audience this is the credibility slide. For management, the message is simply: the numbers are not flattered.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ladder is measured across the full year to date including Chinese New Year, not a single favourable month. Each origin retrains from scratch on data available at that date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if anyone challenges the numbers. The short answer: 2.52% is a best-case benchmark on a month with no Chinese New Year; 4.26% is the realistic full-year figure and is the one to plan against.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 nuance: an earlier run on a March-May window showed a flat curve, because that window excluded CNY. Including CNY reveals the real horizon effect. Both results are consistent once you split the periods - this is the honest presentation.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explicit if asked: 3.98% here vs 2.52% earlier is not a contradiction — this is a single model over a harder window that includes CNY, evaluated at 1-day lead. Both numbers are honest, they measure different things.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buys credibility with a technical audience faster than any positive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554480"/>
            <a:ext cx="5669280" cy="5669280"/>
          </a:xfrm>
          <a:prstGeom prst="ellipse">
            <a:avLst/>
          </a:prstGeom>
          <a:solidFill>
            <a:srgbClr val="1A3D5C"/>
          </a:solidFill>
          <a:ln w="12700">
            <a:solidFill>
              <a:srgbClr val="1A3D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49840" y="3291840"/>
            <a:ext cx="3108960" cy="3108960"/>
          </a:xfrm>
          <a:prstGeom prst="ellipse">
            <a:avLst/>
          </a:prstGeom>
          <a:solidFill>
            <a:srgbClr val="2E8BA8"/>
          </a:solidFill>
          <a:ln w="12700">
            <a:solidFill>
              <a:srgbClr val="2E8B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600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E8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 ·  GAMING OPERATIONS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2011680"/>
            <a:ext cx="8412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Casino Demand Forecast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66928" y="342900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8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28-day, machine-learned demand forecast — and the planning pipeline it drives, from patron hours to dealer shifts.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66928" y="47091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· Methodology · Validation · Operations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E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2606040" cy="1572768"/>
          </a:xfrm>
          <a:prstGeom prst="roundRect">
            <a:avLst>
              <a:gd name="adj" fmla="val 3488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664208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66928" y="243230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forecast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ahead, daily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83280" y="1481328"/>
            <a:ext cx="2606040" cy="1572768"/>
          </a:xfrm>
          <a:prstGeom prst="roundRect">
            <a:avLst>
              <a:gd name="adj" fmla="val 3488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664208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FA8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4.3%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383280" y="243230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error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(2026 YTD)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99632" y="1481328"/>
            <a:ext cx="2606040" cy="1572768"/>
          </a:xfrm>
          <a:prstGeom prst="roundRect">
            <a:avLst>
              <a:gd name="adj" fmla="val 3488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99632" y="1664208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E8B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-53%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6199632" y="243230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vs. naive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15984" y="1481328"/>
            <a:ext cx="2606040" cy="1572768"/>
          </a:xfrm>
          <a:prstGeom prst="roundRect">
            <a:avLst>
              <a:gd name="adj" fmla="val 3488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15984" y="1664208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170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9015984" y="243230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346704"/>
            <a:ext cx="5440680" cy="2889504"/>
          </a:xfrm>
          <a:prstGeom prst="roundRect">
            <a:avLst>
              <a:gd name="adj" fmla="val 1899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1248" y="35661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1248" y="3950208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85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daily patron hours 28 days ahead, refreshed every day</a:t>
            </a:r>
            <a:endParaRPr lang="en-US" sz="1300" dirty="0"/>
          </a:p>
          <a:p>
            <a:pPr marL="342900" indent="-342900">
              <a:lnSpc>
                <a:spcPts val="1885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 median (P50) plus a P10–P90 planning band</a:t>
            </a:r>
            <a:endParaRPr lang="en-US" sz="1300" dirty="0"/>
          </a:p>
          <a:p>
            <a:pPr marL="342900" indent="-342900">
              <a:lnSpc>
                <a:spcPts val="1885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table-count, dealer-headcount and shift-assignment planning</a:t>
            </a:r>
            <a:endParaRPr lang="en-US" sz="1300" dirty="0"/>
          </a:p>
          <a:p>
            <a:pPr marL="342900" indent="-342900">
              <a:lnSpc>
                <a:spcPts val="1885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unattended in ~3 minutes; ~35 min for the highest-accuracy mode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81928" y="3346704"/>
            <a:ext cx="5440680" cy="2889504"/>
          </a:xfrm>
          <a:prstGeom prst="roundRect">
            <a:avLst>
              <a:gd name="adj" fmla="val 1899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56248" y="35661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556248" y="3950208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85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judgement-based planning with an auditable, repeatable number</a:t>
            </a:r>
            <a:endParaRPr lang="en-US" sz="1300" dirty="0"/>
          </a:p>
          <a:p>
            <a:pPr marL="342900" indent="-342900">
              <a:lnSpc>
                <a:spcPts val="1885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average daily mis-allocation from ~630 to ~300 patron hours</a:t>
            </a:r>
            <a:endParaRPr lang="en-US" sz="1300" dirty="0"/>
          </a:p>
          <a:p>
            <a:pPr marL="342900" indent="-342900">
              <a:lnSpc>
                <a:spcPts val="1885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Halves Chinese New Year error — the year's single costliest planning week</a:t>
            </a:r>
            <a:endParaRPr lang="en-US" sz="1300" dirty="0"/>
          </a:p>
          <a:p>
            <a:pPr marL="342900" indent="-342900">
              <a:lnSpc>
                <a:spcPts val="1885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is archived by date — forecasts are traceable after the fact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measured across 2026 year to date (1 Jan – 27 May, 147 days), re-forecasting weekly — the cadence the model is actually run at.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E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works, in one picture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2029968" cy="2395728"/>
          </a:xfrm>
          <a:prstGeom prst="roundRect">
            <a:avLst>
              <a:gd name="adj" fmla="val 2703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80744" y="1755648"/>
            <a:ext cx="402336" cy="402336"/>
          </a:xfrm>
          <a:prstGeom prst="ellipse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80744" y="17556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76656" y="230428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history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76656" y="2706624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879 days of daily patron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and table counts</a:t>
            </a:r>
            <a:endParaRPr lang="en-US" sz="1030" dirty="0"/>
          </a:p>
        </p:txBody>
      </p:sp>
      <p:sp>
        <p:nvSpPr>
          <p:cNvPr id="9" name="Text 7"/>
          <p:cNvSpPr/>
          <p:nvPr/>
        </p:nvSpPr>
        <p:spPr>
          <a:xfrm>
            <a:off x="2601468" y="2542032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743200" y="1536192"/>
            <a:ext cx="2029968" cy="2395728"/>
          </a:xfrm>
          <a:prstGeom prst="roundRect">
            <a:avLst>
              <a:gd name="adj" fmla="val 2703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57016" y="1755648"/>
            <a:ext cx="402336" cy="402336"/>
          </a:xfrm>
          <a:prstGeom prst="ellipse">
            <a:avLst/>
          </a:prstGeom>
          <a:solidFill>
            <a:srgbClr val="2E8BA8"/>
          </a:solidFill>
          <a:ln w="12700">
            <a:solidFill>
              <a:srgbClr val="2E8B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57016" y="17556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52928" y="230428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852928" y="2706624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 signals: weekday, holiday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windows, trends, momentum</a:t>
            </a:r>
            <a:endParaRPr lang="en-US" sz="1030" dirty="0"/>
          </a:p>
        </p:txBody>
      </p:sp>
      <p:sp>
        <p:nvSpPr>
          <p:cNvPr id="15" name="Text 13"/>
          <p:cNvSpPr/>
          <p:nvPr/>
        </p:nvSpPr>
        <p:spPr>
          <a:xfrm>
            <a:off x="4777740" y="2542032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919472" y="1536192"/>
            <a:ext cx="2029968" cy="2395728"/>
          </a:xfrm>
          <a:prstGeom prst="roundRect">
            <a:avLst>
              <a:gd name="adj" fmla="val 2703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733288" y="1755648"/>
            <a:ext cx="402336" cy="402336"/>
          </a:xfrm>
          <a:prstGeom prst="ellipse">
            <a:avLst/>
          </a:prstGeom>
          <a:solidFill>
            <a:srgbClr val="2E8BA8"/>
          </a:solidFill>
          <a:ln w="12700">
            <a:solidFill>
              <a:srgbClr val="2E8B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33288" y="17556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230428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 models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0" y="2706624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forecast day, so each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only data it would have had</a:t>
            </a:r>
            <a:endParaRPr lang="en-US" sz="1030" dirty="0"/>
          </a:p>
        </p:txBody>
      </p:sp>
      <p:sp>
        <p:nvSpPr>
          <p:cNvPr id="21" name="Text 19"/>
          <p:cNvSpPr/>
          <p:nvPr/>
        </p:nvSpPr>
        <p:spPr>
          <a:xfrm>
            <a:off x="6954012" y="2542032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095744" y="1536192"/>
            <a:ext cx="2029968" cy="2395728"/>
          </a:xfrm>
          <a:prstGeom prst="roundRect">
            <a:avLst>
              <a:gd name="adj" fmla="val 2703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909560" y="1755648"/>
            <a:ext cx="402336" cy="402336"/>
          </a:xfrm>
          <a:prstGeom prst="ellipse">
            <a:avLst/>
          </a:prstGeom>
          <a:solidFill>
            <a:srgbClr val="E8B547"/>
          </a:solidFill>
          <a:ln w="12700">
            <a:solidFill>
              <a:srgbClr val="E8B5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09560" y="17556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205472" y="230428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Holiday correction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205472" y="2706624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Chinese New Year adjusted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last year's pattern</a:t>
            </a:r>
            <a:endParaRPr lang="en-US" sz="1030" dirty="0"/>
          </a:p>
        </p:txBody>
      </p:sp>
      <p:sp>
        <p:nvSpPr>
          <p:cNvPr id="27" name="Text 25"/>
          <p:cNvSpPr/>
          <p:nvPr/>
        </p:nvSpPr>
        <p:spPr>
          <a:xfrm>
            <a:off x="9130284" y="2542032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9272016" y="1536192"/>
            <a:ext cx="2029968" cy="2395728"/>
          </a:xfrm>
          <a:prstGeom prst="roundRect">
            <a:avLst>
              <a:gd name="adj" fmla="val 2703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085832" y="1755648"/>
            <a:ext cx="402336" cy="402336"/>
          </a:xfrm>
          <a:prstGeom prst="ellipse">
            <a:avLst/>
          </a:prstGeom>
          <a:solidFill>
            <a:srgbClr val="2FA87C"/>
          </a:solidFill>
          <a:ln w="12700">
            <a:solidFill>
              <a:srgbClr val="2FA87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85832" y="17556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381744" y="230428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28-day forecast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381744" y="2706624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plus a planning band,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refreshed every run</a:t>
            </a:r>
            <a:endParaRPr lang="en-US" sz="1030" dirty="0"/>
          </a:p>
        </p:txBody>
      </p:sp>
      <p:sp>
        <p:nvSpPr>
          <p:cNvPr id="33" name="Shape 31"/>
          <p:cNvSpPr/>
          <p:nvPr/>
        </p:nvSpPr>
        <p:spPr>
          <a:xfrm>
            <a:off x="566928" y="4224528"/>
            <a:ext cx="5440680" cy="1956816"/>
          </a:xfrm>
          <a:prstGeom prst="roundRect">
            <a:avLst>
              <a:gd name="adj" fmla="val 2804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41248" y="442569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it trustworthy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41248" y="4791456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4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forecast never sees data that did not exist yet</a:t>
            </a:r>
            <a:endParaRPr lang="en-US" sz="1200" dirty="0"/>
          </a:p>
          <a:p>
            <a:pPr marL="342900" indent="-342900">
              <a:lnSpc>
                <a:spcPts val="174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Retrains from scratch each run — nothing to drift</a:t>
            </a:r>
            <a:endParaRPr lang="en-US" sz="1200" dirty="0"/>
          </a:p>
          <a:p>
            <a:pPr marL="342900" indent="-342900">
              <a:lnSpc>
                <a:spcPts val="174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in this deck is a measured backtest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281928" y="4224528"/>
            <a:ext cx="5440680" cy="1956816"/>
          </a:xfrm>
          <a:prstGeom prst="roundRect">
            <a:avLst>
              <a:gd name="adj" fmla="val 2804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556248" y="442569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 not do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556248" y="4791456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4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typhoon closures — a human applies that call</a:t>
            </a:r>
            <a:endParaRPr lang="en-US" sz="1200" dirty="0"/>
          </a:p>
          <a:p>
            <a:pPr marL="342900" indent="-342900">
              <a:lnSpc>
                <a:spcPts val="174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judgement on Chinese New Year staffing</a:t>
            </a:r>
            <a:endParaRPr lang="en-US" sz="1200" dirty="0"/>
          </a:p>
          <a:p>
            <a:pPr marL="342900" indent="-342900">
              <a:lnSpc>
                <a:spcPts val="174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 its uncertainty band; treat it as relative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1–6 that follow expand each of these five stages in detail.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E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STAND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Almost all remaining error sits in one week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Ordinary trading days are forecast tightly. Chinese New Year is the outlier — and this year it was cut by half.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700784"/>
            <a:ext cx="3456432" cy="2286000"/>
          </a:xfrm>
          <a:prstGeom prst="roundRect">
            <a:avLst>
              <a:gd name="adj" fmla="val 2400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" y="1883664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Ordinary days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68096" y="2231136"/>
            <a:ext cx="30540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FA8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3.8%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68096" y="3017520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129 of 147 days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8096" y="3310128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inside the tolerance that floor and roster planning needs.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42816" y="1700784"/>
            <a:ext cx="3456432" cy="2286000"/>
          </a:xfrm>
          <a:prstGeom prst="roundRect">
            <a:avLst>
              <a:gd name="adj" fmla="val 2400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43984" y="1883664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Chinese New Year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443984" y="2231136"/>
            <a:ext cx="30540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B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7.3%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443984" y="3017520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of 147 days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43984" y="3310128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14.2% before this year's correction — the single biggest improvement made.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918704" y="1700784"/>
            <a:ext cx="3456432" cy="2286000"/>
          </a:xfrm>
          <a:prstGeom prst="roundRect">
            <a:avLst>
              <a:gd name="adj" fmla="val 2400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119872" y="1883664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days combined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119872" y="2231136"/>
            <a:ext cx="30540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4.3%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8119872" y="3017520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147 days, 2026 YTD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119872" y="3310128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to quote. It includes the hard week rather than excluding it.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4224528"/>
            <a:ext cx="10588752" cy="1956816"/>
          </a:xfrm>
          <a:prstGeom prst="roundRect">
            <a:avLst>
              <a:gd name="adj" fmla="val 2804"/>
            </a:avLst>
          </a:prstGeom>
          <a:solidFill>
            <a:srgbClr val="FBF6E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59536" y="4407408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Chinese New Year, before and after the correction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59536" y="48463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728216" y="4882896"/>
            <a:ext cx="4046220" cy="237744"/>
          </a:xfrm>
          <a:prstGeom prst="roundRect">
            <a:avLst>
              <a:gd name="adj" fmla="val 11538"/>
            </a:avLst>
          </a:prstGeom>
          <a:solidFill>
            <a:srgbClr val="C74B4B"/>
          </a:solidFill>
          <a:ln w="12700">
            <a:solidFill>
              <a:srgbClr val="C74B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38444" y="48463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7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14.16%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59536" y="535838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728216" y="5394960"/>
            <a:ext cx="2083118" cy="237744"/>
          </a:xfrm>
          <a:prstGeom prst="roundRect">
            <a:avLst>
              <a:gd name="adj" fmla="val 11538"/>
            </a:avLst>
          </a:prstGeom>
          <a:solidFill>
            <a:srgbClr val="2FA87C"/>
          </a:solidFill>
          <a:ln w="12700">
            <a:solidFill>
              <a:srgbClr val="2FA8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75342" y="535838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7.29%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242048" y="4718304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correction matches each CNY day to the same position in last year's CNY — not the same calendar date, because the holiday moves by up to three weeks. It touches only CNY days; every other day is left exactly as the model produced it.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year to date, re-forecast weekly. The correction weight was calibrated on a prior year and applied unchanged — it was not tuned on the period being scored.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574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E8B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800" dirty="0"/>
          </a:p>
        </p:txBody>
      </p:sp>
      <p:sp>
        <p:nvSpPr>
          <p:cNvPr id="3" name="Text 1"/>
          <p:cNvSpPr/>
          <p:nvPr/>
        </p:nvSpPr>
        <p:spPr>
          <a:xfrm>
            <a:off x="2075688" y="2240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8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029968" y="25146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Staffing a floor against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unknown tomorrow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075688" y="3364992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forecast is the foundation of every downstream planning decision.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E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day, the floor makes an irreversible bet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 rosters are locked weeks in advance. Tables are opened and closed on the day. Both decisions are made before demand is known.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057400"/>
            <a:ext cx="3401568" cy="3200400"/>
          </a:xfrm>
          <a:prstGeom prst="roundRect">
            <a:avLst>
              <a:gd name="adj" fmla="val 1714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331720"/>
            <a:ext cx="384048" cy="384048"/>
          </a:xfrm>
          <a:prstGeom prst="ellipse">
            <a:avLst/>
          </a:prstGeom>
          <a:solidFill>
            <a:srgbClr val="C74B4B"/>
          </a:solidFill>
          <a:ln w="12700">
            <a:solidFill>
              <a:srgbClr val="C74B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16736" y="23500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 few tables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92608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13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Patrons wait, or walk to a competitor</a:t>
            </a:r>
            <a:endParaRPr lang="en-US" sz="1250" dirty="0"/>
          </a:p>
          <a:p>
            <a:pPr marL="342900" indent="-342900">
              <a:lnSpc>
                <a:spcPts val="1813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lost that cannot be recovered</a:t>
            </a:r>
            <a:endParaRPr lang="en-US" sz="1250" dirty="0"/>
          </a:p>
          <a:p>
            <a:pPr marL="342900" indent="-342900">
              <a:lnSpc>
                <a:spcPts val="1813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perception damaged on peak days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24528" y="2057400"/>
            <a:ext cx="3401568" cy="3200400"/>
          </a:xfrm>
          <a:prstGeom prst="roundRect">
            <a:avLst>
              <a:gd name="adj" fmla="val 1714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80560" y="2331720"/>
            <a:ext cx="384048" cy="384048"/>
          </a:xfrm>
          <a:prstGeom prst="ellipse">
            <a:avLst/>
          </a:prstGeom>
          <a:solidFill>
            <a:srgbClr val="E8B547"/>
          </a:solidFill>
          <a:ln w="12700">
            <a:solidFill>
              <a:srgbClr val="E8B5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74336" y="23500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 many tables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80560" y="292608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13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Dealers idle on paid shifts</a:t>
            </a:r>
            <a:endParaRPr lang="en-US" sz="1250" dirty="0"/>
          </a:p>
          <a:p>
            <a:pPr marL="342900" indent="-342900">
              <a:lnSpc>
                <a:spcPts val="1813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Wage cost with no matching revenue</a:t>
            </a:r>
            <a:endParaRPr lang="en-US" sz="1250" dirty="0"/>
          </a:p>
          <a:p>
            <a:pPr marL="342900" indent="-342900">
              <a:lnSpc>
                <a:spcPts val="1813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looks empty — a second-order deterrent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882128" y="2057400"/>
            <a:ext cx="3401568" cy="3200400"/>
          </a:xfrm>
          <a:prstGeom prst="roundRect">
            <a:avLst>
              <a:gd name="adj" fmla="val 1714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38160" y="2331720"/>
            <a:ext cx="384048" cy="384048"/>
          </a:xfrm>
          <a:prstGeom prst="ellipse">
            <a:avLst/>
          </a:prstGeom>
          <a:solidFill>
            <a:srgbClr val="2FA87C"/>
          </a:solidFill>
          <a:ln w="12700">
            <a:solidFill>
              <a:srgbClr val="2FA8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0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31936" y="23500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right number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138160" y="292608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13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matched to expected demand</a:t>
            </a:r>
            <a:endParaRPr lang="en-US" sz="1250" dirty="0"/>
          </a:p>
          <a:p>
            <a:pPr marL="342900" indent="-342900">
              <a:lnSpc>
                <a:spcPts val="1813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made explicit via P10–P90</a:t>
            </a:r>
            <a:endParaRPr lang="en-US" sz="1250" dirty="0"/>
          </a:p>
          <a:p>
            <a:pPr marL="342900" indent="-342900">
              <a:lnSpc>
                <a:spcPts val="1813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Consistent, auditable, repeatable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66928" y="54864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2E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swings 30–60% around major holidays — the periods where mis-staffing is most expensive.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E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QUANTIFYING THE GAP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forecast error costs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5331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an average day of ~6,900 patron hours, every percentage point of forecast error is ~69 patron hours of capacity placed in the wrong hour or not placed at all.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2084832"/>
            <a:ext cx="5120640" cy="2148840"/>
          </a:xfrm>
          <a:prstGeom prst="roundRect">
            <a:avLst>
              <a:gd name="adj" fmla="val 2553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9536" y="22860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planning (same weekday, last year)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59536" y="259689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74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9.14%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081528" y="26700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630 patron hours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mis-allocated per day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53328" y="2084832"/>
            <a:ext cx="5120640" cy="2148840"/>
          </a:xfrm>
          <a:prstGeom prst="roundRect">
            <a:avLst>
              <a:gd name="adj" fmla="val 2553"/>
            </a:avLst>
          </a:prstGeom>
          <a:solidFill>
            <a:srgbClr val="EAF6F1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45936" y="22860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(with Chinese New Year correction)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345936" y="259689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FA8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4.26%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567928" y="26700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300 patron hours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mis-allocated per day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4434840"/>
            <a:ext cx="10607040" cy="1417320"/>
          </a:xfrm>
          <a:prstGeom prst="roundRect">
            <a:avLst>
              <a:gd name="adj" fmla="val 3871"/>
            </a:avLst>
          </a:prstGeom>
          <a:solidFill>
            <a:srgbClr val="0F2942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32688" y="464515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330 patron hours per day of mis-allocation avoided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32688" y="513892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to roughly 2–4 table-shifts per day, depending on seats per table and utilisation — recovered every day, at no marginal cost once the model is running.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Patron-hour figures derived from mean daily demand × MAPE. Table-shift conversion depends on local seats-per-table and utilisation assumptions.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E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END-TO-END PIPELINE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history to headcount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1975104" cy="2331720"/>
          </a:xfrm>
          <a:prstGeom prst="roundRect">
            <a:avLst>
              <a:gd name="adj" fmla="val 2778"/>
            </a:avLst>
          </a:prstGeom>
          <a:solidFill>
            <a:srgbClr val="EAF3F7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35024" y="2121408"/>
            <a:ext cx="438912" cy="438912"/>
          </a:xfrm>
          <a:prstGeom prst="ellipse">
            <a:avLst/>
          </a:prstGeom>
          <a:solidFill>
            <a:srgbClr val="2E8BA8"/>
          </a:solidFill>
          <a:ln w="12700">
            <a:solidFill>
              <a:srgbClr val="2E8B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35024" y="21214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76656" y="2697480"/>
            <a:ext cx="1755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demand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76656" y="3310128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28-day patron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hours, P10/P50/P90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76656" y="3931920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2F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569464" y="2926080"/>
            <a:ext cx="201168" cy="182880"/>
          </a:xfrm>
          <a:prstGeom prst="rightArrow">
            <a:avLst/>
          </a:prstGeom>
          <a:solidFill>
            <a:srgbClr val="C3D2DE"/>
          </a:solidFill>
          <a:ln w="12700">
            <a:solidFill>
              <a:srgbClr val="C3D2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98064" y="1920240"/>
            <a:ext cx="1975104" cy="2331720"/>
          </a:xfrm>
          <a:prstGeom prst="roundRect">
            <a:avLst>
              <a:gd name="adj" fmla="val 2778"/>
            </a:avLst>
          </a:prstGeom>
          <a:solidFill>
            <a:srgbClr val="EAF3F7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66160" y="2121408"/>
            <a:ext cx="438912" cy="438912"/>
          </a:xfrm>
          <a:prstGeom prst="ellipse">
            <a:avLst/>
          </a:prstGeom>
          <a:solidFill>
            <a:srgbClr val="2E8BA8"/>
          </a:solidFill>
          <a:ln w="12700">
            <a:solidFill>
              <a:srgbClr val="2E8B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21214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07792" y="2697480"/>
            <a:ext cx="1755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Hourly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2907792" y="3310128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 the day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24 hours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907792" y="3931920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2F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800600" y="2926080"/>
            <a:ext cx="201168" cy="182880"/>
          </a:xfrm>
          <a:prstGeom prst="rightArrow">
            <a:avLst/>
          </a:prstGeom>
          <a:solidFill>
            <a:srgbClr val="C3D2DE"/>
          </a:solidFill>
          <a:ln w="12700">
            <a:solidFill>
              <a:srgbClr val="C3D2D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0" y="1920240"/>
            <a:ext cx="1975104" cy="2331720"/>
          </a:xfrm>
          <a:prstGeom prst="roundRect">
            <a:avLst>
              <a:gd name="adj" fmla="val 2778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797296" y="2121408"/>
            <a:ext cx="438912" cy="438912"/>
          </a:xfrm>
          <a:prstGeom prst="ellipse">
            <a:avLst/>
          </a:prstGeom>
          <a:solidFill>
            <a:srgbClr val="E8B547"/>
          </a:solidFill>
          <a:ln w="12700">
            <a:solidFill>
              <a:srgbClr val="E8B5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97296" y="21214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38928" y="2697480"/>
            <a:ext cx="1755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count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hour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138928" y="3310128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Erlang-B + newsvendor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level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38928" y="3931920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E8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031736" y="2926080"/>
            <a:ext cx="201168" cy="182880"/>
          </a:xfrm>
          <a:prstGeom prst="rightArrow">
            <a:avLst/>
          </a:prstGeom>
          <a:solidFill>
            <a:srgbClr val="C3D2DE"/>
          </a:solidFill>
          <a:ln w="12700">
            <a:solidFill>
              <a:srgbClr val="C3D2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60336" y="1920240"/>
            <a:ext cx="1975104" cy="2331720"/>
          </a:xfrm>
          <a:prstGeom prst="roundRect">
            <a:avLst>
              <a:gd name="adj" fmla="val 2778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028432" y="2121408"/>
            <a:ext cx="438912" cy="438912"/>
          </a:xfrm>
          <a:prstGeom prst="ellipse">
            <a:avLst/>
          </a:prstGeom>
          <a:solidFill>
            <a:srgbClr val="E8B547"/>
          </a:solidFill>
          <a:ln w="12700">
            <a:solidFill>
              <a:srgbClr val="E8B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28432" y="21214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70064" y="2697480"/>
            <a:ext cx="1755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Dealer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headcount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7370064" y="3310128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Relief factor ×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buffer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70064" y="3931920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E8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9262872" y="2926080"/>
            <a:ext cx="201168" cy="182880"/>
          </a:xfrm>
          <a:prstGeom prst="rightArrow">
            <a:avLst/>
          </a:prstGeom>
          <a:solidFill>
            <a:srgbClr val="C3D2DE"/>
          </a:solidFill>
          <a:ln w="12700">
            <a:solidFill>
              <a:srgbClr val="C3D2D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491472" y="1920240"/>
            <a:ext cx="1975104" cy="2331720"/>
          </a:xfrm>
          <a:prstGeom prst="roundRect">
            <a:avLst>
              <a:gd name="adj" fmla="val 2778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0259568" y="2121408"/>
            <a:ext cx="438912" cy="438912"/>
          </a:xfrm>
          <a:prstGeom prst="ellipse">
            <a:avLst/>
          </a:prstGeom>
          <a:solidFill>
            <a:srgbClr val="E8B547"/>
          </a:solidFill>
          <a:ln w="12700">
            <a:solidFill>
              <a:srgbClr val="E8B54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59568" y="21214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601200" y="2697480"/>
            <a:ext cx="1755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Shift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assignment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9601200" y="3310128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CP-SAT optimiser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table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601200" y="3931920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E8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66928" y="4617720"/>
            <a:ext cx="10607040" cy="1207008"/>
          </a:xfrm>
          <a:prstGeom prst="roundRect">
            <a:avLst>
              <a:gd name="adj" fmla="val 4545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886968" y="486460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covers all five stages — stages 1 and 2 are built and running; stages 3–5 are designed and specified, awaiting operational data.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574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E8B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800" dirty="0"/>
          </a:p>
        </p:txBody>
      </p:sp>
      <p:sp>
        <p:nvSpPr>
          <p:cNvPr id="3" name="Text 1"/>
          <p:cNvSpPr/>
          <p:nvPr/>
        </p:nvSpPr>
        <p:spPr>
          <a:xfrm>
            <a:off x="2075688" y="2240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8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FEATURE ENGINEERING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029968" y="25146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model sees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075688" y="3364992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171 engineered features from four data sources — and the leakage rule that shapes them all.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E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inputs, one contract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0607040" cy="1024128"/>
          </a:xfrm>
          <a:prstGeom prst="roundRect">
            <a:avLst>
              <a:gd name="adj" fmla="val 5357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719072"/>
            <a:ext cx="420624" cy="420624"/>
          </a:xfrm>
          <a:prstGeom prst="ellipse">
            <a:avLst/>
          </a:prstGeom>
          <a:solidFill>
            <a:srgbClr val="2E8BA8"/>
          </a:solidFill>
          <a:ln w="12700">
            <a:solidFill>
              <a:srgbClr val="2E8B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719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08176" y="158191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history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408176" y="1920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8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rawdata.csv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950208" y="16916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patron hours + floor table count. 879 days (Jan 2024 – May 2026).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985248" y="176479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2551176"/>
            <a:ext cx="10607040" cy="1024128"/>
          </a:xfrm>
          <a:prstGeom prst="roundRect">
            <a:avLst>
              <a:gd name="adj" fmla="val 5357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41248" y="2852928"/>
            <a:ext cx="420624" cy="420624"/>
          </a:xfrm>
          <a:prstGeom prst="ellipse">
            <a:avLst/>
          </a:prstGeom>
          <a:solidFill>
            <a:srgbClr val="2E8BA8"/>
          </a:solidFill>
          <a:ln w="12700">
            <a:solidFill>
              <a:srgbClr val="2E8B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2852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08176" y="271576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Holiday calendar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408176" y="30540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8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_shared.py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950208" y="2825496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dates + demand windows for 9 holidays, plus Mainland China working-day calendar.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985248" y="28986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" y="3685032"/>
            <a:ext cx="10607040" cy="1024128"/>
          </a:xfrm>
          <a:prstGeom prst="roundRect">
            <a:avLst>
              <a:gd name="adj" fmla="val 5357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1248" y="3986784"/>
            <a:ext cx="420624" cy="420624"/>
          </a:xfrm>
          <a:prstGeom prst="ellipse">
            <a:avLst/>
          </a:prstGeom>
          <a:solidFill>
            <a:srgbClr val="2FA87C"/>
          </a:solidFill>
          <a:ln w="12700">
            <a:solidFill>
              <a:srgbClr val="2FA8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3986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408176" y="384962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Typhoon signals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1408176" y="41879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8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typhoons.csv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950208" y="3959352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HKO Signal 8+ events, scraped automatically. Forward-looking (from weather forecast).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985248" y="403250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6928" y="4818888"/>
            <a:ext cx="10607040" cy="1024128"/>
          </a:xfrm>
          <a:prstGeom prst="roundRect">
            <a:avLst>
              <a:gd name="adj" fmla="val 5357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41248" y="5120640"/>
            <a:ext cx="420624" cy="420624"/>
          </a:xfrm>
          <a:prstGeom prst="ellipse">
            <a:avLst/>
          </a:prstGeom>
          <a:solidFill>
            <a:srgbClr val="E8B547"/>
          </a:solidFill>
          <a:ln w="12700">
            <a:solidFill>
              <a:srgbClr val="E8B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" y="5120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408176" y="49834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Hotel pacing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1408176" y="53218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8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reservations.csv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950208" y="5093208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 on the books by stay date and lead time. Wired and leakage-guarded.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985248" y="51663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data is the only mandatory input. The model degrades gracefully — a missing optional source becomes a neutral feature, never an error.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E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Half the model is about holidays</a:t>
            </a:r>
            <a:endParaRPr lang="en-US" sz="3000" dirty="0"/>
          </a:p>
        </p:txBody>
      </p:sp>
      <p:pic>
        <p:nvPicPr>
          <p:cNvPr id="4" name="Image 0" descr="D:\Applications\Work\Models\Demand Forecast v2\docs\assets\feature_don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371600"/>
            <a:ext cx="6583680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50608" y="1481328"/>
            <a:ext cx="4023360" cy="1005840"/>
          </a:xfrm>
          <a:prstGeom prst="roundRect">
            <a:avLst>
              <a:gd name="adj" fmla="val 5455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296912" y="1700784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B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8174736" y="166420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Holiday features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174736" y="1975104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Flags, day-offsets, distance to next holiday, holiday × weekday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150608" y="2615184"/>
            <a:ext cx="4023360" cy="1005840"/>
          </a:xfrm>
          <a:prstGeom prst="roundRect">
            <a:avLst>
              <a:gd name="adj" fmla="val 5455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296912" y="28346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8B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8174736" y="279806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History features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174736" y="3108960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Lags, rolling statistics, moving averages — all horizon-gated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150608" y="3749040"/>
            <a:ext cx="4023360" cy="1005840"/>
          </a:xfrm>
          <a:prstGeom prst="roundRect">
            <a:avLst>
              <a:gd name="adj" fmla="val 5455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296912" y="3968496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8174736" y="393192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Calendar features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174736" y="4242816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Weekday, month, cyclical encodings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150608" y="4882896"/>
            <a:ext cx="4023360" cy="1005840"/>
          </a:xfrm>
          <a:prstGeom prst="roundRect">
            <a:avLst>
              <a:gd name="adj" fmla="val 5455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296912" y="510235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F71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8174736" y="506577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else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174736" y="5376672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Mainland blocks, interactions, typhoon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 periods are a small share of the calendar but the largest share of forecast risk — the feature set reflects that.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E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HORIZON-AWARE FEATURES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rule that shapes everything: no peeking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forecast made 14 days out cannot use data from the last 13 days — that data does not exist yet. Every lag, rolling window and moving average is therefore gated by the forecast horizon.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2121408"/>
            <a:ext cx="10607040" cy="1024128"/>
          </a:xfrm>
          <a:prstGeom prst="roundRect">
            <a:avLst>
              <a:gd name="adj" fmla="val 5357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24505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day ahead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807208" y="2450592"/>
            <a:ext cx="329184" cy="329184"/>
          </a:xfrm>
          <a:prstGeom prst="ellipse">
            <a:avLst/>
          </a:prstGeom>
          <a:solidFill>
            <a:srgbClr val="2FA87C"/>
          </a:solidFill>
          <a:ln w="12700">
            <a:solidFill>
              <a:srgbClr val="2FA8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07208" y="2450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64408" y="2304288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lag_2, lag_3, lag_7, rolling_mean_7 …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807208" y="2688336"/>
            <a:ext cx="329184" cy="329184"/>
          </a:xfrm>
          <a:prstGeom prst="ellipse">
            <a:avLst/>
          </a:prstGeom>
          <a:solidFill>
            <a:srgbClr val="C74B4B"/>
          </a:solidFill>
          <a:ln w="12700">
            <a:solidFill>
              <a:srgbClr val="C74B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07208" y="2688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64408" y="2670048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lag_1 (today is not closed yet)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62088" y="2340864"/>
            <a:ext cx="3291840" cy="585216"/>
          </a:xfrm>
          <a:prstGeom prst="roundRect">
            <a:avLst>
              <a:gd name="adj" fmla="val 7813"/>
            </a:avLst>
          </a:prstGeom>
          <a:solidFill>
            <a:srgbClr val="EAF3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07808" y="2340864"/>
            <a:ext cx="3200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momentum available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3255264"/>
            <a:ext cx="10607040" cy="1024128"/>
          </a:xfrm>
          <a:prstGeom prst="roundRect">
            <a:avLst>
              <a:gd name="adj" fmla="val 5357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41248" y="35844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days ahead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807208" y="3584448"/>
            <a:ext cx="329184" cy="329184"/>
          </a:xfrm>
          <a:prstGeom prst="ellipse">
            <a:avLst/>
          </a:prstGeom>
          <a:solidFill>
            <a:srgbClr val="2FA87C"/>
          </a:solidFill>
          <a:ln w="12700">
            <a:solidFill>
              <a:srgbClr val="2FA8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07208" y="3584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64408" y="3438144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lag_8, lag_14, rolling means from day 8 back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807208" y="3822192"/>
            <a:ext cx="329184" cy="329184"/>
          </a:xfrm>
          <a:prstGeom prst="ellipse">
            <a:avLst/>
          </a:prstGeom>
          <a:solidFill>
            <a:srgbClr val="C74B4B"/>
          </a:solidFill>
          <a:ln w="12700">
            <a:solidFill>
              <a:srgbClr val="C74B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07208" y="3822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64408" y="3803904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lag_2 … lag_7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562088" y="3474720"/>
            <a:ext cx="3291840" cy="585216"/>
          </a:xfrm>
          <a:prstGeom prst="roundRect">
            <a:avLst>
              <a:gd name="adj" fmla="val 7813"/>
            </a:avLst>
          </a:prstGeom>
          <a:solidFill>
            <a:srgbClr val="EAF3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07808" y="3474720"/>
            <a:ext cx="3200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momentum available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66928" y="4389120"/>
            <a:ext cx="10607040" cy="1024128"/>
          </a:xfrm>
          <a:prstGeom prst="roundRect">
            <a:avLst>
              <a:gd name="adj" fmla="val 5357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41248" y="47183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 days ahead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2807208" y="4718304"/>
            <a:ext cx="329184" cy="329184"/>
          </a:xfrm>
          <a:prstGeom prst="ellipse">
            <a:avLst/>
          </a:prstGeom>
          <a:solidFill>
            <a:srgbClr val="2FA87C"/>
          </a:solidFill>
          <a:ln w="12700">
            <a:solidFill>
              <a:srgbClr val="2FA87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07208" y="47183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64408" y="4572000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lag_28, lag_35, lag_365, lag_728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807208" y="4956048"/>
            <a:ext cx="329184" cy="329184"/>
          </a:xfrm>
          <a:prstGeom prst="ellipse">
            <a:avLst/>
          </a:prstGeom>
          <a:solidFill>
            <a:srgbClr val="C74B4B"/>
          </a:solidFill>
          <a:ln w="12700">
            <a:solidFill>
              <a:srgbClr val="C74B4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07208" y="4956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264408" y="4937760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more recent than 28 days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562088" y="4608576"/>
            <a:ext cx="3291840" cy="585216"/>
          </a:xfrm>
          <a:prstGeom prst="roundRect">
            <a:avLst>
              <a:gd name="adj" fmla="val 7813"/>
            </a:avLst>
          </a:prstGeom>
          <a:solidFill>
            <a:srgbClr val="FBF1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07808" y="4608576"/>
            <a:ext cx="3200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A65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Long-memory signals only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66928" y="5596128"/>
            <a:ext cx="10607040" cy="658368"/>
          </a:xfrm>
          <a:prstGeom prst="roundRect">
            <a:avLst>
              <a:gd name="adj" fmla="val 8333"/>
            </a:avLst>
          </a:prstGeom>
          <a:solidFill>
            <a:srgbClr val="0F2942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86968" y="574243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Consequence: we train 28 separate models — one per forecast horizon — each with its own legal feature set.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E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DEEP-DIVE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Holidays get special treatment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 periods carry the largest demand swings and the largest forecast risk. Three mechanisms handle them.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10607040" cy="1188720"/>
          </a:xfrm>
          <a:prstGeom prst="roundRect">
            <a:avLst>
              <a:gd name="adj" fmla="val 4615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9536" y="2267712"/>
            <a:ext cx="420624" cy="420624"/>
          </a:xfrm>
          <a:prstGeom prst="ellipse">
            <a:avLst/>
          </a:prstGeom>
          <a:solidFill>
            <a:srgbClr val="2E8BA8"/>
          </a:solidFill>
          <a:ln w="12700">
            <a:solidFill>
              <a:srgbClr val="2E8B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22677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63040" y="206654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Windows, not days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463040" y="2414016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holiday has a demand window, not a single date — Chinese New Year runs −7 to +10 days; Dragon Boat −2 to +1 to capture the soft pre-holiday lull.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3200400"/>
            <a:ext cx="10607040" cy="1188720"/>
          </a:xfrm>
          <a:prstGeom prst="roundRect">
            <a:avLst>
              <a:gd name="adj" fmla="val 4615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59536" y="3584448"/>
            <a:ext cx="420624" cy="420624"/>
          </a:xfrm>
          <a:prstGeom prst="ellipse">
            <a:avLst/>
          </a:prstGeom>
          <a:solidFill>
            <a:srgbClr val="2E8BA8"/>
          </a:solidFill>
          <a:ln w="12700">
            <a:solidFill>
              <a:srgbClr val="2E8B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35844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63040" y="33832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Per-offset flags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463040" y="3730752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a window, each day-offset gets its own feature, so the model learns that day +1 behaves differently from day +4 rather than averaging them.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4517136"/>
            <a:ext cx="10607040" cy="1188720"/>
          </a:xfrm>
          <a:prstGeom prst="roundRect">
            <a:avLst>
              <a:gd name="adj" fmla="val 4615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9536" y="4901184"/>
            <a:ext cx="420624" cy="420624"/>
          </a:xfrm>
          <a:prstGeom prst="ellipse">
            <a:avLst/>
          </a:prstGeom>
          <a:solidFill>
            <a:srgbClr val="E8B547"/>
          </a:solidFill>
          <a:ln w="12700">
            <a:solidFill>
              <a:srgbClr val="E8B5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" y="4901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63040" y="470001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 vs lunar split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463040" y="5047488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Fixed-date holidays (Labour Day, Golden Week) align year-on-year, so last year's value is informative. Lunar holidays move by weeks — Chinese New Year gets a dedicated correction that matches position within the holiday, not calendar date.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5852160"/>
            <a:ext cx="10607040" cy="54864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41248" y="5961888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 holidays: Chinese New Year · Golden Week · Labour Day · Mid-Autumn · Dragon Boat · Ching Ming · Christmas · New Year · Easter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E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&amp; HOTEL PACING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external signals — and why one was removed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5212080" cy="4114800"/>
          </a:xfrm>
          <a:prstGeom prst="roundRect">
            <a:avLst>
              <a:gd name="adj" fmla="val 1333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6968" y="1691640"/>
            <a:ext cx="457200" cy="457200"/>
          </a:xfrm>
          <a:prstGeom prst="ellipse">
            <a:avLst/>
          </a:prstGeom>
          <a:solidFill>
            <a:srgbClr val="5F7183"/>
          </a:solidFill>
          <a:ln w="12700">
            <a:solidFill>
              <a:srgbClr val="5F718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81328" y="17373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Typhoon Signal 8+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36008" y="14813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C7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86968" y="2331720"/>
            <a:ext cx="4572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4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from the model in 2026 — it could not be learned reliably</a:t>
            </a:r>
            <a:endParaRPr lang="en-US" sz="1200" dirty="0"/>
          </a:p>
          <a:p>
            <a:pPr marL="342900" indent="-342900">
              <a:lnSpc>
                <a:spcPts val="174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typhoon days on record; impact ranged from +10% to −87%</a:t>
            </a:r>
            <a:endParaRPr lang="en-US" sz="1200" dirty="0"/>
          </a:p>
          <a:p>
            <a:pPr marL="342900" indent="-342900">
              <a:lnSpc>
                <a:spcPts val="174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driver is whether operations SUSPEND, a business decision the storm signal does not predict</a:t>
            </a:r>
            <a:endParaRPr lang="en-US" sz="1200" dirty="0"/>
          </a:p>
          <a:p>
            <a:pPr marL="342900" indent="-342900">
              <a:lnSpc>
                <a:spcPts val="174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applied by a person, as an explicit override, once the closure call is known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07608" y="1417320"/>
            <a:ext cx="5166360" cy="4114800"/>
          </a:xfrm>
          <a:prstGeom prst="roundRect">
            <a:avLst>
              <a:gd name="adj" fmla="val 1333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27648" y="1691640"/>
            <a:ext cx="457200" cy="457200"/>
          </a:xfrm>
          <a:prstGeom prst="ellipse">
            <a:avLst/>
          </a:prstGeom>
          <a:solidFill>
            <a:srgbClr val="E8B547"/>
          </a:solidFill>
          <a:ln w="12700">
            <a:solidFill>
              <a:srgbClr val="E8B5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27648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22008" y="17373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Hotel on-the-books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76688" y="14813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E8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327648" y="2331720"/>
            <a:ext cx="4572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4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 booked for each future stay date, by lead time</a:t>
            </a:r>
            <a:endParaRPr lang="en-US" sz="1200" dirty="0"/>
          </a:p>
          <a:p>
            <a:pPr marL="342900" indent="-342900">
              <a:lnSpc>
                <a:spcPts val="174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features: current pace, 7-day pick-up, and pace vs. same-weekday norm</a:t>
            </a:r>
            <a:endParaRPr lang="en-US" sz="1200" dirty="0"/>
          </a:p>
          <a:p>
            <a:pPr marL="342900" indent="-342900">
              <a:lnSpc>
                <a:spcPts val="174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signal at 1–14 days out; naturally fades at longer horizons</a:t>
            </a:r>
            <a:endParaRPr lang="en-US" sz="1200" dirty="0"/>
          </a:p>
          <a:p>
            <a:pPr marL="342900" indent="-342900">
              <a:lnSpc>
                <a:spcPts val="174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filtering ensures a run never sees bookings made after its run date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5715000"/>
            <a:ext cx="10607040" cy="658368"/>
          </a:xfrm>
          <a:prstGeom prst="roundRect">
            <a:avLst>
              <a:gd name="adj" fmla="val 8333"/>
            </a:avLst>
          </a:prstGeom>
          <a:solidFill>
            <a:srgbClr val="0F2942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86968" y="58704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principle: every feature must earn its place in backtests. Fewer, stronger signals beat many weak ones.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574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E8B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800" dirty="0"/>
          </a:p>
        </p:txBody>
      </p:sp>
      <p:sp>
        <p:nvSpPr>
          <p:cNvPr id="3" name="Text 1"/>
          <p:cNvSpPr/>
          <p:nvPr/>
        </p:nvSpPr>
        <p:spPr>
          <a:xfrm>
            <a:off x="2075688" y="2240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8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029968" y="25146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forecast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actually produced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075688" y="3364992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Per-horizon models, a six-model ensemble, and a validation design that cannot cheat.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E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ARCHITECTURE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Twenty-eight models, not one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each horizon has a different legal feature set, each horizon gets its own model — trained, tuned and evaluated independently.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2011680"/>
            <a:ext cx="694944" cy="914400"/>
          </a:xfrm>
          <a:prstGeom prst="roundRect">
            <a:avLst>
              <a:gd name="adj" fmla="val 6579"/>
            </a:avLst>
          </a:prstGeom>
          <a:solidFill>
            <a:srgbClr val="1E6E8C"/>
          </a:solidFill>
          <a:ln w="12700">
            <a:solidFill>
              <a:srgbClr val="1E6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2011680"/>
            <a:ext cx="694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16736" y="2011680"/>
            <a:ext cx="694944" cy="914400"/>
          </a:xfrm>
          <a:prstGeom prst="roundRect">
            <a:avLst>
              <a:gd name="adj" fmla="val 6579"/>
            </a:avLst>
          </a:prstGeom>
          <a:solidFill>
            <a:srgbClr val="1E6E8C"/>
          </a:solidFill>
          <a:ln w="12700">
            <a:solidFill>
              <a:srgbClr val="1E6E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16736" y="2011680"/>
            <a:ext cx="694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66544" y="2011680"/>
            <a:ext cx="694944" cy="914400"/>
          </a:xfrm>
          <a:prstGeom prst="roundRect">
            <a:avLst>
              <a:gd name="adj" fmla="val 6579"/>
            </a:avLst>
          </a:prstGeom>
          <a:solidFill>
            <a:srgbClr val="1E6E8C"/>
          </a:solidFill>
          <a:ln w="12700">
            <a:solidFill>
              <a:srgbClr val="1E6E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66544" y="2011680"/>
            <a:ext cx="694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16352" y="2011680"/>
            <a:ext cx="694944" cy="914400"/>
          </a:xfrm>
          <a:prstGeom prst="roundRect">
            <a:avLst>
              <a:gd name="adj" fmla="val 6579"/>
            </a:avLst>
          </a:prstGeom>
          <a:solidFill>
            <a:srgbClr val="1E6E8C"/>
          </a:solidFill>
          <a:ln w="12700">
            <a:solidFill>
              <a:srgbClr val="1E6E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16352" y="2011680"/>
            <a:ext cx="694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566160" y="2011680"/>
            <a:ext cx="694944" cy="914400"/>
          </a:xfrm>
          <a:prstGeom prst="roundRect">
            <a:avLst>
              <a:gd name="adj" fmla="val 6579"/>
            </a:avLst>
          </a:prstGeom>
          <a:solidFill>
            <a:srgbClr val="4E9CB5"/>
          </a:solidFill>
          <a:ln w="12700">
            <a:solidFill>
              <a:srgbClr val="4E9C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2011680"/>
            <a:ext cx="694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15968" y="2011680"/>
            <a:ext cx="694944" cy="914400"/>
          </a:xfrm>
          <a:prstGeom prst="roundRect">
            <a:avLst>
              <a:gd name="adj" fmla="val 6579"/>
            </a:avLst>
          </a:prstGeom>
          <a:solidFill>
            <a:srgbClr val="4E9CB5"/>
          </a:solidFill>
          <a:ln w="12700">
            <a:solidFill>
              <a:srgbClr val="4E9C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15968" y="2011680"/>
            <a:ext cx="694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h6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65776" y="2011680"/>
            <a:ext cx="694944" cy="914400"/>
          </a:xfrm>
          <a:prstGeom prst="roundRect">
            <a:avLst>
              <a:gd name="adj" fmla="val 6579"/>
            </a:avLst>
          </a:prstGeom>
          <a:solidFill>
            <a:srgbClr val="4E9CB5"/>
          </a:solidFill>
          <a:ln w="12700">
            <a:solidFill>
              <a:srgbClr val="4E9C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65776" y="2011680"/>
            <a:ext cx="694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h7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815584" y="2011680"/>
            <a:ext cx="694944" cy="914400"/>
          </a:xfrm>
          <a:prstGeom prst="roundRect">
            <a:avLst>
              <a:gd name="adj" fmla="val 6579"/>
            </a:avLst>
          </a:prstGeom>
          <a:solidFill>
            <a:srgbClr val="4E9CB5"/>
          </a:solidFill>
          <a:ln w="12700">
            <a:solidFill>
              <a:srgbClr val="4E9C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15584" y="2011680"/>
            <a:ext cx="694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h8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65392" y="2011680"/>
            <a:ext cx="694944" cy="914400"/>
          </a:xfrm>
          <a:prstGeom prst="roundRect">
            <a:avLst>
              <a:gd name="adj" fmla="val 6579"/>
            </a:avLst>
          </a:prstGeom>
          <a:solidFill>
            <a:srgbClr val="4E9CB5"/>
          </a:solidFill>
          <a:ln w="12700">
            <a:solidFill>
              <a:srgbClr val="4E9CB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65392" y="2011680"/>
            <a:ext cx="694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h9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0" y="2011680"/>
            <a:ext cx="694944" cy="914400"/>
          </a:xfrm>
          <a:prstGeom prst="roundRect">
            <a:avLst>
              <a:gd name="adj" fmla="val 6579"/>
            </a:avLst>
          </a:prstGeom>
          <a:solidFill>
            <a:srgbClr val="9CC6D6"/>
          </a:solidFill>
          <a:ln w="12700">
            <a:solidFill>
              <a:srgbClr val="9CC6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0" y="2011680"/>
            <a:ext cx="694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65008" y="2011680"/>
            <a:ext cx="694944" cy="914400"/>
          </a:xfrm>
          <a:prstGeom prst="roundRect">
            <a:avLst>
              <a:gd name="adj" fmla="val 6579"/>
            </a:avLst>
          </a:prstGeom>
          <a:solidFill>
            <a:srgbClr val="9CC6D6"/>
          </a:solidFill>
          <a:ln w="12700">
            <a:solidFill>
              <a:srgbClr val="9CC6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65008" y="2011680"/>
            <a:ext cx="694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h11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814816" y="2011680"/>
            <a:ext cx="694944" cy="914400"/>
          </a:xfrm>
          <a:prstGeom prst="roundRect">
            <a:avLst>
              <a:gd name="adj" fmla="val 6579"/>
            </a:avLst>
          </a:prstGeom>
          <a:solidFill>
            <a:srgbClr val="9CC6D6"/>
          </a:solidFill>
          <a:ln w="12700">
            <a:solidFill>
              <a:srgbClr val="9CC6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14816" y="2011680"/>
            <a:ext cx="694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h12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564624" y="2011680"/>
            <a:ext cx="694944" cy="914400"/>
          </a:xfrm>
          <a:prstGeom prst="roundRect">
            <a:avLst>
              <a:gd name="adj" fmla="val 6579"/>
            </a:avLst>
          </a:prstGeom>
          <a:solidFill>
            <a:srgbClr val="9CC6D6"/>
          </a:solidFill>
          <a:ln w="12700">
            <a:solidFill>
              <a:srgbClr val="9CC6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564624" y="2011680"/>
            <a:ext cx="694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h13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0314432" y="2011680"/>
            <a:ext cx="694944" cy="914400"/>
          </a:xfrm>
          <a:prstGeom prst="roundRect">
            <a:avLst>
              <a:gd name="adj" fmla="val 6579"/>
            </a:avLst>
          </a:prstGeom>
          <a:solidFill>
            <a:srgbClr val="9CC6D6"/>
          </a:solidFill>
          <a:ln w="12700">
            <a:solidFill>
              <a:srgbClr val="9CC6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314432" y="2011680"/>
            <a:ext cx="694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1109960" y="201168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 through  h28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66928" y="3017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horizons — rich recent history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67728" y="30175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horizons — long-memory signals only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66928" y="3493008"/>
            <a:ext cx="10607040" cy="82296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22960" y="3694176"/>
            <a:ext cx="402336" cy="402336"/>
          </a:xfrm>
          <a:prstGeom prst="ellipse">
            <a:avLst/>
          </a:prstGeom>
          <a:solidFill>
            <a:srgbClr val="1A3D5C"/>
          </a:solidFill>
          <a:ln w="12700">
            <a:solidFill>
              <a:srgbClr val="1A3D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2960" y="3694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389888" y="360273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weighting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389888" y="3895344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days count more (240-day half-life). Holiday-window days carry 3× weight so rare, high-stakes periods are not drowned out.</a:t>
            </a:r>
            <a:endParaRPr lang="en-US" sz="1180" dirty="0"/>
          </a:p>
        </p:txBody>
      </p:sp>
      <p:sp>
        <p:nvSpPr>
          <p:cNvPr id="41" name="Shape 39"/>
          <p:cNvSpPr/>
          <p:nvPr/>
        </p:nvSpPr>
        <p:spPr>
          <a:xfrm>
            <a:off x="566928" y="4425696"/>
            <a:ext cx="10607040" cy="82296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22960" y="4626864"/>
            <a:ext cx="402336" cy="402336"/>
          </a:xfrm>
          <a:prstGeom prst="ellipse">
            <a:avLst/>
          </a:prstGeom>
          <a:solidFill>
            <a:srgbClr val="1A3D5C"/>
          </a:solidFill>
          <a:ln w="12700">
            <a:solidFill>
              <a:srgbClr val="1A3D5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2960" y="46268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389888" y="453542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Trained from scratch, every run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1389888" y="482803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stored model artefacts to drift or go stale — each run retrains on all data available at its run date.</a:t>
            </a:r>
            <a:endParaRPr lang="en-US" sz="1180" dirty="0"/>
          </a:p>
        </p:txBody>
      </p:sp>
      <p:sp>
        <p:nvSpPr>
          <p:cNvPr id="46" name="Shape 44"/>
          <p:cNvSpPr/>
          <p:nvPr/>
        </p:nvSpPr>
        <p:spPr>
          <a:xfrm>
            <a:off x="566928" y="5358384"/>
            <a:ext cx="10607040" cy="82296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822960" y="5559552"/>
            <a:ext cx="402336" cy="402336"/>
          </a:xfrm>
          <a:prstGeom prst="ellipse">
            <a:avLst/>
          </a:prstGeom>
          <a:solidFill>
            <a:srgbClr val="1A3D5C"/>
          </a:solidFill>
          <a:ln w="12700">
            <a:solidFill>
              <a:srgbClr val="1A3D5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22960" y="5559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389888" y="546811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Non-negative, quantile-consistent output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1389888" y="5760720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are floored at zero and ordered so P10 ≤ P50 ≤ P90 always holds.</a:t>
            </a:r>
            <a:endParaRPr lang="en-US" sz="11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E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BOOSTING, IN PLAIN TERMS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model actually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35024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in the ensemble belongs to one family: gradient-boosted decision trees. The idea is to build many small, deliberately weak models in sequence — each one correcting what the previous ones got wrong.</a:t>
            </a:r>
            <a:endParaRPr lang="en-US" sz="1450" dirty="0"/>
          </a:p>
        </p:txBody>
      </p:sp>
      <p:pic>
        <p:nvPicPr>
          <p:cNvPr id="5" name="Image 0" descr="D:\Applications\Work\Models\Demand Forecast v2\docs\assets\boosting_stag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874520"/>
            <a:ext cx="10607040" cy="26243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645152"/>
            <a:ext cx="10607040" cy="658368"/>
          </a:xfrm>
          <a:prstGeom prst="roundRect">
            <a:avLst>
              <a:gd name="adj" fmla="val 8333"/>
            </a:avLst>
          </a:prstGeom>
          <a:solidFill>
            <a:srgbClr val="0F2942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66928" y="4645152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tree is trained on what the previous ones got wrong. Hundreds of small corrections add up to an accurate forecast.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5468112"/>
            <a:ext cx="3364992" cy="868680"/>
          </a:xfrm>
          <a:prstGeom prst="roundRect">
            <a:avLst>
              <a:gd name="adj" fmla="val 6316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68096" y="5669280"/>
            <a:ext cx="329184" cy="329184"/>
          </a:xfrm>
          <a:prstGeom prst="ellipse">
            <a:avLst/>
          </a:prstGeom>
          <a:solidFill>
            <a:srgbClr val="2FA87C"/>
          </a:solidFill>
          <a:ln w="12700">
            <a:solidFill>
              <a:srgbClr val="2FA87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8096" y="5669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70432" y="561441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Finds interactions itself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170432" y="5907024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Saturday-inside-Golden-Week is discovered, not coded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178808" y="5468112"/>
            <a:ext cx="3364992" cy="868680"/>
          </a:xfrm>
          <a:prstGeom prst="roundRect">
            <a:avLst>
              <a:gd name="adj" fmla="val 6316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79976" y="5669280"/>
            <a:ext cx="329184" cy="329184"/>
          </a:xfrm>
          <a:prstGeom prst="ellipse">
            <a:avLst/>
          </a:prstGeom>
          <a:solidFill>
            <a:srgbClr val="2FA87C"/>
          </a:solidFill>
          <a:ln w="12700">
            <a:solidFill>
              <a:srgbClr val="2FA87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79976" y="5669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782312" y="561441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Handles gaps natively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782312" y="5907024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horizons have lags deliberately withheld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790688" y="5468112"/>
            <a:ext cx="3364992" cy="868680"/>
          </a:xfrm>
          <a:prstGeom prst="roundRect">
            <a:avLst>
              <a:gd name="adj" fmla="val 6316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991856" y="5669280"/>
            <a:ext cx="329184" cy="329184"/>
          </a:xfrm>
          <a:prstGeom prst="ellipse">
            <a:avLst/>
          </a:prstGeom>
          <a:solidFill>
            <a:srgbClr val="2FA87C"/>
          </a:solidFill>
          <a:ln w="12700">
            <a:solidFill>
              <a:srgbClr val="2FA87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991856" y="5669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394192" y="561441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small tabular data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8394192" y="5907024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rows, hundreds of columns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E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· XGBOOST · CATBOOST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implementations, three ways to grow a tree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35024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do gradient boosting, but they build their trees differently — which is exactly why their mistakes differ, and why blending them helps.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3364992" cy="3977640"/>
          </a:xfrm>
          <a:prstGeom prst="roundRect">
            <a:avLst>
              <a:gd name="adj" fmla="val 1630"/>
            </a:avLst>
          </a:prstGeom>
          <a:solidFill>
            <a:srgbClr val="EAF3F7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86384" y="19933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LightGBM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2761488" y="206654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2E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86384" y="245059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2E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grows trees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86384" y="2670048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Leaf-wise growth — always splits the leaf that reduces error most, producing deep, asymmetric trees.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86384" y="3456432"/>
            <a:ext cx="256032" cy="256032"/>
          </a:xfrm>
          <a:prstGeom prst="ellipse">
            <a:avLst/>
          </a:prstGeom>
          <a:solidFill>
            <a:srgbClr val="2FA87C"/>
          </a:solidFill>
          <a:ln w="12700">
            <a:solidFill>
              <a:srgbClr val="2FA8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3456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5568" y="34381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to train; handles many features well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86384" y="3858768"/>
            <a:ext cx="256032" cy="256032"/>
          </a:xfrm>
          <a:prstGeom prst="ellipse">
            <a:avLst/>
          </a:prstGeom>
          <a:solidFill>
            <a:srgbClr val="C74B4B"/>
          </a:solidFill>
          <a:ln w="12700">
            <a:solidFill>
              <a:srgbClr val="C74B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" y="38587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384048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overfit small data if left unconstrained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86384" y="4315968"/>
            <a:ext cx="2926080" cy="1298448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40740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here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14400" y="4626864"/>
            <a:ext cx="2670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of the six ensemble members, and the entire fast daily mode.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4178808" y="1828800"/>
            <a:ext cx="3364992" cy="3977640"/>
          </a:xfrm>
          <a:prstGeom prst="roundRect">
            <a:avLst>
              <a:gd name="adj" fmla="val 1630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98264" y="19933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373368" y="206654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398264" y="245059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grows trees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398264" y="2670048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Level-wise growth — expands every node one depth at a time, giving balanced, symmetric trees.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98264" y="3456432"/>
            <a:ext cx="256032" cy="256032"/>
          </a:xfrm>
          <a:prstGeom prst="ellipse">
            <a:avLst/>
          </a:prstGeom>
          <a:solidFill>
            <a:srgbClr val="2FA87C"/>
          </a:solidFill>
          <a:ln w="12700">
            <a:solidFill>
              <a:srgbClr val="2FA8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98264" y="3456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27448" y="34381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Strong, well-tested regularisation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398264" y="3858768"/>
            <a:ext cx="256032" cy="256032"/>
          </a:xfrm>
          <a:prstGeom prst="ellipse">
            <a:avLst/>
          </a:prstGeom>
          <a:solidFill>
            <a:srgbClr val="C74B4B"/>
          </a:solidFill>
          <a:ln w="12700">
            <a:solidFill>
              <a:srgbClr val="C74B4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98264" y="38587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27448" y="384048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Slower; wastes splits on unhelpful branches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398264" y="4315968"/>
            <a:ext cx="2926080" cy="1298448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26280" y="440740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here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26280" y="4626864"/>
            <a:ext cx="2670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ensemble member, using a median (quantile) objective.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7790688" y="1828800"/>
            <a:ext cx="3364992" cy="3977640"/>
          </a:xfrm>
          <a:prstGeom prst="roundRect">
            <a:avLst>
              <a:gd name="adj" fmla="val 1630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010144" y="19933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CatBoost</a:t>
            </a:r>
            <a:endParaRPr lang="en-US" sz="1900" dirty="0"/>
          </a:p>
        </p:txBody>
      </p:sp>
      <p:sp>
        <p:nvSpPr>
          <p:cNvPr id="35" name="Text 33"/>
          <p:cNvSpPr/>
          <p:nvPr/>
        </p:nvSpPr>
        <p:spPr>
          <a:xfrm>
            <a:off x="9985248" y="206654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E8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010144" y="245059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E8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grows trees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010144" y="2670048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Oblivious trees — the same split is applied across a whole level, plus ordered boosting to curb bias.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010144" y="3456432"/>
            <a:ext cx="256032" cy="256032"/>
          </a:xfrm>
          <a:prstGeom prst="ellipse">
            <a:avLst/>
          </a:prstGeom>
          <a:solidFill>
            <a:srgbClr val="2FA87C"/>
          </a:solidFill>
          <a:ln w="12700">
            <a:solidFill>
              <a:srgbClr val="2FA87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10144" y="3456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339328" y="34381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Resists a subtle overfitting bias others share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010144" y="3858768"/>
            <a:ext cx="256032" cy="256032"/>
          </a:xfrm>
          <a:prstGeom prst="ellipse">
            <a:avLst/>
          </a:prstGeom>
          <a:solidFill>
            <a:srgbClr val="C74B4B"/>
          </a:solidFill>
          <a:ln w="12700">
            <a:solidFill>
              <a:srgbClr val="C74B4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10144" y="38587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339328" y="384048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Weakest of the three on its own here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010144" y="4315968"/>
            <a:ext cx="2926080" cy="1298448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138160" y="440740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here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138160" y="4626864"/>
            <a:ext cx="2670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member, absolute-error loss — valuable for its different failure mode.</a:t>
            </a:r>
            <a:endParaRPr lang="en-US" sz="1020" dirty="0"/>
          </a:p>
        </p:txBody>
      </p:sp>
      <p:sp>
        <p:nvSpPr>
          <p:cNvPr id="47" name="Text 45"/>
          <p:cNvSpPr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 are held deliberately conservative — shallow trees, low learning rate, strong regularisation — because each horizon trains on only a few hundred rows.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E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boosted trees, and not something else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Tested, not assumed — every alternative was run on this data.</a:t>
            </a:r>
            <a:endParaRPr lang="en-US" sz="1400" dirty="0"/>
          </a:p>
        </p:txBody>
      </p:sp>
      <p:pic>
        <p:nvPicPr>
          <p:cNvPr id="5" name="Image 0" descr="D:\Applications\Work\Models\Demand Forecast v2\docs\assets\family_ba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719072"/>
            <a:ext cx="6858000" cy="2788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709160"/>
            <a:ext cx="3364992" cy="9144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86384" y="4901184"/>
            <a:ext cx="347472" cy="347472"/>
          </a:xfrm>
          <a:prstGeom prst="ellipse">
            <a:avLst/>
          </a:prstGeom>
          <a:solidFill>
            <a:srgbClr val="5F7183"/>
          </a:solidFill>
          <a:ln w="12700">
            <a:solidFill>
              <a:srgbClr val="5F718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6384" y="4901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207008" y="4846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Classical time series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207008" y="513892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ARIMA, ETS — cannot absorb 171 features or holiday windows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207008" y="546811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VIABLE HERE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178808" y="4709160"/>
            <a:ext cx="3364992" cy="9144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98264" y="4901184"/>
            <a:ext cx="347472" cy="347472"/>
          </a:xfrm>
          <a:prstGeom prst="ellipse">
            <a:avLst/>
          </a:prstGeom>
          <a:solidFill>
            <a:srgbClr val="5F7183"/>
          </a:solidFill>
          <a:ln w="12700">
            <a:solidFill>
              <a:srgbClr val="5F718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98264" y="4901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818888" y="4846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Neural networks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818888" y="513892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LSTM, transformers — need far more than 880 days of history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818888" y="546811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VIABLE HERE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7790688" y="1719072"/>
            <a:ext cx="3383280" cy="2788920"/>
          </a:xfrm>
          <a:prstGeom prst="roundRect">
            <a:avLst>
              <a:gd name="adj" fmla="val 1967"/>
            </a:avLst>
          </a:prstGeom>
          <a:solidFill>
            <a:srgbClr val="EAF6F1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010144" y="190195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trees win here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010144" y="228600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68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measured accuracy</a:t>
            </a:r>
            <a:endParaRPr lang="en-US" sz="1150" dirty="0"/>
          </a:p>
          <a:p>
            <a:pPr marL="342900" indent="-342900">
              <a:lnSpc>
                <a:spcPts val="1668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missing-value handling</a:t>
            </a:r>
            <a:endParaRPr lang="en-US" sz="1150" dirty="0"/>
          </a:p>
          <a:p>
            <a:pPr marL="342900" indent="-342900">
              <a:lnSpc>
                <a:spcPts val="1668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in minutes on a laptop</a:t>
            </a:r>
            <a:endParaRPr lang="en-US" sz="1150" dirty="0"/>
          </a:p>
          <a:p>
            <a:pPr marL="342900" indent="-342900">
              <a:lnSpc>
                <a:spcPts val="1668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variants disagree usefully — so they blend well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7790688" y="4709160"/>
            <a:ext cx="3383280" cy="914400"/>
          </a:xfrm>
          <a:prstGeom prst="roundRect">
            <a:avLst>
              <a:gd name="adj" fmla="val 6000"/>
            </a:avLst>
          </a:prstGeom>
          <a:solidFill>
            <a:srgbClr val="0F2942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8010144" y="48280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2.52%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9436608" y="486460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on the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 window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from held-out backtests on this dataset, not published benchmarks. 2.52% is a single CNY-free month; the full-year figure is 4.26% — see Results.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E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ENSEMBLE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models, six different biases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algorithms fail differently. Blending them cancels individual quirks — the classic ensemble argument.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3364992" cy="1316736"/>
          </a:xfrm>
          <a:prstGeom prst="roundRect">
            <a:avLst>
              <a:gd name="adj" fmla="val 4167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86384" y="2093976"/>
            <a:ext cx="384048" cy="384048"/>
          </a:xfrm>
          <a:prstGeom prst="ellipse">
            <a:avLst/>
          </a:prstGeom>
          <a:solidFill>
            <a:srgbClr val="2E8BA8"/>
          </a:solidFill>
          <a:ln w="12700">
            <a:solidFill>
              <a:srgbClr val="2E8B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2093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61872" y="207568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LightGBM L2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86384" y="2587752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Squared-error objective. The workhorse, and the default fast mode.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78808" y="1874520"/>
            <a:ext cx="3364992" cy="1316736"/>
          </a:xfrm>
          <a:prstGeom prst="roundRect">
            <a:avLst>
              <a:gd name="adj" fmla="val 4167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98264" y="2093976"/>
            <a:ext cx="384048" cy="384048"/>
          </a:xfrm>
          <a:prstGeom prst="ellipse">
            <a:avLst/>
          </a:prstGeom>
          <a:solidFill>
            <a:srgbClr val="2E8BA8"/>
          </a:solidFill>
          <a:ln w="12700">
            <a:solidFill>
              <a:srgbClr val="2E8B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98264" y="2093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73752" y="207568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LightGBM quantile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398264" y="2587752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objective — naturally unbiased, robust to outliers.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90688" y="1874520"/>
            <a:ext cx="3364992" cy="1316736"/>
          </a:xfrm>
          <a:prstGeom prst="roundRect">
            <a:avLst>
              <a:gd name="adj" fmla="val 4167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10144" y="2093976"/>
            <a:ext cx="384048" cy="384048"/>
          </a:xfrm>
          <a:prstGeom prst="ellipse">
            <a:avLst/>
          </a:prstGeom>
          <a:solidFill>
            <a:srgbClr val="2E8BA8"/>
          </a:solidFill>
          <a:ln w="12700">
            <a:solidFill>
              <a:srgbClr val="2E8B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10144" y="2093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85632" y="207568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010144" y="2587752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split-finding and regularisation path.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" y="3355848"/>
            <a:ext cx="3364992" cy="1316736"/>
          </a:xfrm>
          <a:prstGeom prst="roundRect">
            <a:avLst>
              <a:gd name="adj" fmla="val 4167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86384" y="3575304"/>
            <a:ext cx="384048" cy="384048"/>
          </a:xfrm>
          <a:prstGeom prst="ellipse">
            <a:avLst/>
          </a:prstGeom>
          <a:solidFill>
            <a:srgbClr val="2E8BA8"/>
          </a:solidFill>
          <a:ln w="12700">
            <a:solidFill>
              <a:srgbClr val="2E8B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6384" y="3575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61872" y="3557016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CatBoost (MAE)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86384" y="4069080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boosting, absolute-error loss. Weakest alone, valuable for diversity.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78808" y="3355848"/>
            <a:ext cx="3364992" cy="1316736"/>
          </a:xfrm>
          <a:prstGeom prst="roundRect">
            <a:avLst>
              <a:gd name="adj" fmla="val 4167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398264" y="3575304"/>
            <a:ext cx="384048" cy="384048"/>
          </a:xfrm>
          <a:prstGeom prst="ellipse">
            <a:avLst/>
          </a:prstGeom>
          <a:solidFill>
            <a:srgbClr val="2E8BA8"/>
          </a:solidFill>
          <a:ln w="12700">
            <a:solidFill>
              <a:srgbClr val="2E8B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98264" y="3575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73752" y="3557016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Bagged LightGBM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398264" y="4069080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seeds averaged — variance reduction.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790688" y="3355848"/>
            <a:ext cx="3364992" cy="1316736"/>
          </a:xfrm>
          <a:prstGeom prst="roundRect">
            <a:avLst>
              <a:gd name="adj" fmla="val 4167"/>
            </a:avLst>
          </a:prstGeom>
          <a:solidFill>
            <a:srgbClr val="FBF4E4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010144" y="3575304"/>
            <a:ext cx="384048" cy="384048"/>
          </a:xfrm>
          <a:prstGeom prst="ellipse">
            <a:avLst/>
          </a:prstGeom>
          <a:solidFill>
            <a:srgbClr val="E8B547"/>
          </a:solidFill>
          <a:ln w="12700">
            <a:solidFill>
              <a:srgbClr val="E8B54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10144" y="3575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485632" y="3557016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Two-stage holiday specialist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010144" y="4069080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baseline model plus a second model trained only on holiday-window residuals.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66928" y="4956048"/>
            <a:ext cx="10607040" cy="1005840"/>
          </a:xfrm>
          <a:prstGeom prst="roundRect">
            <a:avLst>
              <a:gd name="adj" fmla="val 5455"/>
            </a:avLst>
          </a:prstGeom>
          <a:solidFill>
            <a:srgbClr val="0F2942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914400" y="513892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two-stage specialist is the one component built specifically for this problem — it isolates “what is different about holidays” instead of asking one model to learn normal days and holidays at once.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E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BLENDING STRATEGY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all models are best everywhere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refinements on top of a plain average. Both are shown here on one real day: Friday 1 May 2026.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719072"/>
            <a:ext cx="5120640" cy="2331720"/>
          </a:xfrm>
          <a:prstGeom prst="roundRect">
            <a:avLst>
              <a:gd name="adj" fmla="val 2353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901952"/>
            <a:ext cx="402336" cy="402336"/>
          </a:xfrm>
          <a:prstGeom prst="ellipse">
            <a:avLst/>
          </a:prstGeom>
          <a:solidFill>
            <a:srgbClr val="2E8BA8"/>
          </a:solidFill>
          <a:ln w="12700">
            <a:solidFill>
              <a:srgbClr val="2E8B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89888" y="193852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the best models per cell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41248" y="2359152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averaging all six models everywhere, use the best two for each weekday-and-lead-time combination.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41248" y="2852928"/>
            <a:ext cx="4572000" cy="274320"/>
          </a:xfrm>
          <a:prstGeom prst="rect">
            <a:avLst/>
          </a:prstGeom>
          <a:solidFill>
            <a:srgbClr val="E4EDF3"/>
          </a:solidFill>
          <a:ln w="12700">
            <a:solidFill>
              <a:srgbClr val="E4ED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87121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· lead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670048" y="287121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used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32688" y="314553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· 1 day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670048" y="314553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+ CatBoost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32688" y="341985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· 14 days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670048" y="341985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LightGBM-bagged + 2-stage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32688" y="369417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Tuesday · 7 days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670048" y="369417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LightGBM-L2 + XGBoost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53328" y="1719072"/>
            <a:ext cx="5120640" cy="2331720"/>
          </a:xfrm>
          <a:prstGeom prst="roundRect">
            <a:avLst>
              <a:gd name="adj" fmla="val 2353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09360" y="1901952"/>
            <a:ext cx="402336" cy="402336"/>
          </a:xfrm>
          <a:prstGeom prst="ellipse">
            <a:avLst/>
          </a:prstGeom>
          <a:solidFill>
            <a:srgbClr val="E8B547"/>
          </a:solidFill>
          <a:ln w="12700">
            <a:solidFill>
              <a:srgbClr val="E8B5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76288" y="193852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Nudge holidays toward last year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327648" y="2359152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under-shoots holiday peaks. On holiday days we blend in last year's value, grown forward.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19088" y="283464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year — 1 May 2025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482328" y="283464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8,349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19088" y="306324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demand growth since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482328" y="306324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1.02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329184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anchor estimate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482328" y="329184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8,517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19088" y="352044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alone said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482328" y="352044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7,939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19088" y="374904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80 / 20 →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482328" y="374904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8,055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66928" y="4224528"/>
            <a:ext cx="10607040" cy="960120"/>
          </a:xfrm>
          <a:prstGeom prst="roundRect">
            <a:avLst>
              <a:gd name="adj" fmla="val 5714"/>
            </a:avLst>
          </a:prstGeom>
          <a:solidFill>
            <a:srgbClr val="0F2942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932688" y="437083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 demand on 1 May 2026:  8,653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932688" y="473659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alone were 8.3% low.  With the anchor, 6.9% low — the same correction applied across every holiday.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66928" y="5376672"/>
            <a:ext cx="3364992" cy="841248"/>
          </a:xfrm>
          <a:prstGeom prst="roundRect">
            <a:avLst>
              <a:gd name="adj" fmla="val 6522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86384" y="5486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F71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3.30%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2212848" y="559612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average of 6 models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986784" y="5705856"/>
            <a:ext cx="146304" cy="164592"/>
          </a:xfrm>
          <a:prstGeom prst="rightArrow">
            <a:avLst/>
          </a:prstGeom>
          <a:solidFill>
            <a:srgbClr val="C3D2DE"/>
          </a:solidFill>
          <a:ln w="12700">
            <a:solidFill>
              <a:srgbClr val="C3D2D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178808" y="5376672"/>
            <a:ext cx="3364992" cy="841248"/>
          </a:xfrm>
          <a:prstGeom prst="roundRect">
            <a:avLst>
              <a:gd name="adj" fmla="val 6522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398264" y="5486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8B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3.02%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5824728" y="559612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best-two selection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598664" y="5705856"/>
            <a:ext cx="146304" cy="164592"/>
          </a:xfrm>
          <a:prstGeom prst="rightArrow">
            <a:avLst/>
          </a:prstGeom>
          <a:solidFill>
            <a:srgbClr val="C3D2DE"/>
          </a:solidFill>
          <a:ln w="12700">
            <a:solidFill>
              <a:srgbClr val="C3D2D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90688" y="5376672"/>
            <a:ext cx="3364992" cy="841248"/>
          </a:xfrm>
          <a:prstGeom prst="roundRect">
            <a:avLst>
              <a:gd name="adj" fmla="val 6522"/>
            </a:avLst>
          </a:prstGeom>
          <a:solidFill>
            <a:srgbClr val="EAF6F1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8010144" y="5486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A8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2.52%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9436608" y="559612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holiday anchor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progression is measured on the May 2026 window (no Chinese New Year). Chinese New Year is corrected by a separate mechanism — see the overview and Results sections.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E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GUARDING AGAINST LEAKAGE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validation design that cannot cheat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easiest way to produce an impressive but worthless forecast is to let the model see the answers. Three guards prevent it.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5120640" cy="2423160"/>
          </a:xfrm>
          <a:prstGeom prst="roundRect">
            <a:avLst>
              <a:gd name="adj" fmla="val 2264"/>
            </a:avLst>
          </a:prstGeom>
          <a:solidFill>
            <a:srgbClr val="EAF3F7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205740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 1 — Calibration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2450592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4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data before the last 180 days</a:t>
            </a:r>
            <a:endParaRPr lang="en-US" sz="1200" dirty="0"/>
          </a:p>
          <a:p>
            <a:pPr marL="342900" indent="-342900">
              <a:lnSpc>
                <a:spcPts val="174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those 180 days — unseen during training</a:t>
            </a:r>
            <a:endParaRPr lang="en-US" sz="1200" dirty="0"/>
          </a:p>
          <a:p>
            <a:pPr marL="342900" indent="-342900">
              <a:lnSpc>
                <a:spcPts val="174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selection table and anchor weight from these honest errors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53328" y="1874520"/>
            <a:ext cx="5120640" cy="2423160"/>
          </a:xfrm>
          <a:prstGeom prst="roundRect">
            <a:avLst>
              <a:gd name="adj" fmla="val 2264"/>
            </a:avLst>
          </a:prstGeom>
          <a:solidFill>
            <a:srgbClr val="EAF6F1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27648" y="205740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 2 — Production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27648" y="2450592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4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on all available data</a:t>
            </a:r>
            <a:endParaRPr lang="en-US" sz="1200" dirty="0"/>
          </a:p>
          <a:p>
            <a:pPr marL="342900" indent="-342900">
              <a:lnSpc>
                <a:spcPts val="174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the true future</a:t>
            </a:r>
            <a:endParaRPr lang="en-US" sz="1200" dirty="0"/>
          </a:p>
          <a:p>
            <a:pPr marL="342900" indent="-342900">
              <a:lnSpc>
                <a:spcPts val="174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recipe learned in Round 1, unchanged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4526280"/>
            <a:ext cx="3364992" cy="1417320"/>
          </a:xfrm>
          <a:prstGeom prst="roundRect">
            <a:avLst>
              <a:gd name="adj" fmla="val 3871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95528" y="468172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95528" y="5010912"/>
            <a:ext cx="2926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is restricted to dates on or before the run date, even when newer actuals sit in the file.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78808" y="4526280"/>
            <a:ext cx="3364992" cy="1417320"/>
          </a:xfrm>
          <a:prstGeom prst="roundRect">
            <a:avLst>
              <a:gd name="adj" fmla="val 3871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407408" y="468172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Hotel pacing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407408" y="5010912"/>
            <a:ext cx="2926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snapshots taken after the run date are dropped before any feature is computed.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90688" y="4526280"/>
            <a:ext cx="3364992" cy="1417320"/>
          </a:xfrm>
          <a:prstGeom prst="roundRect">
            <a:avLst>
              <a:gd name="adj" fmla="val 3871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019288" y="468172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Typhoon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019288" y="5010912"/>
            <a:ext cx="2926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for future dates by design — warnings are genuinely available ahead of time. A strict backtest switch exists.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of this design, reported accuracy is what the model would genuinely have achieved in production on those dates.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574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E8B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800" dirty="0"/>
          </a:p>
        </p:txBody>
      </p:sp>
      <p:sp>
        <p:nvSpPr>
          <p:cNvPr id="3" name="Text 1"/>
          <p:cNvSpPr/>
          <p:nvPr/>
        </p:nvSpPr>
        <p:spPr>
          <a:xfrm>
            <a:off x="2075688" y="2240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8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029968" y="25146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accurate is it,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against what?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075688" y="3364992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against three naive baselines on the same held-out window.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E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COMPARISON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step earns its complexity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371600"/>
          <a:ext cx="758952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522208" y="1371600"/>
            <a:ext cx="2651760" cy="1965960"/>
          </a:xfrm>
          <a:prstGeom prst="roundRect">
            <a:avLst>
              <a:gd name="adj" fmla="val 2791"/>
            </a:avLst>
          </a:prstGeom>
          <a:solidFill>
            <a:srgbClr val="EAF6F1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522208" y="157276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FA8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53%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522208" y="230428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error than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naive baseline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522208" y="285292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9.14% → 4.26%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522208" y="3520440"/>
            <a:ext cx="2651760" cy="2011680"/>
          </a:xfrm>
          <a:prstGeom prst="roundRect">
            <a:avLst>
              <a:gd name="adj" fmla="val 2727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705088" y="367588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it as a ladder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705088" y="4005072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closes most of the gap. The Chinese New Year correction closes a further 0.84pp — and it is worth far more than that on CNY days themselves.</a:t>
            </a:r>
            <a:endParaRPr lang="en-US" sz="1080" dirty="0"/>
          </a:p>
        </p:txBody>
      </p:sp>
      <p:sp>
        <p:nvSpPr>
          <p:cNvPr id="12" name="Text 9"/>
          <p:cNvSpPr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year to date: 1 Jan – 27 May, 147 days, re-forecast weekly. Every forecast trained only on data available at that point in time.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E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NUMBERS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you will see two accuracy numbers in this deck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correct. They measure different periods, with different models, over different forecast distances.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767328" y="1572768"/>
            <a:ext cx="3657600" cy="566928"/>
          </a:xfrm>
          <a:prstGeom prst="roundRect">
            <a:avLst>
              <a:gd name="adj" fmla="val 9677"/>
            </a:avLst>
          </a:prstGeom>
          <a:solidFill>
            <a:srgbClr val="EAF0F6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767328" y="164592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8B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2.52%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653528" y="1572768"/>
            <a:ext cx="3657600" cy="566928"/>
          </a:xfrm>
          <a:prstGeom prst="roundRect">
            <a:avLst>
              <a:gd name="adj" fmla="val 9677"/>
            </a:avLst>
          </a:prstGeom>
          <a:solidFill>
            <a:srgbClr val="EAF6F1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653528" y="164592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A8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767328" y="215798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appears on the model-selection slide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653528" y="215798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appears on the results slide — the one to quote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" y="2542032"/>
            <a:ext cx="10607040" cy="603504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596896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measured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767328" y="2596896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1–28 May 2026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(28 days)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653528" y="2596896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Jan – 27 May 2026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(147 days)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3200400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Chinese New Year included?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767328" y="3200400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that month has none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653528" y="3200400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18 of the 147 days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3749040"/>
            <a:ext cx="10607040" cy="603504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803904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configuration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767328" y="3803904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6-model ensemble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selection + holiday anchor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653528" y="3803904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fast model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CNY correction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4407408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distance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767328" y="4407408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28-day forecast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653528" y="4407408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Re-forecast weekly,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1–7 used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" y="4956048"/>
            <a:ext cx="10607040" cy="603504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5010912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tells you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767328" y="5010912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case on a clean month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653528" y="5010912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expect operationally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6928" y="5614416"/>
            <a:ext cx="10607040" cy="658368"/>
          </a:xfrm>
          <a:prstGeom prst="roundRect">
            <a:avLst>
              <a:gd name="adj" fmla="val 8333"/>
            </a:avLst>
          </a:prstGeom>
          <a:solidFill>
            <a:srgbClr val="0F2942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86968" y="576986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SAME May window, today's production model scores 3.41% — the gap to 4.26% is Chinese New Year, not a regression.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E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HORIZON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Long-range error is concentrated in one week of the year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decays with lead time — but almost all of that decay comes from Chinese New Year.</a:t>
            </a:r>
            <a:endParaRPr lang="en-US" sz="1350" dirty="0"/>
          </a:p>
        </p:txBody>
      </p:sp>
      <p:pic>
        <p:nvPicPr>
          <p:cNvPr id="5" name="Image 0" descr="D:\Applications\Work\Models\Demand Forecast v2\forecasts\chart_accuracy_by_le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7223760" cy="3611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5230368"/>
            <a:ext cx="7223760" cy="1024128"/>
          </a:xfrm>
          <a:prstGeom prst="roundRect">
            <a:avLst>
              <a:gd name="adj" fmla="val 5357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68096" y="534009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968496" y="534009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day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202936" y="534009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days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437376" y="534009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days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68096" y="561441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7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Chinese New Year (10 days)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968496" y="561441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C7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6.2%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202936" y="561441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C7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22.5%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437376" y="561441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C7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19.8%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68096" y="588873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F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of year (62 days)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968496" y="588873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2F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202936" y="588873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2F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6.0%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437376" y="588873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2F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4.4%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156448" y="1481328"/>
            <a:ext cx="3017520" cy="1481328"/>
          </a:xfrm>
          <a:prstGeom prst="roundRect">
            <a:avLst>
              <a:gd name="adj" fmla="val 3704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339328" y="1645920"/>
            <a:ext cx="329184" cy="329184"/>
          </a:xfrm>
          <a:prstGeom prst="ellipse">
            <a:avLst/>
          </a:prstGeom>
          <a:solidFill>
            <a:srgbClr val="C74B4B"/>
          </a:solidFill>
          <a:ln w="12700">
            <a:solidFill>
              <a:srgbClr val="C74B4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339328" y="1645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741664" y="16276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CNY is the hard case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8339328" y="2066544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two weeks out the model misses the CNY collapse by 22%. The event's size and its shifting lunar date make it genuinely hard to anticipate.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8156448" y="3108960"/>
            <a:ext cx="3017520" cy="1481328"/>
          </a:xfrm>
          <a:prstGeom prst="roundRect">
            <a:avLst>
              <a:gd name="adj" fmla="val 3704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339328" y="3273552"/>
            <a:ext cx="329184" cy="329184"/>
          </a:xfrm>
          <a:prstGeom prst="ellipse">
            <a:avLst/>
          </a:prstGeom>
          <a:solidFill>
            <a:srgbClr val="2FA87C"/>
          </a:solidFill>
          <a:ln w="12700">
            <a:solidFill>
              <a:srgbClr val="2FA87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339328" y="3273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741664" y="325526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 weeks hold up well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8339328" y="3694176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CNY, error rises only from 3.4% to about 4.4% between one day and four weeks out — long-lead rostering is well supported.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8156448" y="4736592"/>
            <a:ext cx="3017520" cy="1481328"/>
          </a:xfrm>
          <a:prstGeom prst="roundRect">
            <a:avLst>
              <a:gd name="adj" fmla="val 3704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8339328" y="4901184"/>
            <a:ext cx="329184" cy="329184"/>
          </a:xfrm>
          <a:prstGeom prst="ellipse">
            <a:avLst/>
          </a:prstGeom>
          <a:solidFill>
            <a:srgbClr val="E8B547"/>
          </a:solidFill>
          <a:ln w="12700">
            <a:solidFill>
              <a:srgbClr val="E8B54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339328" y="4901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8741664" y="488289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CNY differently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8339328" y="5321808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commit CNY staffing on a 14–28 day forecast. Use short-lead updates, prior-year patterns and explicit management judgement.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Rolling-origin backtest, Jan–May 2026, 72 target dates per lead. Single LightGBM model; each origin retrained on data available only at that lead time.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E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YEAR TO DATE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months, tracked day by day</a:t>
            </a:r>
            <a:endParaRPr lang="en-US" sz="3000" dirty="0"/>
          </a:p>
        </p:txBody>
      </p:sp>
      <p:pic>
        <p:nvPicPr>
          <p:cNvPr id="4" name="Image 0" descr="D:\Applications\Work\Models\Demand Forecast v2\forecasts\chart_actual_vs_foreca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170432"/>
            <a:ext cx="11064240" cy="4224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5486400"/>
            <a:ext cx="3401568" cy="749808"/>
          </a:xfrm>
          <a:prstGeom prst="roundRect">
            <a:avLst>
              <a:gd name="adj" fmla="val 7317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49808" y="555955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3.98%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2121408" y="568756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over 148 days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224528" y="5486400"/>
            <a:ext cx="3401568" cy="749808"/>
          </a:xfrm>
          <a:prstGeom prst="roundRect">
            <a:avLst>
              <a:gd name="adj" fmla="val 7317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407408" y="555955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A8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−12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5779008" y="568756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bias (patron hours)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882128" y="5486400"/>
            <a:ext cx="3401568" cy="749808"/>
          </a:xfrm>
          <a:prstGeom prst="roundRect">
            <a:avLst>
              <a:gd name="adj" fmla="val 7317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065008" y="555955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B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9436608" y="568756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drop at CNY, tracked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LightGBM at 1-day lead. The 2.52% quoted earlier is the full ensemble on the 28-day forecast — a different configuration and window.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E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NEGATIVE RESULTS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tried that did not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3291840" cy="960120"/>
          </a:xfrm>
          <a:prstGeom prst="roundRect">
            <a:avLst>
              <a:gd name="adj" fmla="val 5714"/>
            </a:avLst>
          </a:prstGeom>
          <a:solidFill>
            <a:srgbClr val="FBEDED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408176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801368" y="160934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approaches tested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78808" y="1298448"/>
            <a:ext cx="3291840" cy="960120"/>
          </a:xfrm>
          <a:prstGeom prst="roundRect">
            <a:avLst>
              <a:gd name="adj" fmla="val 5714"/>
            </a:avLst>
          </a:prstGeom>
          <a:solidFill>
            <a:srgbClr val="FBEDED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53128" y="1408176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74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413248" y="160934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90688" y="1298448"/>
            <a:ext cx="3383280" cy="960120"/>
          </a:xfrm>
          <a:prstGeom prst="roundRect">
            <a:avLst>
              <a:gd name="adj" fmla="val 5714"/>
            </a:avLst>
          </a:prstGeom>
          <a:solidFill>
            <a:srgbClr val="EAF6F1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65008" y="1408176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FA8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9025128" y="160934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2468880"/>
            <a:ext cx="3364992" cy="969264"/>
          </a:xfrm>
          <a:prstGeom prst="roundRect">
            <a:avLst>
              <a:gd name="adj" fmla="val 5660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86384" y="2670048"/>
            <a:ext cx="347472" cy="347472"/>
          </a:xfrm>
          <a:prstGeom prst="ellipse">
            <a:avLst/>
          </a:prstGeom>
          <a:solidFill>
            <a:srgbClr val="C74B4B"/>
          </a:solidFill>
          <a:ln w="12700">
            <a:solidFill>
              <a:srgbClr val="C74B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2670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07008" y="261518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Log-transformed target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207008" y="29260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Compressed the holiday spikes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78808" y="2468880"/>
            <a:ext cx="3364992" cy="969264"/>
          </a:xfrm>
          <a:prstGeom prst="roundRect">
            <a:avLst>
              <a:gd name="adj" fmla="val 5660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98264" y="2670048"/>
            <a:ext cx="347472" cy="347472"/>
          </a:xfrm>
          <a:prstGeom prst="ellipse">
            <a:avLst/>
          </a:prstGeom>
          <a:solidFill>
            <a:srgbClr val="C74B4B"/>
          </a:solidFill>
          <a:ln w="12700">
            <a:solidFill>
              <a:srgbClr val="C74B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98264" y="2670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18888" y="261518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Ratio-to-baseline target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818888" y="29260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Amplified noise — 14.6% on one window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790688" y="2468880"/>
            <a:ext cx="3364992" cy="969264"/>
          </a:xfrm>
          <a:prstGeom prst="roundRect">
            <a:avLst>
              <a:gd name="adj" fmla="val 5660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010144" y="2670048"/>
            <a:ext cx="347472" cy="347472"/>
          </a:xfrm>
          <a:prstGeom prst="ellipse">
            <a:avLst/>
          </a:prstGeom>
          <a:solidFill>
            <a:srgbClr val="C74B4B"/>
          </a:solidFill>
          <a:ln w="12700">
            <a:solidFill>
              <a:srgbClr val="C74B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10144" y="2670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430768" y="261518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Learned blend weights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430768" y="29260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Overfitted the validation period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6928" y="3566160"/>
            <a:ext cx="3364992" cy="969264"/>
          </a:xfrm>
          <a:prstGeom prst="roundRect">
            <a:avLst>
              <a:gd name="adj" fmla="val 5660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86384" y="3767328"/>
            <a:ext cx="347472" cy="347472"/>
          </a:xfrm>
          <a:prstGeom prst="ellipse">
            <a:avLst/>
          </a:prstGeom>
          <a:solidFill>
            <a:srgbClr val="C74B4B"/>
          </a:solidFill>
          <a:ln w="12700">
            <a:solidFill>
              <a:srgbClr val="C74B4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6384" y="3767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207008" y="371246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Per-weekday bias scaling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207008" y="40233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inverted on the next window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178808" y="3566160"/>
            <a:ext cx="3364992" cy="969264"/>
          </a:xfrm>
          <a:prstGeom prst="roundRect">
            <a:avLst>
              <a:gd name="adj" fmla="val 5660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398264" y="3767328"/>
            <a:ext cx="347472" cy="347472"/>
          </a:xfrm>
          <a:prstGeom prst="ellipse">
            <a:avLst/>
          </a:prstGeom>
          <a:solidFill>
            <a:srgbClr val="C74B4B"/>
          </a:solidFill>
          <a:ln w="12700">
            <a:solidFill>
              <a:srgbClr val="C74B4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98264" y="3767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18888" y="371246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Ridge / ElasticNet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818888" y="40233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Unstable on thin history — 10.7%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790688" y="3566160"/>
            <a:ext cx="3364992" cy="969264"/>
          </a:xfrm>
          <a:prstGeom prst="roundRect">
            <a:avLst>
              <a:gd name="adj" fmla="val 5660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010144" y="3767328"/>
            <a:ext cx="347472" cy="347472"/>
          </a:xfrm>
          <a:prstGeom prst="ellipse">
            <a:avLst/>
          </a:prstGeom>
          <a:solidFill>
            <a:srgbClr val="C74B4B"/>
          </a:solidFill>
          <a:ln w="12700">
            <a:solidFill>
              <a:srgbClr val="C74B4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10144" y="3767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430768" y="371246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ExtraTrees in the pool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8430768" y="40233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 one window, lost another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66928" y="4754880"/>
            <a:ext cx="5166360" cy="914400"/>
          </a:xfrm>
          <a:prstGeom prst="roundRect">
            <a:avLst>
              <a:gd name="adj" fmla="val 6000"/>
            </a:avLst>
          </a:prstGeom>
          <a:solidFill>
            <a:srgbClr val="EAF6F1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04672" y="4956048"/>
            <a:ext cx="365760" cy="365760"/>
          </a:xfrm>
          <a:prstGeom prst="ellipse">
            <a:avLst/>
          </a:prstGeom>
          <a:solidFill>
            <a:srgbClr val="2FA87C"/>
          </a:solidFill>
          <a:ln w="12700">
            <a:solidFill>
              <a:srgbClr val="2FA87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04672" y="4956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225296" y="48646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Weekday × horizon selection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1225296" y="51755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A8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3.30% → 3.02%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007608" y="4754880"/>
            <a:ext cx="5166360" cy="914400"/>
          </a:xfrm>
          <a:prstGeom prst="roundRect">
            <a:avLst>
              <a:gd name="adj" fmla="val 6000"/>
            </a:avLst>
          </a:prstGeom>
          <a:solidFill>
            <a:srgbClr val="EAF6F1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245352" y="4956048"/>
            <a:ext cx="365760" cy="365760"/>
          </a:xfrm>
          <a:prstGeom prst="ellipse">
            <a:avLst/>
          </a:prstGeom>
          <a:solidFill>
            <a:srgbClr val="2FA87C"/>
          </a:solidFill>
          <a:ln w="12700">
            <a:solidFill>
              <a:srgbClr val="2FA87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45352" y="4956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665976" y="48646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Fixed-date holiday anchor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6665976" y="51755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A8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3.02% → 2.52%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Documenting the failures prevents the next analyst re-treading the same ground.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E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MODEL IS WEAK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limitations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0607040" cy="109728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719072"/>
            <a:ext cx="402336" cy="402336"/>
          </a:xfrm>
          <a:prstGeom prst="ellipse">
            <a:avLst/>
          </a:prstGeom>
          <a:solidFill>
            <a:srgbClr val="E8B547"/>
          </a:solidFill>
          <a:ln w="12700">
            <a:solidFill>
              <a:srgbClr val="E8B5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08176" y="153619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varies by period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08176" y="1865376"/>
            <a:ext cx="9418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2.5–3% on a typical month; 5%+ on months with thin history or overlapping lunar holidays. A single headline number would be misleading.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566928" y="2578608"/>
            <a:ext cx="10607040" cy="109728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41248" y="2926080"/>
            <a:ext cx="402336" cy="402336"/>
          </a:xfrm>
          <a:prstGeom prst="ellipse">
            <a:avLst/>
          </a:prstGeom>
          <a:solidFill>
            <a:srgbClr val="2E8BA8"/>
          </a:solidFill>
          <a:ln w="12700">
            <a:solidFill>
              <a:srgbClr val="2E8B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926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08176" y="274320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volume is the binding constraint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408176" y="3072384"/>
            <a:ext cx="9418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Measured: 15 months of history → 8.4% error; 22 months → 4.7%; 28 months → 3.0%. Accuracy improves as history accumulates, at no development cost.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566928" y="3785616"/>
            <a:ext cx="10607040" cy="109728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" y="4133088"/>
            <a:ext cx="402336" cy="402336"/>
          </a:xfrm>
          <a:prstGeom prst="ellipse">
            <a:avLst/>
          </a:prstGeom>
          <a:solidFill>
            <a:srgbClr val="C74B4B"/>
          </a:solidFill>
          <a:ln w="12700">
            <a:solidFill>
              <a:srgbClr val="C74B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4133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08176" y="395020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intervals are optimistic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08176" y="4279392"/>
            <a:ext cx="9418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P10–P90 band currently captures roughly 55–79% of outcomes against an 80% design target. Treat the band as a relative confidence signal, not a guarantee.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566928" y="4992624"/>
            <a:ext cx="10607040" cy="109728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1248" y="5340096"/>
            <a:ext cx="402336" cy="402336"/>
          </a:xfrm>
          <a:prstGeom prst="ellipse">
            <a:avLst/>
          </a:prstGeom>
          <a:solidFill>
            <a:srgbClr val="5F7183"/>
          </a:solidFill>
          <a:ln w="12700">
            <a:solidFill>
              <a:srgbClr val="5F718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53400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408176" y="515721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Limited headroom from blending alone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408176" y="5486400"/>
            <a:ext cx="9418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one window, even a hypothetical perfect model-picker reached only 2.20%. Further gains must come from better data, not cleverer combination.</a:t>
            </a:r>
            <a:endParaRPr lang="en-US" sz="1180" dirty="0"/>
          </a:p>
        </p:txBody>
      </p:sp>
      <p:sp>
        <p:nvSpPr>
          <p:cNvPr id="24" name="Text 22"/>
          <p:cNvSpPr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Stating limitations explicitly is deliberate: a forecast presented without them invites misuse.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574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E8B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6800" dirty="0"/>
          </a:p>
        </p:txBody>
      </p:sp>
      <p:sp>
        <p:nvSpPr>
          <p:cNvPr id="3" name="Text 1"/>
          <p:cNvSpPr/>
          <p:nvPr/>
        </p:nvSpPr>
        <p:spPr>
          <a:xfrm>
            <a:off x="2075688" y="2240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8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FORECAST TO ROSTER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029968" y="25146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patron hours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into people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075688" y="3364992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downstream stages: hourly shape, table count, headcount, and shift assignment.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E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HOURLY SHAPE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Splitting the day into 24 hours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daily total is multiplied by a 24-hour shape that sums to one. The question is which shape to use for each day.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10607040" cy="786384"/>
          </a:xfrm>
          <a:prstGeom prst="roundRect">
            <a:avLst>
              <a:gd name="adj" fmla="val 6977"/>
            </a:avLst>
          </a:prstGeom>
          <a:solidFill>
            <a:srgbClr val="0F2942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1874520"/>
            <a:ext cx="10607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hourly demand  =  daily forecast  ×  hourly share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66928" y="2926080"/>
            <a:ext cx="3364992" cy="2331720"/>
          </a:xfrm>
          <a:prstGeom prst="roundRect">
            <a:avLst>
              <a:gd name="adj" fmla="val 2353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95528" y="3127248"/>
            <a:ext cx="402336" cy="402336"/>
          </a:xfrm>
          <a:prstGeom prst="ellipse">
            <a:avLst/>
          </a:prstGeom>
          <a:solidFill>
            <a:srgbClr val="2E8BA8"/>
          </a:solidFill>
          <a:ln w="12700">
            <a:solidFill>
              <a:srgbClr val="2E8B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3127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95528" y="36393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weekday shapes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95528" y="4041648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the previous 90 non-holiday days, recomputed every run so the shape tracks current behaviour rather than a stale annual average.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78808" y="2926080"/>
            <a:ext cx="3364992" cy="2331720"/>
          </a:xfrm>
          <a:prstGeom prst="roundRect">
            <a:avLst>
              <a:gd name="adj" fmla="val 2353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07408" y="3127248"/>
            <a:ext cx="402336" cy="402336"/>
          </a:xfrm>
          <a:prstGeom prst="ellipse">
            <a:avLst/>
          </a:prstGeom>
          <a:solidFill>
            <a:srgbClr val="E8B547"/>
          </a:solidFill>
          <a:ln w="12700">
            <a:solidFill>
              <a:srgbClr val="E8B5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07408" y="3127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07408" y="36393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decides for holidays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07408" y="4041648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holiday-day we measure whether its hourly shape genuinely differs from a normal weekday, using Total Variation Distance against contemporary weekday baselines.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90688" y="2926080"/>
            <a:ext cx="3364992" cy="2331720"/>
          </a:xfrm>
          <a:prstGeom prst="roundRect">
            <a:avLst>
              <a:gd name="adj" fmla="val 2353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19288" y="3127248"/>
            <a:ext cx="402336" cy="402336"/>
          </a:xfrm>
          <a:prstGeom prst="ellipse">
            <a:avLst/>
          </a:prstGeom>
          <a:solidFill>
            <a:srgbClr val="E8B547"/>
          </a:solidFill>
          <a:ln w="12700">
            <a:solidFill>
              <a:srgbClr val="E8B5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19288" y="3127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19288" y="36393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Inherit or specialise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019288" y="4041648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difference is small, the day inherits the weekday shape — more samples, more stable. If it is large, a recency-weighted holiday-specific shape is used instead.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" y="5532120"/>
            <a:ext cx="10607040" cy="713232"/>
          </a:xfrm>
          <a:prstGeom prst="roundRect">
            <a:avLst>
              <a:gd name="adj" fmla="val 7692"/>
            </a:avLst>
          </a:prstGeom>
          <a:solidFill>
            <a:srgbClr val="EAF3F7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86968" y="5669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on Chinese New Year day 1 the hourly rhythm is driven by the holiday, not by whether it falls on a Monday. The method detects this from data rather than assuming it.</a:t>
            </a:r>
            <a:endParaRPr lang="en-US" sz="12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E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— CAPACITY SIZING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many tables should be open?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patron hours convert directly to concurrent players. From there, two established methods size the floor.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5212080" cy="2286000"/>
          </a:xfrm>
          <a:prstGeom prst="roundRect">
            <a:avLst>
              <a:gd name="adj" fmla="val 2400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103120"/>
            <a:ext cx="420624" cy="420624"/>
          </a:xfrm>
          <a:prstGeom prst="ellipse">
            <a:avLst/>
          </a:prstGeom>
          <a:solidFill>
            <a:srgbClr val="2E8BA8"/>
          </a:solidFill>
          <a:ln w="12700">
            <a:solidFill>
              <a:srgbClr val="2E8B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08176" y="213969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Queueing (Erlang-B)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1248" y="2615184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behave as a loss system — a patron who finds no seat leaves rather than queues. Erlang-B gives the minimum seat count that keeps the probability of turning someone away below a chosen target.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6007608" y="1874520"/>
            <a:ext cx="5166360" cy="2286000"/>
          </a:xfrm>
          <a:prstGeom prst="roundRect">
            <a:avLst>
              <a:gd name="adj" fmla="val 2400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81928" y="2103120"/>
            <a:ext cx="420624" cy="420624"/>
          </a:xfrm>
          <a:prstGeom prst="ellipse">
            <a:avLst/>
          </a:prstGeom>
          <a:solidFill>
            <a:srgbClr val="E8B547"/>
          </a:solidFill>
          <a:ln w="12700">
            <a:solidFill>
              <a:srgbClr val="E8B5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81928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48856" y="213969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level (newsvendor)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81928" y="2615184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to staff to P50 or P90 is an economic choice, not a statistical one. The critical ratio — cost of a lost patron against the cost of an idle dealer — sets the quantile to plan to.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566928" y="4343400"/>
            <a:ext cx="10607040" cy="1051560"/>
          </a:xfrm>
          <a:prstGeom prst="roundRect">
            <a:avLst>
              <a:gd name="adj" fmla="val 5217"/>
            </a:avLst>
          </a:prstGeom>
          <a:solidFill>
            <a:srgbClr val="0F2942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" y="434340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table c  if   marginal expected revenue of table c   ≥   cost per table-hour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66928" y="555955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profit-maximising stopping rule: keep opening tables while the next one still pays for itself. Requires revenue-per-patron-hour and cost-per-table-hour by tier.</a:t>
            </a:r>
            <a:endParaRPr lang="en-US" sz="12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E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— HEADCOUNT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tables to dealers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table coverage needs more dealers than tables — because dealers rotate off for breaks, and some are absent.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1920240"/>
            <a:ext cx="10607040" cy="868680"/>
          </a:xfrm>
          <a:prstGeom prst="roundRect">
            <a:avLst>
              <a:gd name="adj" fmla="val 6316"/>
            </a:avLst>
          </a:prstGeom>
          <a:solidFill>
            <a:srgbClr val="0F2942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192024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dealers per table  =  relief factor  ×  absence buffer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66928" y="3017520"/>
            <a:ext cx="5120640" cy="1737360"/>
          </a:xfrm>
          <a:prstGeom prst="roundRect">
            <a:avLst>
              <a:gd name="adj" fmla="val 3158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41248" y="320040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Relief factor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1248" y="354787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8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(deal minutes + break minutes) ÷ deal minutes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" y="391363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60-on / 20-off rotation gives 1.33. Shorter deal periods raise it.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6053328" y="3017520"/>
            <a:ext cx="5120640" cy="1737360"/>
          </a:xfrm>
          <a:prstGeom prst="roundRect">
            <a:avLst>
              <a:gd name="adj" fmla="val 3158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27648" y="320040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Absence buffer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27648" y="354787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8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÷ (1 − expected absence rate)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27648" y="391363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5% absence rate gives 1.05. A sick-leave forecast can replace the flat assumption.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566928" y="4983480"/>
            <a:ext cx="10607040" cy="1371600"/>
          </a:xfrm>
          <a:prstGeom prst="roundRect">
            <a:avLst>
              <a:gd name="adj" fmla="val 4000"/>
            </a:avLst>
          </a:prstGeom>
          <a:solidFill>
            <a:srgbClr val="EAF6F1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86968" y="51206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86968" y="546811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1.33  ×  1.05  =  1.40 dealers per open table   →   10 tables require 14 dealers, plus ~3 supervisors at a span of five.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E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 — SHIFT ASSIGNMENT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table opens, and when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constraint-programming optimiser assigns each table a shift pattern so that hourly coverage matches the forecast.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3364992" cy="3200400"/>
          </a:xfrm>
          <a:prstGeom prst="roundRect">
            <a:avLst>
              <a:gd name="adj" fmla="val 1714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95528" y="204825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95528" y="2432304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11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shift pattern per table</a:t>
            </a:r>
            <a:endParaRPr lang="en-US" sz="1180" dirty="0"/>
          </a:p>
          <a:p>
            <a:pPr marL="342900" indent="-342900">
              <a:lnSpc>
                <a:spcPts val="1711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24-hour, 16-hour or 8-hour</a:t>
            </a:r>
            <a:endParaRPr lang="en-US" sz="1180" dirty="0"/>
          </a:p>
          <a:p>
            <a:pPr marL="342900" indent="-342900">
              <a:lnSpc>
                <a:spcPts val="1711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times chosen by the optimiser from a candidate list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4178808" y="1874520"/>
            <a:ext cx="3364992" cy="3200400"/>
          </a:xfrm>
          <a:prstGeom prst="roundRect">
            <a:avLst>
              <a:gd name="adj" fmla="val 1714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07408" y="204825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07408" y="2432304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11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Penalise under-coverage heavily</a:t>
            </a:r>
            <a:endParaRPr lang="en-US" sz="1180" dirty="0"/>
          </a:p>
          <a:p>
            <a:pPr marL="342900" indent="-342900">
              <a:lnSpc>
                <a:spcPts val="1711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Penalise surplus lightly</a:t>
            </a:r>
            <a:endParaRPr lang="en-US" sz="1180" dirty="0"/>
          </a:p>
          <a:p>
            <a:pPr marL="342900" indent="-342900">
              <a:lnSpc>
                <a:spcPts val="1711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each table's preferred opening length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7790688" y="1874520"/>
            <a:ext cx="3383280" cy="3200400"/>
          </a:xfrm>
          <a:prstGeom prst="roundRect">
            <a:avLst>
              <a:gd name="adj" fmla="val 1714"/>
            </a:avLst>
          </a:prstGeom>
          <a:solidFill>
            <a:srgbClr val="FBF4E4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019288" y="204825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preference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19288" y="2432304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11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Derived, not hand-typed</a:t>
            </a:r>
            <a:endParaRPr lang="en-US" sz="1180" dirty="0"/>
          </a:p>
          <a:p>
            <a:pPr marL="342900" indent="-342900">
              <a:lnSpc>
                <a:spcPts val="1711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demand → 24-hour; spiky demand → 8-hour, aligned to its own peak</a:t>
            </a:r>
            <a:endParaRPr lang="en-US" sz="1180" dirty="0"/>
          </a:p>
          <a:p>
            <a:pPr marL="342900" indent="-342900">
              <a:lnSpc>
                <a:spcPts val="1711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score from distance to entrance, walkways and cage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566928" y="5257800"/>
            <a:ext cx="10607040" cy="1005840"/>
          </a:xfrm>
          <a:prstGeom prst="roundRect">
            <a:avLst>
              <a:gd name="adj" fmla="val 5455"/>
            </a:avLst>
          </a:prstGeom>
          <a:solidFill>
            <a:srgbClr val="0F2942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" y="544068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Preferences are soft: if overall demand requires it, the optimiser will override a table's preferred pattern rather than leave an hour uncovered.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574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E8B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6800" dirty="0"/>
          </a:p>
        </p:txBody>
      </p:sp>
      <p:sp>
        <p:nvSpPr>
          <p:cNvPr id="3" name="Text 1"/>
          <p:cNvSpPr/>
          <p:nvPr/>
        </p:nvSpPr>
        <p:spPr>
          <a:xfrm>
            <a:off x="2075688" y="2240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8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029968" y="25146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Operations, maintenance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what comes next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075688" y="3364992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designed to be run by an operator, not a data scientist.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E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USE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commands cover normal operation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0607040" cy="1188720"/>
          </a:xfrm>
          <a:prstGeom prst="roundRect">
            <a:avLst>
              <a:gd name="adj" fmla="val 4615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51790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 daily forecast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950208" y="15544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min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41248" y="1874520"/>
            <a:ext cx="7498080" cy="384048"/>
          </a:xfrm>
          <a:prstGeom prst="roundRect">
            <a:avLst>
              <a:gd name="adj" fmla="val 9524"/>
            </a:avLst>
          </a:prstGeom>
          <a:solidFill>
            <a:srgbClr val="1B3346"/>
          </a:solidFill>
          <a:ln w="12700">
            <a:solidFill>
              <a:srgbClr val="1B33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187452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python forecast.py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522208" y="17373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LightGBM model. The routine daily driver.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566928" y="2688336"/>
            <a:ext cx="10607040" cy="1188720"/>
          </a:xfrm>
          <a:prstGeom prst="roundRect">
            <a:avLst>
              <a:gd name="adj" fmla="val 4615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1248" y="283464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Highest accuracy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950208" y="287121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 min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41248" y="3191256"/>
            <a:ext cx="7498080" cy="384048"/>
          </a:xfrm>
          <a:prstGeom prst="roundRect">
            <a:avLst>
              <a:gd name="adj" fmla="val 9524"/>
            </a:avLst>
          </a:prstGeom>
          <a:solidFill>
            <a:srgbClr val="1B3346"/>
          </a:solidFill>
          <a:ln w="12700">
            <a:solidFill>
              <a:srgbClr val="1B33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3191256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python forecast.py --full --blend selection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522208" y="3054096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Six-model ensemble with selection and holiday anchor. For committed plans.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66928" y="4005072"/>
            <a:ext cx="10607040" cy="1188720"/>
          </a:xfrm>
          <a:prstGeom prst="roundRect">
            <a:avLst>
              <a:gd name="adj" fmla="val 4615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1248" y="415137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Scheduling cycle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950208" y="41879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41248" y="4507992"/>
            <a:ext cx="7498080" cy="384048"/>
          </a:xfrm>
          <a:prstGeom prst="roundRect">
            <a:avLst>
              <a:gd name="adj" fmla="val 9524"/>
            </a:avLst>
          </a:prstGeom>
          <a:solidFill>
            <a:srgbClr val="1B3346"/>
          </a:solidFill>
          <a:ln w="12700">
            <a:solidFill>
              <a:srgbClr val="1B33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0976" y="450799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python run_schedule.py --initial 2026-06-08 2026-07-05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522208" y="437083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Freezes an initial plan, then re-forecasts on set dates and tracks drift.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566928" y="5394960"/>
            <a:ext cx="10607040" cy="960120"/>
          </a:xfrm>
          <a:prstGeom prst="roundRect">
            <a:avLst>
              <a:gd name="adj" fmla="val 5714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86968" y="559612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is archived under forecasts/run_&lt;date&gt;/ with its predictions, chart and metadata — so any past forecast can be audited against what actually happened.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E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needs a human, and how often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0607040" cy="859536"/>
          </a:xfrm>
          <a:prstGeom prst="roundRect">
            <a:avLst>
              <a:gd name="adj" fmla="val 6383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95528" y="1591056"/>
            <a:ext cx="1051560" cy="420624"/>
          </a:xfrm>
          <a:prstGeom prst="roundRect">
            <a:avLst>
              <a:gd name="adj" fmla="val 10870"/>
            </a:avLst>
          </a:prstGeom>
          <a:solidFill>
            <a:srgbClr val="2E8BA8"/>
          </a:solidFill>
          <a:ln w="12700">
            <a:solidFill>
              <a:srgbClr val="2E8B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59105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029968" y="149961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 yesterday's actual demand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029968" y="1828800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in rawdata.csv. The only mandatory recurring task.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2340864"/>
            <a:ext cx="10607040" cy="859536"/>
          </a:xfrm>
          <a:prstGeom prst="roundRect">
            <a:avLst>
              <a:gd name="adj" fmla="val 6383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95528" y="2560320"/>
            <a:ext cx="1051560" cy="420624"/>
          </a:xfrm>
          <a:prstGeom prst="roundRect">
            <a:avLst>
              <a:gd name="adj" fmla="val 10870"/>
            </a:avLst>
          </a:prstGeom>
          <a:solidFill>
            <a:srgbClr val="2E8BA8"/>
          </a:solidFill>
          <a:ln w="12700">
            <a:solidFill>
              <a:srgbClr val="2E8B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56032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029968" y="246888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the high-accuracy forecast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029968" y="2798064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the committed plan with the full ensemble.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310128"/>
            <a:ext cx="10607040" cy="859536"/>
          </a:xfrm>
          <a:prstGeom prst="roundRect">
            <a:avLst>
              <a:gd name="adj" fmla="val 6383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95528" y="3529584"/>
            <a:ext cx="1051560" cy="420624"/>
          </a:xfrm>
          <a:prstGeom prst="roundRect">
            <a:avLst>
              <a:gd name="adj" fmla="val 10870"/>
            </a:avLst>
          </a:prstGeom>
          <a:solidFill>
            <a:srgbClr val="E8B547"/>
          </a:solidFill>
          <a:ln w="12700">
            <a:solidFill>
              <a:srgbClr val="E8B5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" y="3529584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029968" y="343814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Refresh typhoon records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029968" y="3767328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command; picks up new Signal 8+ events from HKO.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4279392"/>
            <a:ext cx="10607040" cy="859536"/>
          </a:xfrm>
          <a:prstGeom prst="roundRect">
            <a:avLst>
              <a:gd name="adj" fmla="val 6383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5528" y="4498848"/>
            <a:ext cx="1051560" cy="420624"/>
          </a:xfrm>
          <a:prstGeom prst="roundRect">
            <a:avLst>
              <a:gd name="adj" fmla="val 10870"/>
            </a:avLst>
          </a:prstGeom>
          <a:solidFill>
            <a:srgbClr val="E8B547"/>
          </a:solidFill>
          <a:ln w="12700">
            <a:solidFill>
              <a:srgbClr val="E8B5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4498848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029968" y="440740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Re-validate accuracy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029968" y="4736592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 on a recent window to confirm no drift.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5248656"/>
            <a:ext cx="10607040" cy="859536"/>
          </a:xfrm>
          <a:prstGeom prst="roundRect">
            <a:avLst>
              <a:gd name="adj" fmla="val 6383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95528" y="5468112"/>
            <a:ext cx="1051560" cy="420624"/>
          </a:xfrm>
          <a:prstGeom prst="roundRect">
            <a:avLst>
              <a:gd name="adj" fmla="val 10870"/>
            </a:avLst>
          </a:prstGeom>
          <a:solidFill>
            <a:srgbClr val="C74B4B"/>
          </a:solidFill>
          <a:ln w="12700">
            <a:solidFill>
              <a:srgbClr val="C74B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" y="546811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Annually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029968" y="537667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Extend the holiday calendar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029968" y="5705856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next year's holiday anchor dates before forecasting into it.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forecast itself needs no retraining schedule — every run trains from scratch on all data available at that moment.</a:t>
            </a:r>
            <a:endParaRPr lang="en-US" sz="9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E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next gains come from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0607040" cy="877824"/>
          </a:xfrm>
          <a:prstGeom prst="roundRect">
            <a:avLst>
              <a:gd name="adj" fmla="val 6250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95528" y="1600200"/>
            <a:ext cx="841248" cy="420624"/>
          </a:xfrm>
          <a:prstGeom prst="roundRect">
            <a:avLst>
              <a:gd name="adj" fmla="val 10870"/>
            </a:avLst>
          </a:prstGeom>
          <a:solidFill>
            <a:srgbClr val="2FA87C"/>
          </a:solidFill>
          <a:ln w="12700">
            <a:solidFill>
              <a:srgbClr val="2FA87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600200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01368" y="149961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 history accumulate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01368" y="1828800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single lever, and it is free. Measured trajectory suggests typical-window error falls toward 2.5% as the dataset passes three years.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566928" y="2359152"/>
            <a:ext cx="10607040" cy="877824"/>
          </a:xfrm>
          <a:prstGeom prst="roundRect">
            <a:avLst>
              <a:gd name="adj" fmla="val 6250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95528" y="2587752"/>
            <a:ext cx="841248" cy="420624"/>
          </a:xfrm>
          <a:prstGeom prst="roundRect">
            <a:avLst>
              <a:gd name="adj" fmla="val 10870"/>
            </a:avLst>
          </a:prstGeom>
          <a:solidFill>
            <a:srgbClr val="2E8BA8"/>
          </a:solidFill>
          <a:ln w="12700">
            <a:solidFill>
              <a:srgbClr val="2E8B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587752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01368" y="248716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Calibrate prediction intervals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801368" y="2816352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in-sample residuals with out-of-sample ones so the P10–P90 band delivers its stated 80% coverage.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566928" y="3346704"/>
            <a:ext cx="10607040" cy="877824"/>
          </a:xfrm>
          <a:prstGeom prst="roundRect">
            <a:avLst>
              <a:gd name="adj" fmla="val 6250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95528" y="3575304"/>
            <a:ext cx="841248" cy="420624"/>
          </a:xfrm>
          <a:prstGeom prst="roundRect">
            <a:avLst>
              <a:gd name="adj" fmla="val 10870"/>
            </a:avLst>
          </a:prstGeom>
          <a:solidFill>
            <a:srgbClr val="2E8BA8"/>
          </a:solidFill>
          <a:ln w="12700">
            <a:solidFill>
              <a:srgbClr val="2E8B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" y="3575304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801368" y="34747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Activate hotel pacing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01368" y="3803904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is built and leakage-guarded. Needs 18–24 months of daily snapshots to train the relationship.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566928" y="4334256"/>
            <a:ext cx="10607040" cy="877824"/>
          </a:xfrm>
          <a:prstGeom prst="roundRect">
            <a:avLst>
              <a:gd name="adj" fmla="val 6250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5528" y="4562856"/>
            <a:ext cx="841248" cy="420624"/>
          </a:xfrm>
          <a:prstGeom prst="roundRect">
            <a:avLst>
              <a:gd name="adj" fmla="val 10870"/>
            </a:avLst>
          </a:prstGeom>
          <a:solidFill>
            <a:srgbClr val="E8B547"/>
          </a:solidFill>
          <a:ln w="12700">
            <a:solidFill>
              <a:srgbClr val="E8B5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4562856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801368" y="446227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the downstream chain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801368" y="4791456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sizing, dealer headcount and shift assignment need per-table operational data — revenue per hour, utilisation, floor coordinates.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566928" y="5321808"/>
            <a:ext cx="10607040" cy="877824"/>
          </a:xfrm>
          <a:prstGeom prst="roundRect">
            <a:avLst>
              <a:gd name="adj" fmla="val 6250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95528" y="5550408"/>
            <a:ext cx="841248" cy="420624"/>
          </a:xfrm>
          <a:prstGeom prst="roundRect">
            <a:avLst>
              <a:gd name="adj" fmla="val 10870"/>
            </a:avLst>
          </a:prstGeom>
          <a:solidFill>
            <a:srgbClr val="E8B547"/>
          </a:solidFill>
          <a:ln w="12700">
            <a:solidFill>
              <a:srgbClr val="E8B5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" y="5550408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01368" y="544982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 dealer absence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801368" y="5779008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companion model for sick leave, replacing the flat absence assumption with a predicted rate.</a:t>
            </a:r>
            <a:endParaRPr lang="en-US" sz="112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F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737360" y="3657600"/>
            <a:ext cx="4937760" cy="4937760"/>
          </a:xfrm>
          <a:prstGeom prst="ellipse">
            <a:avLst/>
          </a:prstGeom>
          <a:solidFill>
            <a:srgbClr val="1A3D5C"/>
          </a:solidFill>
          <a:ln w="12700">
            <a:solidFill>
              <a:srgbClr val="1A3D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-1280160"/>
            <a:ext cx="3291840" cy="3291840"/>
          </a:xfrm>
          <a:prstGeom prst="ellipse">
            <a:avLst/>
          </a:prstGeom>
          <a:solidFill>
            <a:srgbClr val="2E8BA8"/>
          </a:solidFill>
          <a:ln w="12700">
            <a:solidFill>
              <a:srgbClr val="2E8B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5568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E8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summary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115568" y="17830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measured forecast,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honestly validated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115568" y="338328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2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8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Two-thirds less error than the planning method it replaces</a:t>
            </a:r>
            <a:endParaRPr lang="en-US" sz="1450" dirty="0"/>
          </a:p>
          <a:p>
            <a:pPr marL="342900" indent="-342900">
              <a:lnSpc>
                <a:spcPts val="22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8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accuracy figure measured out-of-sample, with leakage guards on all inputs</a:t>
            </a:r>
            <a:endParaRPr lang="en-US" sz="1450" dirty="0"/>
          </a:p>
          <a:p>
            <a:pPr marL="342900" indent="-342900">
              <a:lnSpc>
                <a:spcPts val="22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8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in production today; the downstream planning chain is specified and ready to build</a:t>
            </a:r>
            <a:endParaRPr lang="en-US" sz="1450" dirty="0"/>
          </a:p>
          <a:p>
            <a:pPr marL="342900" indent="-342900">
              <a:lnSpc>
                <a:spcPts val="22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8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clearest path to further gains is more history — which accrues automatically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115568" y="5806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 — technical detail available in the appendix and project documentation.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E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FOLLOW-UP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— technical reference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5212080" cy="2286000"/>
          </a:xfrm>
          <a:prstGeom prst="roundRect">
            <a:avLst>
              <a:gd name="adj" fmla="val 2400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5361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 layout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41248" y="1901952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23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forecast.py — production entry point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23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blend.py — selection + holiday anchor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23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v2/_shared.py — feature engineering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23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evaluate.py — accuracy analysis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23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run_schedule.py — scheduling cycle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23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hourly/ — hourly split module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23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research/ — validation experiments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007608" y="1371600"/>
            <a:ext cx="5166360" cy="2286000"/>
          </a:xfrm>
          <a:prstGeom prst="roundRect">
            <a:avLst>
              <a:gd name="adj" fmla="val 2400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81928" y="15361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configuration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81928" y="1901952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23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HOLDOUT_DAYS = 28 — forecast horizon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23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HOLIDAY_ANCHORS — holiday dates by year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23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HOLIDAY_WINDOWS — demand window per holiday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23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HOLIDAY_UPWEIGHT = 3.0 — holiday sample weight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23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USE_RESERVATIONS — hotel pacing toggle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23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USE_WEATHER — typhoon feature toggle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" y="3767328"/>
            <a:ext cx="10607040" cy="2450592"/>
          </a:xfrm>
          <a:prstGeom prst="roundRect">
            <a:avLst>
              <a:gd name="adj" fmla="val 2239"/>
            </a:avLst>
          </a:prstGeom>
          <a:solidFill>
            <a:srgbClr val="F4F7FA"/>
          </a:solidFill>
          <a:ln w="12700">
            <a:solidFill>
              <a:srgbClr val="E2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28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1248" y="389534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reference — 1 to 28 May 2026 holdout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41248" y="4334256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13248" y="433425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76288" y="433425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WAPE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39328" y="433425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F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1248" y="4531766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day last week (peeks — see note)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13248" y="453176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7.36%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76288" y="453176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7.44%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339328" y="453176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1248" y="4729277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week before cutoff (like-for-like)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13248" y="4729277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6.03%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76288" y="4729277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339328" y="4729277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1248" y="4926787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28-day average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13248" y="4926787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5.12%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76288" y="4926787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5.30%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339328" y="4926787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41248" y="5124298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Day-of-week average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13248" y="512429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4.70%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76288" y="512429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4.76%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339328" y="512429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41248" y="5321808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L2 (single model)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13248" y="53218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3.47%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76288" y="53218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3.50%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339328" y="53218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297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41248" y="5519318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Six-model ensemble, equal weights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13248" y="551931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3.30%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76288" y="551931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3.36%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339328" y="551931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311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41248" y="5716829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+ fixed-date holiday anchor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13248" y="5716829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2.52%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876288" y="5716829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2.55%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339328" y="5716829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3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217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41248" y="5914339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production (this deck's config)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413248" y="5914339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3.41%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876288" y="5914339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339328" y="5914339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5–7 are the original benchmark and reproduce at the June 2026 code state. 'Same day last week' reads actuals from inside the test window, so the like-for-like naive row is given above it. Full-year performance (4.26%) is in Results — this table is a single CNY-free month.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Daily Casino Demand Forecast</dc:title>
  <dc:subject>PptxGenJS Presentation</dc:subject>
  <dc:creator>Analytics</dc:creator>
  <cp:lastModifiedBy>Analytics</cp:lastModifiedBy>
  <cp:revision>1</cp:revision>
  <dcterms:created xsi:type="dcterms:W3CDTF">2026-08-07T13:16:57Z</dcterms:created>
  <dcterms:modified xsi:type="dcterms:W3CDTF">2026-08-07T13:16:57Z</dcterms:modified>
</cp:coreProperties>
</file>